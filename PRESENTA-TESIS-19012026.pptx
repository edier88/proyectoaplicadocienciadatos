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8"/>
  </p:notesMasterIdLst>
  <p:sldIdLst>
    <p:sldId id="256" r:id="rId5"/>
    <p:sldId id="258" r:id="rId6"/>
    <p:sldId id="259" r:id="rId7"/>
    <p:sldId id="266" r:id="rId8"/>
    <p:sldId id="267" r:id="rId9"/>
    <p:sldId id="268" r:id="rId10"/>
    <p:sldId id="269" r:id="rId11"/>
    <p:sldId id="262" r:id="rId12"/>
    <p:sldId id="265" r:id="rId13"/>
    <p:sldId id="261" r:id="rId14"/>
    <p:sldId id="263" r:id="rId15"/>
    <p:sldId id="264" r:id="rId16"/>
    <p:sldId id="25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F364D-C9CF-2840-9899-B5D4F9DC5F31}" v="84" dt="2023-05-17T19:47:38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26"/>
    <p:restoredTop sz="96327"/>
  </p:normalViewPr>
  <p:slideViewPr>
    <p:cSldViewPr snapToGrid="0" showGuides="1">
      <p:cViewPr varScale="1">
        <p:scale>
          <a:sx n="70" d="100"/>
          <a:sy n="70" d="100"/>
        </p:scale>
        <p:origin x="582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82AE5-EDFF-4F6C-9D7F-3216A1BE77E0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20F94-21AE-46E6-A3D1-699A18724A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545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64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354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350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697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91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509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48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917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786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098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854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93E6D-A32A-2C40-8594-F3974821ADD7}" type="datetimeFigureOut">
              <a:rPr lang="es-CO" smtClean="0"/>
              <a:t>18/01/2026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B612A-2F79-5C4F-837E-C7C997731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063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24A07-B53C-9A2F-5D3D-8EB4DD58B48E}"/>
              </a:ext>
            </a:extLst>
          </p:cNvPr>
          <p:cNvSpPr txBox="1">
            <a:spLocks/>
          </p:cNvSpPr>
          <p:nvPr/>
        </p:nvSpPr>
        <p:spPr>
          <a:xfrm>
            <a:off x="2182840" y="287267"/>
            <a:ext cx="4557805" cy="314917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4000" b="1" dirty="0">
                <a:solidFill>
                  <a:schemeClr val="bg1"/>
                </a:solidFill>
              </a:rPr>
              <a:t>PREDICCIÓN DEL TRÁFICO DE DATOS DE LAS ZONAS WIFI PÚBLICAS DE SANTIAGO DE CALI</a:t>
            </a:r>
            <a:endParaRPr lang="es-CO" sz="40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bg1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4E11D0FD-4239-1FAF-7E8D-59995F71C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680" y="5595957"/>
            <a:ext cx="3948950" cy="9877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32BA0E8-E3D1-7DFA-40BD-08F074BFB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094296">
            <a:off x="-30345" y="-338294"/>
            <a:ext cx="2763632" cy="244696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61361EA-0889-D36E-BF7C-448DB337A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643488">
            <a:off x="5555780" y="-278292"/>
            <a:ext cx="4844767" cy="24252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A350299-425F-15DD-E175-E7DBA8F91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118" y="-114540"/>
            <a:ext cx="5624762" cy="70792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58F7CCC-B319-41E8-D38C-E2434026D2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2787" y="-674772"/>
            <a:ext cx="2072578" cy="820754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E6EEB87-DCEF-B0B1-FEB8-1ECB2596069A}"/>
              </a:ext>
            </a:extLst>
          </p:cNvPr>
          <p:cNvSpPr txBox="1"/>
          <p:nvPr/>
        </p:nvSpPr>
        <p:spPr>
          <a:xfrm>
            <a:off x="1508070" y="3115378"/>
            <a:ext cx="61594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Diego Luis Linares Ospina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Director</a:t>
            </a:r>
          </a:p>
          <a:p>
            <a:pPr algn="ctr"/>
            <a:endParaRPr lang="es-CO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Gloria Inés Álvarez Vargas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Codirectora</a:t>
            </a:r>
          </a:p>
          <a:p>
            <a:pPr algn="ctr"/>
            <a:endParaRPr lang="es-CO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Estudiantes.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Paulo Andrés Martínez Méndez</a:t>
            </a:r>
          </a:p>
          <a:p>
            <a:pPr algn="ctr"/>
            <a:r>
              <a:rPr lang="es-CO" b="1" dirty="0">
                <a:solidFill>
                  <a:schemeClr val="bg1"/>
                </a:solidFill>
                <a:latin typeface="Arial Black" panose="020B0A04020102020204" pitchFamily="34" charset="0"/>
              </a:rPr>
              <a:t>Edier Guzmán Morales</a:t>
            </a:r>
          </a:p>
        </p:txBody>
      </p:sp>
    </p:spTree>
    <p:extLst>
      <p:ext uri="{BB962C8B-B14F-4D97-AF65-F5344CB8AC3E}">
        <p14:creationId xmlns:p14="http://schemas.microsoft.com/office/powerpoint/2010/main" val="191072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78EAA2F-25A2-7D54-5A99-D82AC6D40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0" y="-15240"/>
            <a:ext cx="1797101" cy="172169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C91431-831C-56E3-B3FB-378F67D3B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655" y="4962787"/>
            <a:ext cx="1894276" cy="20292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2D5BCB0-76B2-2938-01D0-C06DEC0D6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75" y="5484710"/>
            <a:ext cx="1051200" cy="112608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73B0164-1916-89AF-B435-AC39C43FF4A2}"/>
              </a:ext>
            </a:extLst>
          </p:cNvPr>
          <p:cNvSpPr txBox="1">
            <a:spLocks/>
          </p:cNvSpPr>
          <p:nvPr/>
        </p:nvSpPr>
        <p:spPr>
          <a:xfrm>
            <a:off x="2778493" y="-15240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rgbClr val="7030A0"/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6825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Contenido de la presentación.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bg1"/>
              </a:solidFill>
              <a:latin typeface="Futura Std Book" panose="020B0502020204020303" pitchFamily="34" charset="77"/>
            </a:endParaRPr>
          </a:p>
        </p:txBody>
      </p:sp>
      <p:pic>
        <p:nvPicPr>
          <p:cNvPr id="8" name="Imagen 7" descr="Diagrama, Escala de tiempo&#10;&#10;El contenido generado por IA puede ser incorrecto.">
            <a:extLst>
              <a:ext uri="{FF2B5EF4-FFF2-40B4-BE49-F238E27FC236}">
                <a16:creationId xmlns:a16="http://schemas.microsoft.com/office/drawing/2014/main" id="{3410BCF7-F4B8-A472-CB38-D694F9A94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851" y="542980"/>
            <a:ext cx="8105643" cy="631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2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 descr="Un grupo de personas caminando en la banqueta de una calle&#10;&#10;El contenido generado por IA puede ser incorrecto.">
            <a:extLst>
              <a:ext uri="{FF2B5EF4-FFF2-40B4-BE49-F238E27FC236}">
                <a16:creationId xmlns:a16="http://schemas.microsoft.com/office/drawing/2014/main" id="{0AA340ED-C4F1-17D1-6068-BD6F1BB84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-3865"/>
            <a:ext cx="6094331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EBB1E65-5F3E-54E5-A0A8-EC439E7F56A5}"/>
              </a:ext>
            </a:extLst>
          </p:cNvPr>
          <p:cNvSpPr txBox="1"/>
          <p:nvPr/>
        </p:nvSpPr>
        <p:spPr>
          <a:xfrm>
            <a:off x="498224" y="1763157"/>
            <a:ext cx="55977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MX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Percepción de lentitud por parte de los usuarios Wifi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Sobrecarga en los puntos de acceso.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Asignación de anchos de banda a las zonas wifi sin análisis previo de consumo de KB por numero de conexiones.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b="1" dirty="0">
                <a:solidFill>
                  <a:schemeClr val="bg1"/>
                </a:solidFill>
              </a:rPr>
              <a:t>Falta de criterio para el traslado , reubicación de </a:t>
            </a:r>
            <a:r>
              <a:rPr lang="es-MX" sz="2200" b="1" dirty="0" err="1">
                <a:solidFill>
                  <a:schemeClr val="bg1"/>
                </a:solidFill>
              </a:rPr>
              <a:t>Aps</a:t>
            </a:r>
            <a:r>
              <a:rPr lang="es-MX" sz="2200" b="1" dirty="0">
                <a:solidFill>
                  <a:schemeClr val="bg1"/>
                </a:solidFill>
              </a:rPr>
              <a:t> a zonas con mas demanda.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E3CDA27-F2DC-A1DE-B903-B03B0DDA7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735596">
            <a:off x="9182304" y="2783136"/>
            <a:ext cx="5338984" cy="21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BD0F27-4170-3160-8EE1-7FE95E8AE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6152" y="4795585"/>
            <a:ext cx="2160000" cy="226231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F016BAB-3911-460E-767B-0781CA1AF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23" y="5414551"/>
            <a:ext cx="1008000" cy="10890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591015-FE96-CB11-2630-8BFF68FD2335}"/>
              </a:ext>
            </a:extLst>
          </p:cNvPr>
          <p:cNvSpPr txBox="1">
            <a:spLocks/>
          </p:cNvSpPr>
          <p:nvPr/>
        </p:nvSpPr>
        <p:spPr>
          <a:xfrm>
            <a:off x="363098" y="212220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rgbClr val="7030A0"/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6825" b="1" dirty="0">
                <a:solidFill>
                  <a:schemeClr val="bg1"/>
                </a:solidFill>
                <a:latin typeface="+mn-lt"/>
              </a:rPr>
              <a:t>Planteamiento del Problema.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bg1"/>
              </a:solidFill>
              <a:latin typeface="Futura Std Book" panose="020B0502020204020303" pitchFamily="34" charset="77"/>
            </a:endParaRPr>
          </a:p>
        </p:txBody>
      </p:sp>
      <p:sp>
        <p:nvSpPr>
          <p:cNvPr id="19" name="Marcador de pie de página 18">
            <a:extLst>
              <a:ext uri="{FF2B5EF4-FFF2-40B4-BE49-F238E27FC236}">
                <a16:creationId xmlns:a16="http://schemas.microsoft.com/office/drawing/2014/main" id="{FF939D56-9A4E-42A6-11A1-678570EA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(Imagen generada con IA-Gemini y Editada con AdobePhotoshop)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56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A2D12-6C26-21E3-4222-2B88F3AB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2FD4C66-75AB-C247-EB85-0713D914E7D7}"/>
              </a:ext>
            </a:extLst>
          </p:cNvPr>
          <p:cNvSpPr txBox="1">
            <a:spLocks/>
          </p:cNvSpPr>
          <p:nvPr/>
        </p:nvSpPr>
        <p:spPr>
          <a:xfrm>
            <a:off x="614522" y="141773"/>
            <a:ext cx="8489721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Objetivos Generales y Específicos.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7E05DF4-5F47-0A0F-A002-D00BEFD82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1BD3DD8-0DAE-2C63-748B-631FECD19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281087B2-3296-DD2A-4B74-50662E93C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2369CF-E705-D18E-1B2F-444440A3A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72D115B-958A-AF90-5439-3F3A5BCAB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226" y="841216"/>
            <a:ext cx="496252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74D6A-F18C-77E2-1F38-17E86F1B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A4025EE-F46A-7758-4B92-7ACEBADC75A2}"/>
              </a:ext>
            </a:extLst>
          </p:cNvPr>
          <p:cNvSpPr txBox="1">
            <a:spLocks/>
          </p:cNvSpPr>
          <p:nvPr/>
        </p:nvSpPr>
        <p:spPr>
          <a:xfrm>
            <a:off x="1182971" y="220125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Marco Teórico.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FE2F7E2-3B24-CE55-6CCD-9414E21BD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6E8091-643D-87B1-93FE-8477B53D3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3ED87111-59F7-15E1-CF7B-A47D0B782E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E76FA5-5C99-7B6B-9D06-39E92F75BE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6" name="Imagen 5" descr="Forma, Polígono&#10;&#10;El contenido generado por IA puede ser incorrecto.">
            <a:extLst>
              <a:ext uri="{FF2B5EF4-FFF2-40B4-BE49-F238E27FC236}">
                <a16:creationId xmlns:a16="http://schemas.microsoft.com/office/drawing/2014/main" id="{4ED4909B-CB37-EFFE-6814-3580E5C732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486" y="1463040"/>
            <a:ext cx="8237328" cy="429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C963E-6914-38CB-7E7F-2A997E5B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F730BFB-54E2-28A2-5A8D-69017D5AD69B}"/>
              </a:ext>
            </a:extLst>
          </p:cNvPr>
          <p:cNvSpPr txBox="1">
            <a:spLocks/>
          </p:cNvSpPr>
          <p:nvPr/>
        </p:nvSpPr>
        <p:spPr>
          <a:xfrm>
            <a:off x="1208379" y="21939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Marco Teórico.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258866-C605-1FDD-2635-665328BEE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A3ECE0-460B-D629-E060-611037FD2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1ED6C4E-AFA5-26D5-5EAF-DADA15A08F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98F749-BD6B-5152-367A-62CEFCF3C8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AF88483-8CE9-8D36-899E-16D207BA4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06455"/>
              </p:ext>
            </p:extLst>
          </p:nvPr>
        </p:nvGraphicFramePr>
        <p:xfrm>
          <a:off x="340557" y="988036"/>
          <a:ext cx="8128000" cy="39674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69993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Regresion</a:t>
                      </a:r>
                      <a:r>
                        <a:rPr lang="en-US" dirty="0"/>
                        <a:t> Lineal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480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Estima una variable objetivo a partir de una o más variables explicativas, asumiendo una relación aproximadamente lineal.</a:t>
                      </a:r>
                    </a:p>
                    <a:p>
                      <a:r>
                        <a:rPr lang="es-MX" sz="1100" dirty="0"/>
                        <a:t>Se ajusta normalmente por mínimos cuadrados, minimizando el error entre valores reales y predichos.</a:t>
                      </a:r>
                      <a:endParaRPr lang="es-C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02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Random Forest</a:t>
                      </a:r>
                      <a:endParaRPr lang="es-CO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58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Modelo supervisado de </a:t>
                      </a:r>
                      <a:r>
                        <a:rPr lang="es-MX" sz="1100" i="1" dirty="0"/>
                        <a:t>ensamble</a:t>
                      </a:r>
                      <a:r>
                        <a:rPr lang="es-MX" sz="1100" dirty="0"/>
                        <a:t> que construye múltiples árboles de decisión usando muestras y variables aleatorias para aumentar la diversidad.  La predicción final se obtiene agregando los resultados de todos los árboles (promedio en regresión), reduciendo la varianza y mejorando la generalización.  </a:t>
                      </a:r>
                      <a:br>
                        <a:rPr lang="es-MX" sz="1100" dirty="0"/>
                      </a:br>
                      <a:r>
                        <a:rPr lang="es-MX" sz="1100" dirty="0"/>
                        <a:t>Destaca por capturar relaciones no lineales y ser robusto al ruido y a valores atípicos, aunque es menos interpretable que modelos lineales.</a:t>
                      </a:r>
                      <a:endParaRPr lang="es-C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3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 neuronales Perceptrón</a:t>
                      </a:r>
                      <a:endParaRPr lang="es-CO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49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Modelos supervisados inspirados en el sistema nervioso, formados por capas de neuronas que aprenden patrones complejos.</a:t>
                      </a:r>
                    </a:p>
                    <a:p>
                      <a:r>
                        <a:rPr lang="es-MX" sz="1100" dirty="0"/>
                        <a:t>Ajustan sus pesos para minimizar el error entre predicción y valor real mediante optimización (p. ej., </a:t>
                      </a:r>
                      <a:r>
                        <a:rPr lang="es-MX" sz="1100" dirty="0" err="1"/>
                        <a:t>retropropagación</a:t>
                      </a:r>
                      <a:r>
                        <a:rPr lang="es-MX" sz="1100" dirty="0"/>
                        <a:t>).</a:t>
                      </a:r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46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SVR (</a:t>
                      </a:r>
                      <a:r>
                        <a:rPr lang="es-CO" b="1" dirty="0" err="1">
                          <a:solidFill>
                            <a:schemeClr val="bg1"/>
                          </a:solidFill>
                        </a:rPr>
                        <a:t>Support</a:t>
                      </a:r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 Vector </a:t>
                      </a:r>
                      <a:r>
                        <a:rPr lang="es-CO" b="1" dirty="0" err="1">
                          <a:solidFill>
                            <a:schemeClr val="bg1"/>
                          </a:solidFill>
                        </a:rPr>
                        <a:t>Regression</a:t>
                      </a:r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74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b="0" dirty="0"/>
                        <a:t>modelo supervisado para regresión que busca una función que aproxime la relación entre variables con un margen de error controlado (tolerancia).  Utiliza vectores de soporte y, mediante funciones </a:t>
                      </a:r>
                      <a:r>
                        <a:rPr lang="es-MX" sz="1100" b="0" dirty="0" err="1"/>
                        <a:t>kernel</a:t>
                      </a:r>
                      <a:r>
                        <a:rPr lang="es-MX" sz="1100" b="0" dirty="0"/>
                        <a:t>, puede modelar relaciones no lineales al transformar los datos a espacios de mayor dimensión.</a:t>
                      </a:r>
                      <a:endParaRPr lang="es-CO" sz="11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113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59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FF00A-BADD-28CC-2331-F8687B6E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8F91E641-3142-2542-2187-970B541298FA}"/>
              </a:ext>
            </a:extLst>
          </p:cNvPr>
          <p:cNvSpPr txBox="1">
            <a:spLocks/>
          </p:cNvSpPr>
          <p:nvPr/>
        </p:nvSpPr>
        <p:spPr>
          <a:xfrm>
            <a:off x="1307769" y="219393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Marco Teórico.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4B0F5DF-67C6-E297-41AC-52339A8B9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34277F7-6ED3-D287-B835-0DBB9998F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4290CF32-A13F-27D5-8F66-1FFED30AF5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33DBA4B-6B86-8C3E-1E70-9708FE1BD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73352A3-F405-BA70-2859-DDD6B256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595498"/>
              </p:ext>
            </p:extLst>
          </p:nvPr>
        </p:nvGraphicFramePr>
        <p:xfrm>
          <a:off x="439947" y="1322796"/>
          <a:ext cx="8128000" cy="39674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69993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480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Estima una variable objetivo a partir de una o más variables explicativas, asumiendo una relación aproximadamente lineal.</a:t>
                      </a:r>
                    </a:p>
                    <a:p>
                      <a:r>
                        <a:rPr lang="es-MX" sz="1100" dirty="0"/>
                        <a:t>Se ajusta normalmente por mínimos cuadrados, minimizando el error entre valores reales y predichos.</a:t>
                      </a:r>
                      <a:endParaRPr lang="es-C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02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s-CO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58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Modelo supervisado de </a:t>
                      </a:r>
                      <a:r>
                        <a:rPr lang="es-MX" sz="1100" i="1" dirty="0"/>
                        <a:t>ensamble</a:t>
                      </a:r>
                      <a:r>
                        <a:rPr lang="es-MX" sz="1100" dirty="0"/>
                        <a:t> que construye múltiples árboles de decisión usando muestras y variables aleatorias para aumentar la diversidad.  La predicción final se obtiene agregando los resultados de todos los árboles (promedio en regresión), reduciendo la varianza y mejorando la generalización.  </a:t>
                      </a:r>
                      <a:br>
                        <a:rPr lang="es-MX" sz="1100" dirty="0"/>
                      </a:br>
                      <a:r>
                        <a:rPr lang="es-MX" sz="1100" dirty="0"/>
                        <a:t>Destaca por capturar relaciones no lineales y ser robusto al ruido y a valores atípicos, aunque es menos interpretable que modelos lineales.</a:t>
                      </a:r>
                      <a:endParaRPr lang="es-C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3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  <a:endParaRPr lang="es-CO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49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dirty="0"/>
                        <a:t>Modelos supervisados inspirados en el sistema nervioso, formados por capas de neuronas que aprenden patrones complejos.</a:t>
                      </a:r>
                    </a:p>
                    <a:p>
                      <a:r>
                        <a:rPr lang="es-MX" sz="1100" dirty="0"/>
                        <a:t>Ajustan sus pesos para minimizar el error entre predicción y valor real mediante optimización (p. ej., </a:t>
                      </a:r>
                      <a:r>
                        <a:rPr lang="es-MX" sz="1100" dirty="0" err="1"/>
                        <a:t>retropropagación</a:t>
                      </a:r>
                      <a:r>
                        <a:rPr lang="es-MX" sz="1100" dirty="0"/>
                        <a:t>).</a:t>
                      </a:r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46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74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100" b="0" dirty="0"/>
                        <a:t>modelo supervisado para regresión que busca una función que aproxime la relación entre variables con un margen de error controlado (tolerancia).  Utiliza vectores de soporte y, mediante funciones </a:t>
                      </a:r>
                      <a:r>
                        <a:rPr lang="es-MX" sz="1100" b="0" dirty="0" err="1"/>
                        <a:t>kernel</a:t>
                      </a:r>
                      <a:r>
                        <a:rPr lang="es-MX" sz="1100" b="0" dirty="0"/>
                        <a:t>, puede modelar relaciones no lineales al transformar los datos a espacios de mayor dimensión.</a:t>
                      </a:r>
                      <a:endParaRPr lang="es-CO" sz="11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113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47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6F642-BE41-1119-FE20-B1594E861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B27F4D3-8AFC-4470-55BA-19C79A59CC64}"/>
              </a:ext>
            </a:extLst>
          </p:cNvPr>
          <p:cNvSpPr txBox="1">
            <a:spLocks/>
          </p:cNvSpPr>
          <p:nvPr/>
        </p:nvSpPr>
        <p:spPr>
          <a:xfrm>
            <a:off x="1394298" y="576867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Penetración del Internet por País.  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7ABD6E-7F5C-07AF-657A-C517FB410193}"/>
              </a:ext>
            </a:extLst>
          </p:cNvPr>
          <p:cNvSpPr txBox="1"/>
          <p:nvPr/>
        </p:nvSpPr>
        <p:spPr>
          <a:xfrm>
            <a:off x="99390" y="5348615"/>
            <a:ext cx="92732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tx2">
                    <a:lumMod val="50000"/>
                  </a:schemeClr>
                </a:solidFill>
              </a:rPr>
              <a:t>Este mapa evidencia la brecha digital global: los países con mayor acceso a Internet se agrupan en Europa y Norteamérica, mientras que África presenta los niveles más bajos. En América Latina, Colombia se ubica en un rango intermedio, reflejando avances importantes pero aún con retos de cobertura y desigualdad territorial.</a:t>
            </a:r>
            <a:endParaRPr lang="es-CO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562CA4C-84A3-ECA0-56BE-2716F47C2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6630D4-D61C-381E-F515-0E51CA241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86ECAD8-DC21-3255-DE41-B4E306353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9C34A78-108B-C25D-D886-D5FEF4CBA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3" name="Imagen 2" descr="Mapa&#10;&#10;El contenido generado por IA puede ser incorrecto.">
            <a:extLst>
              <a:ext uri="{FF2B5EF4-FFF2-40B4-BE49-F238E27FC236}">
                <a16:creationId xmlns:a16="http://schemas.microsoft.com/office/drawing/2014/main" id="{A119572A-AD9B-5E45-06C4-CC20C466F8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0523" y="1721395"/>
            <a:ext cx="6779139" cy="3481370"/>
          </a:xfrm>
          <a:prstGeom prst="rect">
            <a:avLst/>
          </a:prstGeom>
        </p:spPr>
      </p:pic>
      <p:pic>
        <p:nvPicPr>
          <p:cNvPr id="6" name="Imagen 5" descr="Código QR&#10;&#10;El contenido generado por IA puede ser incorrecto.">
            <a:extLst>
              <a:ext uri="{FF2B5EF4-FFF2-40B4-BE49-F238E27FC236}">
                <a16:creationId xmlns:a16="http://schemas.microsoft.com/office/drawing/2014/main" id="{26C5DD70-E33D-C3AD-5192-0BD765C181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351" y="2917537"/>
            <a:ext cx="1093947" cy="108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8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0583E-81AE-A3D4-9D35-D413EA2C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8107A96-ED22-DDD2-B363-1A3070F179CD}"/>
              </a:ext>
            </a:extLst>
          </p:cNvPr>
          <p:cNvSpPr txBox="1">
            <a:spLocks/>
          </p:cNvSpPr>
          <p:nvPr/>
        </p:nvSpPr>
        <p:spPr>
          <a:xfrm>
            <a:off x="1394298" y="576867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Estado del Arte</a:t>
            </a:r>
          </a:p>
          <a:p>
            <a:pPr algn="ctr">
              <a:lnSpc>
                <a:spcPct val="110000"/>
              </a:lnSpc>
            </a:pPr>
            <a:endParaRPr lang="es-CO" sz="185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664A7A5-7EBF-5EF8-357A-A8F1BF662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0E09202-C8C0-C308-6571-2394FF85E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E46F4F5E-A69B-7227-CEA7-992E9339D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0F80AAB-CA52-4A4D-E321-D68DA337D6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  <p:pic>
        <p:nvPicPr>
          <p:cNvPr id="6" name="Imagen 5" descr="Escala de tiempo, Código QR&#10;&#10;El contenido generado por IA puede ser incorrecto.">
            <a:extLst>
              <a:ext uri="{FF2B5EF4-FFF2-40B4-BE49-F238E27FC236}">
                <a16:creationId xmlns:a16="http://schemas.microsoft.com/office/drawing/2014/main" id="{3D76C058-3CB5-109E-70E9-E2F9746C77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698" y="1227075"/>
            <a:ext cx="6760194" cy="522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6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5F5A741-84AA-FAB8-9D4F-D8104036E802}"/>
              </a:ext>
            </a:extLst>
          </p:cNvPr>
          <p:cNvSpPr txBox="1">
            <a:spLocks/>
          </p:cNvSpPr>
          <p:nvPr/>
        </p:nvSpPr>
        <p:spPr>
          <a:xfrm>
            <a:off x="1394298" y="1269109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Título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0187D2-C0A6-6B2A-120E-E556BD7D5F1A}"/>
              </a:ext>
            </a:extLst>
          </p:cNvPr>
          <p:cNvSpPr txBox="1"/>
          <p:nvPr/>
        </p:nvSpPr>
        <p:spPr>
          <a:xfrm>
            <a:off x="1208379" y="2286976"/>
            <a:ext cx="67641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Lorem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ipsum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dolor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sit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amet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consectetuer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adipiscing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elit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sed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diam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nonummy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nibh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euismod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tincidunt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laoreet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magna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aliquam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erat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volutpat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wisi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enim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ad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minim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veniam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quis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nostrud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exerci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tation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ullamcorper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suscipit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lobortis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nisl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aliquip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ex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commodo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consequat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Duis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autem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iriure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dolor in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hendrerit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in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vulputate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esse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molestie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consequat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illum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feugiat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nulla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facilisis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at vero eros et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accumsan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et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iusto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odio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dignissim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qui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blandit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praesent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luptatum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zzril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delenit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augue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duis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te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feugait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nulla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facilisi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2D18405-0140-9E96-7829-C61FC071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BCF432-130A-0293-5790-470EB8064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3A16484D-B71D-283E-CB12-4C8010DC7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2C7BC15-9C77-7B1D-981E-E902F52307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9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6E5CA-EA28-52B1-5B1B-3FD8649C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96B2C74-87E2-A678-71DB-8400A1235392}"/>
              </a:ext>
            </a:extLst>
          </p:cNvPr>
          <p:cNvSpPr txBox="1">
            <a:spLocks/>
          </p:cNvSpPr>
          <p:nvPr/>
        </p:nvSpPr>
        <p:spPr>
          <a:xfrm>
            <a:off x="1394298" y="1269109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Título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0AB9AE-F6D4-6653-C3BF-3FEE147360E3}"/>
              </a:ext>
            </a:extLst>
          </p:cNvPr>
          <p:cNvSpPr txBox="1"/>
          <p:nvPr/>
        </p:nvSpPr>
        <p:spPr>
          <a:xfrm>
            <a:off x="1208379" y="2286976"/>
            <a:ext cx="67641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Lorem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ipsum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dolor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sit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amet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consectetuer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adipiscing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elit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sed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diam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nonummy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nibh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euismod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tincidunt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laoreet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magna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aliquam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erat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volutpat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wisi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enim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ad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minim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veniam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quis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nostrud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exerci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tation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ullamcorper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suscipit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lobortis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nisl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aliquip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ex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commodo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consequat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Duis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autem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iriure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dolor in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hendrerit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in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vulputate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esse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molestie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consequat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illum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feugiat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nulla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facilisis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at vero eros et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accumsan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et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iusto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odio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dignissim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qui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blandit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praesent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luptatum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zzril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delenit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augue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duis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te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feugait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nulla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facilisi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8B55EA1-D304-08B7-8DAD-0A896A36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E44DE7-0870-307C-B944-E640F839C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389DEE74-E634-8FC2-FD3E-07A4859E1E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8BD726-A26B-A195-E78B-9DE72ED07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5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1F7FC8-6BBF-833D-3AF5-777ACDAA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4C97626-FCAD-6C5D-3D55-57385C3DE2BD}"/>
              </a:ext>
            </a:extLst>
          </p:cNvPr>
          <p:cNvSpPr txBox="1">
            <a:spLocks/>
          </p:cNvSpPr>
          <p:nvPr/>
        </p:nvSpPr>
        <p:spPr>
          <a:xfrm>
            <a:off x="1394298" y="1269109"/>
            <a:ext cx="6392357" cy="7686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s-CO" sz="185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Título</a:t>
            </a:r>
          </a:p>
          <a:p>
            <a:pPr>
              <a:lnSpc>
                <a:spcPct val="110000"/>
              </a:lnSpc>
            </a:pPr>
            <a:endParaRPr lang="es-CO" sz="3750" b="1" dirty="0">
              <a:solidFill>
                <a:schemeClr val="tx2">
                  <a:lumMod val="50000"/>
                </a:schemeClr>
              </a:solidFill>
              <a:latin typeface="Futura Std Book" panose="020B0502020204020303" pitchFamily="34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43DCAE-FF4F-2105-C6F5-5D5E0E79E7AF}"/>
              </a:ext>
            </a:extLst>
          </p:cNvPr>
          <p:cNvSpPr txBox="1"/>
          <p:nvPr/>
        </p:nvSpPr>
        <p:spPr>
          <a:xfrm>
            <a:off x="1208379" y="2286976"/>
            <a:ext cx="67641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Lorem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ipsum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dolor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sit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amet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consectetuer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adipiscing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elit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sed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diam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nonummy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nibh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euismod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tincidunt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laoreet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magna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aliquam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erat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volutpat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wisi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enim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ad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minim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veniam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quis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nostrud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exerci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tation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ullamcorper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suscipit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lobortis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nisl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ut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aliquip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ex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commodo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consequat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Duis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autem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iriure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dolor in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hendrerit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in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vulputate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esse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molestie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consequat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vel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illum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eu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feugiat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nulla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facilisis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at vero eros et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accumsan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et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iusto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odio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dignissim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qui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blandit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praesent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luptatum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zzril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delenit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augue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duis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dolore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te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feugait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nulla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s-CO" sz="2200" dirty="0" err="1">
                <a:solidFill>
                  <a:schemeClr val="tx2">
                    <a:lumMod val="50000"/>
                  </a:schemeClr>
                </a:solidFill>
              </a:rPr>
              <a:t>facilisi</a:t>
            </a:r>
            <a:r>
              <a:rPr lang="es-CO" sz="22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0E0033D-A3C4-E92B-DDDB-13D13DB3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497815" y="1912273"/>
            <a:ext cx="2908797" cy="61461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5098CC5-E75B-C269-579B-C1A5653AF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70" y="-91440"/>
            <a:ext cx="3564510" cy="7024947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886F0D6-CDF4-6432-1172-A25AFD446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012430" y="-206067"/>
            <a:ext cx="2214082" cy="23345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D8D778F-2F1D-DD3B-308B-6A986BE3A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2615" y="219393"/>
            <a:ext cx="1160941" cy="124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45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F221EFB-E46A-ACDC-540E-81EA28270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592" y="1921338"/>
            <a:ext cx="2209214" cy="27931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F0F1E90-A0B3-A6B2-D783-FB554F6C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012" y="1702625"/>
            <a:ext cx="3237511" cy="32375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1FBAF23-DC61-CD01-D802-F4623ECA2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-232486" y="4757734"/>
            <a:ext cx="2525812" cy="239121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67365F3-01D8-3DBA-A685-675E90101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643815" flipH="1">
            <a:off x="-2584061" y="-3683686"/>
            <a:ext cx="3486778" cy="736737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3AF4B5C-1DE4-08F5-D371-0C6B399CF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673" y="-148444"/>
            <a:ext cx="2735892" cy="711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3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fbb5a6-f53e-4b0a-ba38-e03ac7088f1a" xsi:nil="true"/>
    <lcf76f155ced4ddcb4097134ff3c332f xmlns="858d0271-1141-42d1-8b9b-42920b15170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53AB6459CAEE741A6308FB2627B45F6" ma:contentTypeVersion="13" ma:contentTypeDescription="Crear nuevo documento." ma:contentTypeScope="" ma:versionID="45e68d4ebf34411c48cb8881815cee7c">
  <xsd:schema xmlns:xsd="http://www.w3.org/2001/XMLSchema" xmlns:xs="http://www.w3.org/2001/XMLSchema" xmlns:p="http://schemas.microsoft.com/office/2006/metadata/properties" xmlns:ns2="858d0271-1141-42d1-8b9b-42920b15170c" xmlns:ns3="cbfbb5a6-f53e-4b0a-ba38-e03ac7088f1a" targetNamespace="http://schemas.microsoft.com/office/2006/metadata/properties" ma:root="true" ma:fieldsID="547a1674e4e1cea1548d1106f75470d9" ns2:_="" ns3:_="">
    <xsd:import namespace="858d0271-1141-42d1-8b9b-42920b15170c"/>
    <xsd:import namespace="cbfbb5a6-f53e-4b0a-ba38-e03ac7088f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8d0271-1141-42d1-8b9b-42920b1517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47ec1249-a48c-4968-bfb0-a566660bd3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bb5a6-f53e-4b0a-ba38-e03ac7088f1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9157368-4b99-4b52-b594-dacb418ead93}" ma:internalName="TaxCatchAll" ma:showField="CatchAllData" ma:web="cbfbb5a6-f53e-4b0a-ba38-e03ac7088f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AEE9C7-8F80-45D8-A8BE-5C19816D26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9D3738-C159-4EF1-A8E4-5785D65678AA}">
  <ds:schemaRefs>
    <ds:schemaRef ds:uri="http://schemas.microsoft.com/office/2006/metadata/properties"/>
    <ds:schemaRef ds:uri="http://schemas.microsoft.com/office/infopath/2007/PartnerControls"/>
    <ds:schemaRef ds:uri="cbfbb5a6-f53e-4b0a-ba38-e03ac7088f1a"/>
    <ds:schemaRef ds:uri="858d0271-1141-42d1-8b9b-42920b15170c"/>
  </ds:schemaRefs>
</ds:datastoreItem>
</file>

<file path=customXml/itemProps3.xml><?xml version="1.0" encoding="utf-8"?>
<ds:datastoreItem xmlns:ds="http://schemas.openxmlformats.org/officeDocument/2006/customXml" ds:itemID="{39C923E6-BDD3-4105-B695-9B73F12EFF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8d0271-1141-42d1-8b9b-42920b15170c"/>
    <ds:schemaRef ds:uri="cbfbb5a6-f53e-4b0a-ba38-e03ac7088f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1842</TotalTime>
  <Words>861</Words>
  <Application>Microsoft Office PowerPoint</Application>
  <PresentationFormat>Panorámica</PresentationFormat>
  <Paragraphs>62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Calibri Light</vt:lpstr>
      <vt:lpstr>Futura Std Book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Edith Valencia Figueroa</dc:creator>
  <cp:lastModifiedBy>Paulo Andres Martinez Mendez</cp:lastModifiedBy>
  <cp:revision>13</cp:revision>
  <dcterms:created xsi:type="dcterms:W3CDTF">2023-05-16T20:34:56Z</dcterms:created>
  <dcterms:modified xsi:type="dcterms:W3CDTF">2026-01-19T17:11:22Z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0x010100353AB6459CAEE741A6308FB2627B45F6</vt:lpwstr>
  </property>
</Properties>
</file>