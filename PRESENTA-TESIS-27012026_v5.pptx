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72" r:id="rId4"/>
  </p:sldMasterIdLst>
  <p:notesMasterIdLst>
    <p:notesMasterId r:id="rId34"/>
  </p:notesMasterIdLst>
  <p:sldIdLst>
    <p:sldId id="256" r:id="rId5"/>
    <p:sldId id="258" r:id="rId6"/>
    <p:sldId id="259" r:id="rId7"/>
    <p:sldId id="262" r:id="rId8"/>
    <p:sldId id="266" r:id="rId9"/>
    <p:sldId id="292" r:id="rId10"/>
    <p:sldId id="267" r:id="rId11"/>
    <p:sldId id="261" r:id="rId12"/>
    <p:sldId id="263" r:id="rId13"/>
    <p:sldId id="264" r:id="rId14"/>
    <p:sldId id="270" r:id="rId15"/>
    <p:sldId id="271" r:id="rId16"/>
    <p:sldId id="272" r:id="rId17"/>
    <p:sldId id="273" r:id="rId18"/>
    <p:sldId id="274" r:id="rId19"/>
    <p:sldId id="275" r:id="rId20"/>
    <p:sldId id="276" r:id="rId21"/>
    <p:sldId id="277" r:id="rId22"/>
    <p:sldId id="281" r:id="rId23"/>
    <p:sldId id="283" r:id="rId24"/>
    <p:sldId id="284" r:id="rId25"/>
    <p:sldId id="291" r:id="rId26"/>
    <p:sldId id="293" r:id="rId27"/>
    <p:sldId id="286" r:id="rId28"/>
    <p:sldId id="287" r:id="rId29"/>
    <p:sldId id="290" r:id="rId30"/>
    <p:sldId id="288" r:id="rId31"/>
    <p:sldId id="289" r:id="rId32"/>
    <p:sldId id="257" r:id="rId33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Estilo medio 2 - Énfasis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3B4B98B0-60AC-42C2-AFA5-B58CD77FA1E5}" styleName="Estilo claro 1 - Acento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5A111915-BE36-4E01-A7E5-04B1672EAD32}" styleName="Estilo claro 2 - Acento 5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</a:tcBdr>
      </a:tcStyle>
    </a:band1H>
    <a:band1V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</a:tcBdr>
      </a:tcStyle>
    </a:band1V>
    <a:band2V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5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5"/>
        </a:fillRef>
      </a:tcStyle>
    </a:firstRow>
  </a:tblStyle>
  <a:tblStyle styleId="{F5AB1C69-6EDB-4FF4-983F-18BD219EF322}" styleName="Estilo medio 2 - Énfasis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8799B23B-EC83-4686-B30A-512413B5E67A}" styleName="Estilo claro 3 - Acento 3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3"/>
              </a:solidFill>
            </a:ln>
          </a:left>
          <a:right>
            <a:ln w="12700" cmpd="sng">
              <a:solidFill>
                <a:schemeClr val="accent3"/>
              </a:solidFill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 w="12700" cmpd="sng">
              <a:solidFill>
                <a:schemeClr val="accent3"/>
              </a:solidFill>
            </a:ln>
          </a:insideH>
          <a:insideV>
            <a:ln w="12700" cmpd="sng">
              <a:solidFill>
                <a:schemeClr val="accent3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20000"/>
            </a:schemeClr>
          </a:solidFill>
        </a:fill>
      </a:tcStyle>
    </a:band1H>
    <a:band1V>
      <a:tcStyle>
        <a:tcBdr/>
        <a:fill>
          <a:solidFill>
            <a:schemeClr val="accent3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3"/>
              </a:solidFill>
            </a:ln>
          </a:bottom>
        </a:tcBdr>
        <a:fill>
          <a:noFill/>
        </a:fill>
      </a:tcStyle>
    </a:firstRow>
  </a:tblStyle>
  <a:tblStyle styleId="{0505E3EF-67EA-436B-97B2-0124C06EBD24}" styleName="Estilo medio 4 - Énfasis 3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3"/>
              </a:solidFill>
            </a:ln>
          </a:left>
          <a:right>
            <a:ln w="12700" cmpd="sng">
              <a:solidFill>
                <a:schemeClr val="accent3"/>
              </a:solidFill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 w="12700" cmpd="sng">
              <a:solidFill>
                <a:schemeClr val="accent3"/>
              </a:solidFill>
            </a:ln>
          </a:insideH>
          <a:insideV>
            <a:ln w="12700" cmpd="sng">
              <a:solidFill>
                <a:schemeClr val="accent3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3"/>
              </a:solidFill>
            </a:ln>
          </a:top>
        </a:tcBdr>
        <a:fill>
          <a:solidFill>
            <a:schemeClr val="accent3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3">
              <a:tint val="20000"/>
            </a:schemeClr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8826"/>
    <p:restoredTop sz="96327"/>
  </p:normalViewPr>
  <p:slideViewPr>
    <p:cSldViewPr snapToGrid="0" showGuides="1">
      <p:cViewPr varScale="1">
        <p:scale>
          <a:sx n="77" d="100"/>
          <a:sy n="77" d="100"/>
        </p:scale>
        <p:origin x="120" y="81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80" d="100"/>
        <a:sy n="80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openxmlformats.org/officeDocument/2006/relationships/slide" Target="slides/slide22.xml"/><Relationship Id="rId21" Type="http://schemas.openxmlformats.org/officeDocument/2006/relationships/slide" Target="slides/slide17.xml"/><Relationship Id="rId34" Type="http://schemas.openxmlformats.org/officeDocument/2006/relationships/notesMaster" Target="notesMasters/notesMaster1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slide" Target="slides/slide21.xml"/><Relationship Id="rId33" Type="http://schemas.openxmlformats.org/officeDocument/2006/relationships/slide" Target="slides/slide29.xml"/><Relationship Id="rId38" Type="http://schemas.openxmlformats.org/officeDocument/2006/relationships/tableStyles" Target="tableStyles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slide" Target="slides/slide16.xml"/><Relationship Id="rId29" Type="http://schemas.openxmlformats.org/officeDocument/2006/relationships/slide" Target="slides/slide25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slide" Target="slides/slide20.xml"/><Relationship Id="rId32" Type="http://schemas.openxmlformats.org/officeDocument/2006/relationships/slide" Target="slides/slide28.xml"/><Relationship Id="rId37" Type="http://schemas.openxmlformats.org/officeDocument/2006/relationships/theme" Target="theme/theme1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slide" Target="slides/slide19.xml"/><Relationship Id="rId28" Type="http://schemas.openxmlformats.org/officeDocument/2006/relationships/slide" Target="slides/slide24.xml"/><Relationship Id="rId36" Type="http://schemas.openxmlformats.org/officeDocument/2006/relationships/viewProps" Target="viewProps.xml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31" Type="http://schemas.openxmlformats.org/officeDocument/2006/relationships/slide" Target="slides/slide27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slide" Target="slides/slide18.xml"/><Relationship Id="rId27" Type="http://schemas.openxmlformats.org/officeDocument/2006/relationships/slide" Target="slides/slide23.xml"/><Relationship Id="rId30" Type="http://schemas.openxmlformats.org/officeDocument/2006/relationships/slide" Target="slides/slide26.xml"/><Relationship Id="rId35" Type="http://schemas.openxmlformats.org/officeDocument/2006/relationships/presProps" Target="presProps.xml"/><Relationship Id="rId8" Type="http://schemas.openxmlformats.org/officeDocument/2006/relationships/slide" Target="slides/slide4.xml"/><Relationship Id="rId3" Type="http://schemas.openxmlformats.org/officeDocument/2006/relationships/customXml" Target="../customXml/item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encabezad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s-CO"/>
          </a:p>
        </p:txBody>
      </p:sp>
      <p:sp>
        <p:nvSpPr>
          <p:cNvPr id="3" name="Marcador de fecha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382AE5-EDFF-4F6C-9D7F-3216A1BE77E0}" type="datetimeFigureOut">
              <a:rPr lang="es-CO" smtClean="0"/>
              <a:t>27/01/2026</a:t>
            </a:fld>
            <a:endParaRPr lang="es-CO"/>
          </a:p>
        </p:txBody>
      </p:sp>
      <p:sp>
        <p:nvSpPr>
          <p:cNvPr id="4" name="Marcador de imagen de diapositiva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s-CO"/>
          </a:p>
        </p:txBody>
      </p:sp>
      <p:sp>
        <p:nvSpPr>
          <p:cNvPr id="5" name="Marcador de nota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6" name="Marcador de pie de página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s-CO"/>
          </a:p>
        </p:txBody>
      </p:sp>
      <p:sp>
        <p:nvSpPr>
          <p:cNvPr id="7" name="Marcador de número de diapositiva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C320F94-21AE-46E6-A3D1-699A18724AB5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5954504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s-MX"/>
              <a:t>Haz clic para modificar el estilo de título del patrón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s-MX"/>
              <a:t>Haz clic para editar el estilo de subtítulo del patrón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E193E6D-A32A-2C40-8594-F3974821ADD7}" type="datetimeFigureOut">
              <a:rPr lang="es-CO" smtClean="0"/>
              <a:t>27/01/2026</a:t>
            </a:fld>
            <a:endParaRPr lang="es-CO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6B612A-2F79-5C4F-837E-C7C9977313EA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20464313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MX"/>
              <a:t>Haz clic para modificar el estilo de título del patrón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s-MX"/>
              <a:t>Haga clic para modificar los estilos de texto del patrón</a:t>
            </a:r>
          </a:p>
          <a:p>
            <a:pPr lvl="1"/>
            <a:r>
              <a:rPr lang="es-MX"/>
              <a:t>Segundo nivel</a:t>
            </a:r>
          </a:p>
          <a:p>
            <a:pPr lvl="2"/>
            <a:r>
              <a:rPr lang="es-MX"/>
              <a:t>Tercer nivel</a:t>
            </a:r>
          </a:p>
          <a:p>
            <a:pPr lvl="3"/>
            <a:r>
              <a:rPr lang="es-MX"/>
              <a:t>Cuarto nivel</a:t>
            </a:r>
          </a:p>
          <a:p>
            <a:pPr lvl="4"/>
            <a:r>
              <a:rPr lang="es-MX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E193E6D-A32A-2C40-8594-F3974821ADD7}" type="datetimeFigureOut">
              <a:rPr lang="es-CO" smtClean="0"/>
              <a:t>27/01/2026</a:t>
            </a:fld>
            <a:endParaRPr lang="es-CO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6B612A-2F79-5C4F-837E-C7C9977313EA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213354225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s-MX"/>
              <a:t>Haz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MX"/>
              <a:t>Haga clic para modificar los estilos de texto del patrón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E193E6D-A32A-2C40-8594-F3974821ADD7}" type="datetimeFigureOut">
              <a:rPr lang="es-CO" smtClean="0"/>
              <a:t>27/01/2026</a:t>
            </a:fld>
            <a:endParaRPr lang="es-CO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6B612A-2F79-5C4F-837E-C7C9977313EA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299350757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MX"/>
              <a:t>Haz clic para modificar el estilo de título del patrón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s-MX"/>
              <a:t>Haga clic para modificar los estilos de texto del patrón</a:t>
            </a:r>
          </a:p>
          <a:p>
            <a:pPr lvl="1"/>
            <a:r>
              <a:rPr lang="es-MX"/>
              <a:t>Segundo nivel</a:t>
            </a:r>
          </a:p>
          <a:p>
            <a:pPr lvl="2"/>
            <a:r>
              <a:rPr lang="es-MX"/>
              <a:t>Tercer nivel</a:t>
            </a:r>
          </a:p>
          <a:p>
            <a:pPr lvl="3"/>
            <a:r>
              <a:rPr lang="es-MX"/>
              <a:t>Cuarto nivel</a:t>
            </a:r>
          </a:p>
          <a:p>
            <a:pPr lvl="4"/>
            <a:r>
              <a:rPr lang="es-MX"/>
              <a:t>Quinto nivel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s-MX"/>
              <a:t>Haga clic para modificar los estilos de texto del patrón</a:t>
            </a:r>
          </a:p>
          <a:p>
            <a:pPr lvl="1"/>
            <a:r>
              <a:rPr lang="es-MX"/>
              <a:t>Segundo nivel</a:t>
            </a:r>
          </a:p>
          <a:p>
            <a:pPr lvl="2"/>
            <a:r>
              <a:rPr lang="es-MX"/>
              <a:t>Tercer nivel</a:t>
            </a:r>
          </a:p>
          <a:p>
            <a:pPr lvl="3"/>
            <a:r>
              <a:rPr lang="es-MX"/>
              <a:t>Cuarto nivel</a:t>
            </a:r>
          </a:p>
          <a:p>
            <a:pPr lvl="4"/>
            <a:r>
              <a:rPr lang="es-MX"/>
              <a:t>Quinto nivel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E193E6D-A32A-2C40-8594-F3974821ADD7}" type="datetimeFigureOut">
              <a:rPr lang="es-CO" smtClean="0"/>
              <a:t>27/01/2026</a:t>
            </a:fld>
            <a:endParaRPr lang="es-CO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6B612A-2F79-5C4F-837E-C7C9977313EA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91697024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s-MX"/>
              <a:t>Haz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MX"/>
              <a:t>Haga clic para modificar los estilos de texto del patrón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s-MX"/>
              <a:t>Haga clic para modificar los estilos de texto del patrón</a:t>
            </a:r>
          </a:p>
          <a:p>
            <a:pPr lvl="1"/>
            <a:r>
              <a:rPr lang="es-MX"/>
              <a:t>Segundo nivel</a:t>
            </a:r>
          </a:p>
          <a:p>
            <a:pPr lvl="2"/>
            <a:r>
              <a:rPr lang="es-MX"/>
              <a:t>Tercer nivel</a:t>
            </a:r>
          </a:p>
          <a:p>
            <a:pPr lvl="3"/>
            <a:r>
              <a:rPr lang="es-MX"/>
              <a:t>Cuarto nivel</a:t>
            </a:r>
          </a:p>
          <a:p>
            <a:pPr lvl="4"/>
            <a:r>
              <a:rPr lang="es-MX"/>
              <a:t>Quinto nivel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MX"/>
              <a:t>Haga clic para modificar los estilos de texto del patrón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s-MX"/>
              <a:t>Haga clic para modificar los estilos de texto del patrón</a:t>
            </a:r>
          </a:p>
          <a:p>
            <a:pPr lvl="1"/>
            <a:r>
              <a:rPr lang="es-MX"/>
              <a:t>Segundo nivel</a:t>
            </a:r>
          </a:p>
          <a:p>
            <a:pPr lvl="2"/>
            <a:r>
              <a:rPr lang="es-MX"/>
              <a:t>Tercer nivel</a:t>
            </a:r>
          </a:p>
          <a:p>
            <a:pPr lvl="3"/>
            <a:r>
              <a:rPr lang="es-MX"/>
              <a:t>Cuarto nivel</a:t>
            </a:r>
          </a:p>
          <a:p>
            <a:pPr lvl="4"/>
            <a:r>
              <a:rPr lang="es-MX"/>
              <a:t>Quinto nivel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E193E6D-A32A-2C40-8594-F3974821ADD7}" type="datetimeFigureOut">
              <a:rPr lang="es-CO" smtClean="0"/>
              <a:t>27/01/2026</a:t>
            </a:fld>
            <a:endParaRPr lang="es-CO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6B612A-2F79-5C4F-837E-C7C9977313EA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84891908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MX"/>
              <a:t>Haz clic para modificar el estilo de título del patrón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E193E6D-A32A-2C40-8594-F3974821ADD7}" type="datetimeFigureOut">
              <a:rPr lang="es-CO" smtClean="0"/>
              <a:t>27/01/2026</a:t>
            </a:fld>
            <a:endParaRPr lang="es-CO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6B612A-2F79-5C4F-837E-C7C9977313EA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273509896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E193E6D-A32A-2C40-8594-F3974821ADD7}" type="datetimeFigureOut">
              <a:rPr lang="es-CO" smtClean="0"/>
              <a:t>27/01/2026</a:t>
            </a:fld>
            <a:endParaRPr lang="es-CO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6B612A-2F79-5C4F-837E-C7C9977313EA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381948179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MX"/>
              <a:t>Haz clic para modificar el estilo de título del patrón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s-MX"/>
              <a:t>Haga clic para modificar los estilos de texto del patrón</a:t>
            </a:r>
          </a:p>
          <a:p>
            <a:pPr lvl="1"/>
            <a:r>
              <a:rPr lang="es-MX"/>
              <a:t>Segundo nivel</a:t>
            </a:r>
          </a:p>
          <a:p>
            <a:pPr lvl="2"/>
            <a:r>
              <a:rPr lang="es-MX"/>
              <a:t>Tercer nivel</a:t>
            </a:r>
          </a:p>
          <a:p>
            <a:pPr lvl="3"/>
            <a:r>
              <a:rPr lang="es-MX"/>
              <a:t>Cuarto nivel</a:t>
            </a:r>
          </a:p>
          <a:p>
            <a:pPr lvl="4"/>
            <a:r>
              <a:rPr lang="es-MX"/>
              <a:t>Quinto nivel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MX"/>
              <a:t>Haga clic para modificar los estilos de texto del patrón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E193E6D-A32A-2C40-8594-F3974821ADD7}" type="datetimeFigureOut">
              <a:rPr lang="es-CO" smtClean="0"/>
              <a:t>27/01/2026</a:t>
            </a:fld>
            <a:endParaRPr lang="es-CO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6B612A-2F79-5C4F-837E-C7C9977313EA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323917091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MX"/>
              <a:t>Haz clic para modificar el estilo de título del patrón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s-MX"/>
              <a:t>Haz clic en el icono para agregar una imagen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MX"/>
              <a:t>Haga clic para modificar los estilos de texto del patrón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E193E6D-A32A-2C40-8594-F3974821ADD7}" type="datetimeFigureOut">
              <a:rPr lang="es-CO" smtClean="0"/>
              <a:t>27/01/2026</a:t>
            </a:fld>
            <a:endParaRPr lang="es-CO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6B612A-2F79-5C4F-837E-C7C9977313EA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333786578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MX"/>
              <a:t>Haz clic para modificar el estilo de título del patrón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s-MX"/>
              <a:t>Haga clic para modificar los estilos de texto del patrón</a:t>
            </a:r>
          </a:p>
          <a:p>
            <a:pPr lvl="1"/>
            <a:r>
              <a:rPr lang="es-MX"/>
              <a:t>Segundo nivel</a:t>
            </a:r>
          </a:p>
          <a:p>
            <a:pPr lvl="2"/>
            <a:r>
              <a:rPr lang="es-MX"/>
              <a:t>Tercer nivel</a:t>
            </a:r>
          </a:p>
          <a:p>
            <a:pPr lvl="3"/>
            <a:r>
              <a:rPr lang="es-MX"/>
              <a:t>Cuarto nivel</a:t>
            </a:r>
          </a:p>
          <a:p>
            <a:pPr lvl="4"/>
            <a:r>
              <a:rPr lang="es-MX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E193E6D-A32A-2C40-8594-F3974821ADD7}" type="datetimeFigureOut">
              <a:rPr lang="es-CO" smtClean="0"/>
              <a:t>27/01/2026</a:t>
            </a:fld>
            <a:endParaRPr lang="es-CO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6B612A-2F79-5C4F-837E-C7C9977313EA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253098773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s-MX"/>
              <a:t>Haz clic para modificar el estilo de título del patrón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s-MX"/>
              <a:t>Haga clic para modificar los estilos de texto del patrón</a:t>
            </a:r>
          </a:p>
          <a:p>
            <a:pPr lvl="1"/>
            <a:r>
              <a:rPr lang="es-MX"/>
              <a:t>Segundo nivel</a:t>
            </a:r>
          </a:p>
          <a:p>
            <a:pPr lvl="2"/>
            <a:r>
              <a:rPr lang="es-MX"/>
              <a:t>Tercer nivel</a:t>
            </a:r>
          </a:p>
          <a:p>
            <a:pPr lvl="3"/>
            <a:r>
              <a:rPr lang="es-MX"/>
              <a:t>Cuarto nivel</a:t>
            </a:r>
          </a:p>
          <a:p>
            <a:pPr lvl="4"/>
            <a:r>
              <a:rPr lang="es-MX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E193E6D-A32A-2C40-8594-F3974821ADD7}" type="datetimeFigureOut">
              <a:rPr lang="es-CO" smtClean="0"/>
              <a:t>27/01/2026</a:t>
            </a:fld>
            <a:endParaRPr lang="es-CO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6B612A-2F79-5C4F-837E-C7C9977313EA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427854890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s-MX"/>
              <a:t>Haz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MX"/>
              <a:t>Haga clic para modificar los estilos de texto del patrón</a:t>
            </a:r>
          </a:p>
          <a:p>
            <a:pPr lvl="1"/>
            <a:r>
              <a:rPr lang="es-MX"/>
              <a:t>Segundo nivel</a:t>
            </a:r>
          </a:p>
          <a:p>
            <a:pPr lvl="2"/>
            <a:r>
              <a:rPr lang="es-MX"/>
              <a:t>Tercer nivel</a:t>
            </a:r>
          </a:p>
          <a:p>
            <a:pPr lvl="3"/>
            <a:r>
              <a:rPr lang="es-MX"/>
              <a:t>Cuarto nivel</a:t>
            </a:r>
          </a:p>
          <a:p>
            <a:pPr lvl="4"/>
            <a:r>
              <a:rPr lang="es-MX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E193E6D-A32A-2C40-8594-F3974821ADD7}" type="datetimeFigureOut">
              <a:rPr lang="es-CO" smtClean="0"/>
              <a:t>27/01/2026</a:t>
            </a:fld>
            <a:endParaRPr lang="es-CO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s-CO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86B612A-2F79-5C4F-837E-C7C9977313EA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209063078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76" r:id="rId4"/>
    <p:sldLayoutId id="2147483677" r:id="rId5"/>
    <p:sldLayoutId id="2147483678" r:id="rId6"/>
    <p:sldLayoutId id="2147483679" r:id="rId7"/>
    <p:sldLayoutId id="2147483680" r:id="rId8"/>
    <p:sldLayoutId id="2147483681" r:id="rId9"/>
    <p:sldLayoutId id="2147483682" r:id="rId10"/>
    <p:sldLayoutId id="2147483683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sv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2.png"/><Relationship Id="rId5" Type="http://schemas.openxmlformats.org/officeDocument/2006/relationships/image" Target="../media/image11.png"/><Relationship Id="rId4" Type="http://schemas.openxmlformats.org/officeDocument/2006/relationships/image" Target="../media/image10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7.png"/><Relationship Id="rId5" Type="http://schemas.openxmlformats.org/officeDocument/2006/relationships/image" Target="../media/image16.png"/><Relationship Id="rId4" Type="http://schemas.openxmlformats.org/officeDocument/2006/relationships/image" Target="../media/image15.png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23.png"/><Relationship Id="rId3" Type="http://schemas.openxmlformats.org/officeDocument/2006/relationships/image" Target="../media/image19.png"/><Relationship Id="rId7" Type="http://schemas.openxmlformats.org/officeDocument/2006/relationships/image" Target="../media/image11.png"/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2.svg"/><Relationship Id="rId5" Type="http://schemas.openxmlformats.org/officeDocument/2006/relationships/image" Target="../media/image21.png"/><Relationship Id="rId4" Type="http://schemas.openxmlformats.org/officeDocument/2006/relationships/image" Target="../media/image20.png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24.png"/><Relationship Id="rId3" Type="http://schemas.openxmlformats.org/officeDocument/2006/relationships/image" Target="../media/image19.png"/><Relationship Id="rId7" Type="http://schemas.openxmlformats.org/officeDocument/2006/relationships/image" Target="../media/image11.png"/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2.svg"/><Relationship Id="rId5" Type="http://schemas.openxmlformats.org/officeDocument/2006/relationships/image" Target="../media/image21.png"/><Relationship Id="rId4" Type="http://schemas.openxmlformats.org/officeDocument/2006/relationships/image" Target="../media/image20.png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25.png"/><Relationship Id="rId3" Type="http://schemas.openxmlformats.org/officeDocument/2006/relationships/image" Target="../media/image19.png"/><Relationship Id="rId7" Type="http://schemas.openxmlformats.org/officeDocument/2006/relationships/image" Target="../media/image11.png"/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2.svg"/><Relationship Id="rId5" Type="http://schemas.openxmlformats.org/officeDocument/2006/relationships/image" Target="../media/image21.png"/><Relationship Id="rId4" Type="http://schemas.openxmlformats.org/officeDocument/2006/relationships/image" Target="../media/image20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7" Type="http://schemas.openxmlformats.org/officeDocument/2006/relationships/image" Target="../media/image26.png"/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1.png"/><Relationship Id="rId5" Type="http://schemas.openxmlformats.org/officeDocument/2006/relationships/image" Target="../media/image22.svg"/><Relationship Id="rId4" Type="http://schemas.openxmlformats.org/officeDocument/2006/relationships/image" Target="../media/image21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1.png"/><Relationship Id="rId5" Type="http://schemas.openxmlformats.org/officeDocument/2006/relationships/image" Target="../media/image22.svg"/><Relationship Id="rId4" Type="http://schemas.openxmlformats.org/officeDocument/2006/relationships/image" Target="../media/image21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7" Type="http://schemas.openxmlformats.org/officeDocument/2006/relationships/image" Target="../media/image11.png"/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2.svg"/><Relationship Id="rId5" Type="http://schemas.openxmlformats.org/officeDocument/2006/relationships/image" Target="../media/image21.png"/><Relationship Id="rId4" Type="http://schemas.openxmlformats.org/officeDocument/2006/relationships/image" Target="../media/image20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1.png"/><Relationship Id="rId5" Type="http://schemas.openxmlformats.org/officeDocument/2006/relationships/image" Target="../media/image22.svg"/><Relationship Id="rId4" Type="http://schemas.openxmlformats.org/officeDocument/2006/relationships/image" Target="../media/image21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1.png"/><Relationship Id="rId5" Type="http://schemas.openxmlformats.org/officeDocument/2006/relationships/image" Target="../media/image22.svg"/><Relationship Id="rId4" Type="http://schemas.openxmlformats.org/officeDocument/2006/relationships/image" Target="../media/image21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1.png"/><Relationship Id="rId5" Type="http://schemas.openxmlformats.org/officeDocument/2006/relationships/image" Target="../media/image22.svg"/><Relationship Id="rId4" Type="http://schemas.openxmlformats.org/officeDocument/2006/relationships/image" Target="../media/image21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7" Type="http://schemas.openxmlformats.org/officeDocument/2006/relationships/image" Target="../media/image11.png"/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2.svg"/><Relationship Id="rId5" Type="http://schemas.openxmlformats.org/officeDocument/2006/relationships/image" Target="../media/image21.png"/><Relationship Id="rId4" Type="http://schemas.openxmlformats.org/officeDocument/2006/relationships/image" Target="../media/image20.png"/></Relationships>
</file>

<file path=ppt/slides/_rels/slide14.xml.rels><?xml version="1.0" encoding="UTF-8" standalone="yes"?>
<Relationships xmlns="http://schemas.openxmlformats.org/package/2006/relationships"><Relationship Id="rId8" Type="http://schemas.openxmlformats.org/officeDocument/2006/relationships/image" Target="../media/image27.png"/><Relationship Id="rId3" Type="http://schemas.openxmlformats.org/officeDocument/2006/relationships/image" Target="../media/image19.png"/><Relationship Id="rId7" Type="http://schemas.openxmlformats.org/officeDocument/2006/relationships/image" Target="../media/image11.png"/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2.svg"/><Relationship Id="rId5" Type="http://schemas.openxmlformats.org/officeDocument/2006/relationships/image" Target="../media/image21.png"/><Relationship Id="rId4" Type="http://schemas.openxmlformats.org/officeDocument/2006/relationships/image" Target="../media/image20.png"/></Relationships>
</file>

<file path=ppt/slides/_rels/slide15.xml.rels><?xml version="1.0" encoding="UTF-8" standalone="yes"?>
<Relationships xmlns="http://schemas.openxmlformats.org/package/2006/relationships"><Relationship Id="rId8" Type="http://schemas.openxmlformats.org/officeDocument/2006/relationships/image" Target="../media/image28.png"/><Relationship Id="rId3" Type="http://schemas.openxmlformats.org/officeDocument/2006/relationships/image" Target="../media/image19.png"/><Relationship Id="rId7" Type="http://schemas.openxmlformats.org/officeDocument/2006/relationships/image" Target="../media/image11.png"/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2.svg"/><Relationship Id="rId5" Type="http://schemas.openxmlformats.org/officeDocument/2006/relationships/image" Target="../media/image21.png"/><Relationship Id="rId4" Type="http://schemas.openxmlformats.org/officeDocument/2006/relationships/image" Target="../media/image20.png"/></Relationships>
</file>

<file path=ppt/slides/_rels/slide16.xml.rels><?xml version="1.0" encoding="UTF-8" standalone="yes"?>
<Relationships xmlns="http://schemas.openxmlformats.org/package/2006/relationships"><Relationship Id="rId8" Type="http://schemas.openxmlformats.org/officeDocument/2006/relationships/image" Target="../media/image29.png"/><Relationship Id="rId3" Type="http://schemas.openxmlformats.org/officeDocument/2006/relationships/image" Target="../media/image19.png"/><Relationship Id="rId7" Type="http://schemas.openxmlformats.org/officeDocument/2006/relationships/image" Target="../media/image11.png"/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2.svg"/><Relationship Id="rId5" Type="http://schemas.openxmlformats.org/officeDocument/2006/relationships/image" Target="../media/image21.png"/><Relationship Id="rId4" Type="http://schemas.openxmlformats.org/officeDocument/2006/relationships/image" Target="../media/image20.png"/></Relationships>
</file>

<file path=ppt/slides/_rels/slide17.xml.rels><?xml version="1.0" encoding="UTF-8" standalone="yes"?>
<Relationships xmlns="http://schemas.openxmlformats.org/package/2006/relationships"><Relationship Id="rId8" Type="http://schemas.openxmlformats.org/officeDocument/2006/relationships/image" Target="../media/image30.png"/><Relationship Id="rId3" Type="http://schemas.openxmlformats.org/officeDocument/2006/relationships/image" Target="../media/image19.png"/><Relationship Id="rId7" Type="http://schemas.openxmlformats.org/officeDocument/2006/relationships/image" Target="../media/image11.png"/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2.svg"/><Relationship Id="rId5" Type="http://schemas.openxmlformats.org/officeDocument/2006/relationships/image" Target="../media/image21.png"/><Relationship Id="rId4" Type="http://schemas.openxmlformats.org/officeDocument/2006/relationships/image" Target="../media/image20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7" Type="http://schemas.openxmlformats.org/officeDocument/2006/relationships/image" Target="../media/image11.png"/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2.svg"/><Relationship Id="rId5" Type="http://schemas.openxmlformats.org/officeDocument/2006/relationships/image" Target="../media/image21.png"/><Relationship Id="rId4" Type="http://schemas.openxmlformats.org/officeDocument/2006/relationships/image" Target="../media/image20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7" Type="http://schemas.openxmlformats.org/officeDocument/2006/relationships/image" Target="../media/image11.png"/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2.svg"/><Relationship Id="rId5" Type="http://schemas.openxmlformats.org/officeDocument/2006/relationships/image" Target="../media/image21.png"/><Relationship Id="rId4" Type="http://schemas.openxmlformats.org/officeDocument/2006/relationships/image" Target="../media/image20.png"/></Relationships>
</file>

<file path=ppt/slides/_rels/slide20.xml.rels><?xml version="1.0" encoding="UTF-8" standalone="yes"?>
<Relationships xmlns="http://schemas.openxmlformats.org/package/2006/relationships"><Relationship Id="rId8" Type="http://schemas.openxmlformats.org/officeDocument/2006/relationships/image" Target="../media/image31.png"/><Relationship Id="rId3" Type="http://schemas.openxmlformats.org/officeDocument/2006/relationships/image" Target="../media/image19.png"/><Relationship Id="rId7" Type="http://schemas.openxmlformats.org/officeDocument/2006/relationships/image" Target="../media/image11.png"/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2.svg"/><Relationship Id="rId5" Type="http://schemas.openxmlformats.org/officeDocument/2006/relationships/image" Target="../media/image21.png"/><Relationship Id="rId4" Type="http://schemas.openxmlformats.org/officeDocument/2006/relationships/image" Target="../media/image20.png"/></Relationships>
</file>

<file path=ppt/slides/_rels/slide21.xml.rels><?xml version="1.0" encoding="UTF-8" standalone="yes"?>
<Relationships xmlns="http://schemas.openxmlformats.org/package/2006/relationships"><Relationship Id="rId8" Type="http://schemas.openxmlformats.org/officeDocument/2006/relationships/image" Target="../media/image32.png"/><Relationship Id="rId3" Type="http://schemas.openxmlformats.org/officeDocument/2006/relationships/image" Target="../media/image19.png"/><Relationship Id="rId7" Type="http://schemas.openxmlformats.org/officeDocument/2006/relationships/image" Target="../media/image11.png"/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2.svg"/><Relationship Id="rId5" Type="http://schemas.openxmlformats.org/officeDocument/2006/relationships/image" Target="../media/image21.png"/><Relationship Id="rId4" Type="http://schemas.openxmlformats.org/officeDocument/2006/relationships/image" Target="../media/image20.png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7" Type="http://schemas.openxmlformats.org/officeDocument/2006/relationships/image" Target="../media/image33.png"/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1.png"/><Relationship Id="rId5" Type="http://schemas.openxmlformats.org/officeDocument/2006/relationships/image" Target="../media/image22.svg"/><Relationship Id="rId4" Type="http://schemas.openxmlformats.org/officeDocument/2006/relationships/image" Target="../media/image21.png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1.png"/><Relationship Id="rId5" Type="http://schemas.openxmlformats.org/officeDocument/2006/relationships/image" Target="../media/image22.svg"/><Relationship Id="rId4" Type="http://schemas.openxmlformats.org/officeDocument/2006/relationships/image" Target="../media/image21.png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7" Type="http://schemas.openxmlformats.org/officeDocument/2006/relationships/image" Target="../media/image34.png"/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1.png"/><Relationship Id="rId5" Type="http://schemas.openxmlformats.org/officeDocument/2006/relationships/image" Target="../media/image22.svg"/><Relationship Id="rId4" Type="http://schemas.openxmlformats.org/officeDocument/2006/relationships/image" Target="../media/image21.png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7" Type="http://schemas.openxmlformats.org/officeDocument/2006/relationships/image" Target="../media/image11.png"/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2.svg"/><Relationship Id="rId5" Type="http://schemas.openxmlformats.org/officeDocument/2006/relationships/image" Target="../media/image21.png"/><Relationship Id="rId4" Type="http://schemas.openxmlformats.org/officeDocument/2006/relationships/image" Target="../media/image20.png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7" Type="http://schemas.openxmlformats.org/officeDocument/2006/relationships/image" Target="../media/image11.png"/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2.svg"/><Relationship Id="rId5" Type="http://schemas.openxmlformats.org/officeDocument/2006/relationships/image" Target="../media/image21.png"/><Relationship Id="rId4" Type="http://schemas.openxmlformats.org/officeDocument/2006/relationships/image" Target="../media/image20.png"/></Relationships>
</file>

<file path=ppt/slides/_rels/slide27.xml.rels><?xml version="1.0" encoding="UTF-8" standalone="yes"?>
<Relationships xmlns="http://schemas.openxmlformats.org/package/2006/relationships"><Relationship Id="rId8" Type="http://schemas.openxmlformats.org/officeDocument/2006/relationships/hyperlink" Target="https://www.iso.org/standard/77520.html" TargetMode="External"/><Relationship Id="rId3" Type="http://schemas.openxmlformats.org/officeDocument/2006/relationships/image" Target="../media/image19.png"/><Relationship Id="rId7" Type="http://schemas.openxmlformats.org/officeDocument/2006/relationships/image" Target="../media/image11.png"/><Relationship Id="rId12" Type="http://schemas.openxmlformats.org/officeDocument/2006/relationships/hyperlink" Target="https://www.rfc-editor.org/info/rfc2196?utm_source=chatgpt.com" TargetMode="External"/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2.svg"/><Relationship Id="rId11" Type="http://schemas.openxmlformats.org/officeDocument/2006/relationships/hyperlink" Target="https://www.cisco.com/c/en/us/products/collateral/wireless/embedded-wireless-controller-catalyst-access-points/white-paper-c11-743398.html" TargetMode="External"/><Relationship Id="rId5" Type="http://schemas.openxmlformats.org/officeDocument/2006/relationships/image" Target="../media/image21.png"/><Relationship Id="rId10" Type="http://schemas.openxmlformats.org/officeDocument/2006/relationships/hyperlink" Target="https://www.rfc-editor.org/info/rfc5416?utm_source=chatgpt.com" TargetMode="External"/><Relationship Id="rId4" Type="http://schemas.openxmlformats.org/officeDocument/2006/relationships/image" Target="../media/image20.png"/><Relationship Id="rId9" Type="http://schemas.openxmlformats.org/officeDocument/2006/relationships/hyperlink" Target="https://www.rfc-editor.org/info/rfc6872" TargetMode="External"/></Relationships>
</file>

<file path=ppt/slides/_rels/slide28.xml.rels><?xml version="1.0" encoding="UTF-8" standalone="yes"?>
<Relationships xmlns="http://schemas.openxmlformats.org/package/2006/relationships"><Relationship Id="rId8" Type="http://schemas.openxmlformats.org/officeDocument/2006/relationships/hyperlink" Target="https://www.cs.cornell.edu/~caruana/ctp/ct.papers/caruana.icml06.pdf" TargetMode="External"/><Relationship Id="rId3" Type="http://schemas.openxmlformats.org/officeDocument/2006/relationships/image" Target="../media/image19.png"/><Relationship Id="rId7" Type="http://schemas.openxmlformats.org/officeDocument/2006/relationships/image" Target="../media/image11.png"/><Relationship Id="rId12" Type="http://schemas.openxmlformats.org/officeDocument/2006/relationships/hyperlink" Target="https://www.researchgate.net/publication/380293092_APLICACION_DEL_APRENDIZAJE_SUPERVISADO_PARA_RECONOCER_PATRONES_DE_DATOS_DE_CIBERAMENAZAS_Y_APRENDIZAJE_NO_SUPERVISADO_PARA_ANALIZAR_Y_AGRUPAR_CONJUNTOS_DE_DATOS" TargetMode="External"/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2.svg"/><Relationship Id="rId11" Type="http://schemas.openxmlformats.org/officeDocument/2006/relationships/hyperlink" Target="https://agupubs.onlinelibrary.wiley.com/doi/10.1029/2021MS002681" TargetMode="External"/><Relationship Id="rId5" Type="http://schemas.openxmlformats.org/officeDocument/2006/relationships/image" Target="../media/image21.png"/><Relationship Id="rId10" Type="http://schemas.openxmlformats.org/officeDocument/2006/relationships/hyperlink" Target="https://www.sciencedirect.com/science/article/abs/pii/S0925231216003325" TargetMode="External"/><Relationship Id="rId4" Type="http://schemas.openxmlformats.org/officeDocument/2006/relationships/image" Target="../media/image20.png"/><Relationship Id="rId9" Type="http://schemas.openxmlformats.org/officeDocument/2006/relationships/hyperlink" Target="https://blog.minitab.com/es/blog/analisis-de-regresion-como-puedo-interpretar-el-r-cuadrado-y-evaluar-la-bondad-de-ajuste" TargetMode="Externa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6.png"/><Relationship Id="rId7" Type="http://schemas.openxmlformats.org/officeDocument/2006/relationships/image" Target="../media/image39.png"/><Relationship Id="rId2" Type="http://schemas.openxmlformats.org/officeDocument/2006/relationships/image" Target="../media/image35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9.png"/><Relationship Id="rId5" Type="http://schemas.openxmlformats.org/officeDocument/2006/relationships/image" Target="../media/image38.png"/><Relationship Id="rId4" Type="http://schemas.openxmlformats.org/officeDocument/2006/relationships/image" Target="../media/image37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D924A07-B53C-9A2F-5D3D-8EB4DD58B48E}"/>
              </a:ext>
            </a:extLst>
          </p:cNvPr>
          <p:cNvSpPr txBox="1">
            <a:spLocks/>
          </p:cNvSpPr>
          <p:nvPr/>
        </p:nvSpPr>
        <p:spPr>
          <a:xfrm>
            <a:off x="2182840" y="287267"/>
            <a:ext cx="4557805" cy="3149175"/>
          </a:xfrm>
          <a:prstGeom prst="rect">
            <a:avLst/>
          </a:prstGeom>
        </p:spPr>
        <p:txBody>
          <a:bodyPr vert="horz" lIns="68580" tIns="34290" rIns="68580" bIns="3429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s-CO" sz="4000" b="1" dirty="0">
                <a:solidFill>
                  <a:schemeClr val="bg1"/>
                </a:solidFill>
              </a:rPr>
              <a:t>PREDICCIÓN DEL TRÁFICO DE DATOS DE LAS ZONAS WIFI PÚBLICAS DE SANTIAGO DE CALI</a:t>
            </a:r>
            <a:endParaRPr lang="es-CO" sz="4000" dirty="0">
              <a:solidFill>
                <a:schemeClr val="bg1"/>
              </a:solidFill>
            </a:endParaRPr>
          </a:p>
          <a:p>
            <a:pPr algn="ctr">
              <a:lnSpc>
                <a:spcPct val="110000"/>
              </a:lnSpc>
            </a:pPr>
            <a:endParaRPr lang="es-CO" sz="3750" b="1" dirty="0">
              <a:solidFill>
                <a:schemeClr val="bg1"/>
              </a:solidFill>
              <a:latin typeface="Futura Std Book" panose="020B0502020204020303" pitchFamily="34" charset="77"/>
            </a:endParaRPr>
          </a:p>
        </p:txBody>
      </p:sp>
      <p:pic>
        <p:nvPicPr>
          <p:cNvPr id="4" name="Gráfico 3">
            <a:extLst>
              <a:ext uri="{FF2B5EF4-FFF2-40B4-BE49-F238E27FC236}">
                <a16:creationId xmlns:a16="http://schemas.microsoft.com/office/drawing/2014/main" id="{4E11D0FD-4239-1FAF-7E8D-59995F71C849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437680" y="5595957"/>
            <a:ext cx="3948950" cy="987723"/>
          </a:xfrm>
          <a:prstGeom prst="rect">
            <a:avLst/>
          </a:prstGeom>
        </p:spPr>
      </p:pic>
      <p:pic>
        <p:nvPicPr>
          <p:cNvPr id="11" name="Imagen 10">
            <a:extLst>
              <a:ext uri="{FF2B5EF4-FFF2-40B4-BE49-F238E27FC236}">
                <a16:creationId xmlns:a16="http://schemas.microsoft.com/office/drawing/2014/main" id="{632BA0E8-E3D1-7DFA-40BD-08F074BFB4F7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 rot="11094296">
            <a:off x="-30345" y="-338294"/>
            <a:ext cx="2763632" cy="2446966"/>
          </a:xfrm>
          <a:prstGeom prst="rect">
            <a:avLst/>
          </a:prstGeom>
        </p:spPr>
      </p:pic>
      <p:pic>
        <p:nvPicPr>
          <p:cNvPr id="15" name="Imagen 14">
            <a:extLst>
              <a:ext uri="{FF2B5EF4-FFF2-40B4-BE49-F238E27FC236}">
                <a16:creationId xmlns:a16="http://schemas.microsoft.com/office/drawing/2014/main" id="{C61361EA-0889-D36E-BF7C-448DB337A175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 rot="5643488">
            <a:off x="5555780" y="-278292"/>
            <a:ext cx="4844767" cy="2425217"/>
          </a:xfrm>
          <a:prstGeom prst="rect">
            <a:avLst/>
          </a:prstGeom>
        </p:spPr>
      </p:pic>
      <p:pic>
        <p:nvPicPr>
          <p:cNvPr id="13" name="Imagen 12">
            <a:extLst>
              <a:ext uri="{FF2B5EF4-FFF2-40B4-BE49-F238E27FC236}">
                <a16:creationId xmlns:a16="http://schemas.microsoft.com/office/drawing/2014/main" id="{3A350299-425F-15DD-E175-E7DBA8F917D3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750118" y="-114540"/>
            <a:ext cx="5624762" cy="7079220"/>
          </a:xfrm>
          <a:prstGeom prst="rect">
            <a:avLst/>
          </a:prstGeom>
        </p:spPr>
      </p:pic>
      <p:pic>
        <p:nvPicPr>
          <p:cNvPr id="8" name="Imagen 7">
            <a:extLst>
              <a:ext uri="{FF2B5EF4-FFF2-40B4-BE49-F238E27FC236}">
                <a16:creationId xmlns:a16="http://schemas.microsoft.com/office/drawing/2014/main" id="{258F7CCC-B319-41E8-D38C-E2434026D217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342787" y="-674772"/>
            <a:ext cx="2072578" cy="8207543"/>
          </a:xfrm>
          <a:prstGeom prst="rect">
            <a:avLst/>
          </a:prstGeom>
        </p:spPr>
      </p:pic>
      <p:sp>
        <p:nvSpPr>
          <p:cNvPr id="5" name="CuadroTexto 4">
            <a:extLst>
              <a:ext uri="{FF2B5EF4-FFF2-40B4-BE49-F238E27FC236}">
                <a16:creationId xmlns:a16="http://schemas.microsoft.com/office/drawing/2014/main" id="{BE6EEB87-DCEF-B0B1-FEB8-1ECB2596069A}"/>
              </a:ext>
            </a:extLst>
          </p:cNvPr>
          <p:cNvSpPr txBox="1"/>
          <p:nvPr/>
        </p:nvSpPr>
        <p:spPr>
          <a:xfrm>
            <a:off x="1508070" y="3115378"/>
            <a:ext cx="6159486" cy="258532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CO" b="1" dirty="0">
                <a:solidFill>
                  <a:schemeClr val="bg1"/>
                </a:solidFill>
                <a:latin typeface="Arial Black" panose="020B0A04020102020204" pitchFamily="34" charset="0"/>
              </a:rPr>
              <a:t>Diego Luis Linares Ospina</a:t>
            </a:r>
          </a:p>
          <a:p>
            <a:pPr algn="ctr"/>
            <a:r>
              <a:rPr lang="es-CO" b="1" dirty="0">
                <a:solidFill>
                  <a:schemeClr val="bg1"/>
                </a:solidFill>
                <a:latin typeface="Arial Black" panose="020B0A04020102020204" pitchFamily="34" charset="0"/>
              </a:rPr>
              <a:t>Director</a:t>
            </a:r>
          </a:p>
          <a:p>
            <a:pPr algn="ctr"/>
            <a:endParaRPr lang="es-CO" b="1" dirty="0">
              <a:solidFill>
                <a:schemeClr val="bg1"/>
              </a:solidFill>
              <a:latin typeface="Arial Black" panose="020B0A04020102020204" pitchFamily="34" charset="0"/>
            </a:endParaRPr>
          </a:p>
          <a:p>
            <a:pPr algn="ctr"/>
            <a:r>
              <a:rPr lang="es-CO" b="1" dirty="0">
                <a:solidFill>
                  <a:schemeClr val="bg1"/>
                </a:solidFill>
                <a:latin typeface="Arial Black" panose="020B0A04020102020204" pitchFamily="34" charset="0"/>
              </a:rPr>
              <a:t>Gloria Inés Álvarez Vargas</a:t>
            </a:r>
          </a:p>
          <a:p>
            <a:pPr algn="ctr"/>
            <a:r>
              <a:rPr lang="es-CO" b="1" dirty="0">
                <a:solidFill>
                  <a:schemeClr val="bg1"/>
                </a:solidFill>
                <a:latin typeface="Arial Black" panose="020B0A04020102020204" pitchFamily="34" charset="0"/>
              </a:rPr>
              <a:t>Codirectora</a:t>
            </a:r>
          </a:p>
          <a:p>
            <a:pPr algn="ctr"/>
            <a:endParaRPr lang="es-CO" b="1" dirty="0">
              <a:solidFill>
                <a:schemeClr val="bg1"/>
              </a:solidFill>
              <a:latin typeface="Arial Black" panose="020B0A04020102020204" pitchFamily="34" charset="0"/>
            </a:endParaRPr>
          </a:p>
          <a:p>
            <a:pPr algn="ctr"/>
            <a:r>
              <a:rPr lang="es-CO" b="1" dirty="0">
                <a:solidFill>
                  <a:schemeClr val="bg1"/>
                </a:solidFill>
                <a:latin typeface="Arial Black" panose="020B0A04020102020204" pitchFamily="34" charset="0"/>
              </a:rPr>
              <a:t>Estudiantes.</a:t>
            </a:r>
          </a:p>
          <a:p>
            <a:pPr algn="ctr"/>
            <a:r>
              <a:rPr lang="es-CO" b="1" dirty="0">
                <a:solidFill>
                  <a:schemeClr val="bg1"/>
                </a:solidFill>
                <a:latin typeface="Arial Black" panose="020B0A04020102020204" pitchFamily="34" charset="0"/>
              </a:rPr>
              <a:t>Paulo Andrés Martínez Méndez</a:t>
            </a:r>
          </a:p>
          <a:p>
            <a:pPr algn="ctr"/>
            <a:r>
              <a:rPr lang="es-CO" b="1" dirty="0">
                <a:solidFill>
                  <a:schemeClr val="bg1"/>
                </a:solidFill>
                <a:latin typeface="Arial Black" panose="020B0A04020102020204" pitchFamily="34" charset="0"/>
              </a:rPr>
              <a:t>Edier Guzmán Morales</a:t>
            </a:r>
          </a:p>
        </p:txBody>
      </p:sp>
    </p:spTree>
    <p:extLst>
      <p:ext uri="{BB962C8B-B14F-4D97-AF65-F5344CB8AC3E}">
        <p14:creationId xmlns:p14="http://schemas.microsoft.com/office/powerpoint/2010/main" val="191072713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 t="-1000" b="-1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Imagen 6">
            <a:extLst>
              <a:ext uri="{FF2B5EF4-FFF2-40B4-BE49-F238E27FC236}">
                <a16:creationId xmlns:a16="http://schemas.microsoft.com/office/drawing/2014/main" id="{178EAA2F-25A2-7D54-5A99-D82AC6D4034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-30480" y="-15240"/>
            <a:ext cx="1797101" cy="1721698"/>
          </a:xfrm>
          <a:prstGeom prst="rect">
            <a:avLst/>
          </a:prstGeom>
        </p:spPr>
      </p:pic>
      <p:pic>
        <p:nvPicPr>
          <p:cNvPr id="9" name="Imagen 8">
            <a:extLst>
              <a:ext uri="{FF2B5EF4-FFF2-40B4-BE49-F238E27FC236}">
                <a16:creationId xmlns:a16="http://schemas.microsoft.com/office/drawing/2014/main" id="{60C91431-831C-56E3-B3FB-378F67D3B2C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-127655" y="4962787"/>
            <a:ext cx="1894276" cy="2029225"/>
          </a:xfrm>
          <a:prstGeom prst="rect">
            <a:avLst/>
          </a:prstGeom>
        </p:spPr>
      </p:pic>
      <p:pic>
        <p:nvPicPr>
          <p:cNvPr id="11" name="Imagen 10">
            <a:extLst>
              <a:ext uri="{FF2B5EF4-FFF2-40B4-BE49-F238E27FC236}">
                <a16:creationId xmlns:a16="http://schemas.microsoft.com/office/drawing/2014/main" id="{E2D5BCB0-76B2-2938-01D0-C06DEC0D6A89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46575" y="5484710"/>
            <a:ext cx="1051200" cy="1126087"/>
          </a:xfrm>
          <a:prstGeom prst="rect">
            <a:avLst/>
          </a:prstGeom>
        </p:spPr>
      </p:pic>
      <p:sp>
        <p:nvSpPr>
          <p:cNvPr id="4" name="Título 1">
            <a:extLst>
              <a:ext uri="{FF2B5EF4-FFF2-40B4-BE49-F238E27FC236}">
                <a16:creationId xmlns:a16="http://schemas.microsoft.com/office/drawing/2014/main" id="{773B0164-1916-89AF-B435-AC39C43FF4A2}"/>
              </a:ext>
            </a:extLst>
          </p:cNvPr>
          <p:cNvSpPr txBox="1">
            <a:spLocks/>
          </p:cNvSpPr>
          <p:nvPr/>
        </p:nvSpPr>
        <p:spPr>
          <a:xfrm>
            <a:off x="2778493" y="-15240"/>
            <a:ext cx="6392357" cy="768643"/>
          </a:xfrm>
          <a:prstGeom prst="rect">
            <a:avLst/>
          </a:prstGeom>
        </p:spPr>
        <p:txBody>
          <a:bodyPr vert="horz" lIns="68580" tIns="34290" rIns="68580" bIns="34290" rtlCol="0" anchor="ctr">
            <a:normAutofit fontScale="47500" lnSpcReduction="200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>
              <a:lnSpc>
                <a:spcPct val="110000"/>
              </a:lnSpc>
            </a:pPr>
            <a:endParaRPr lang="es-CO" sz="3750" b="1" dirty="0">
              <a:solidFill>
                <a:srgbClr val="7030A0"/>
              </a:solidFill>
              <a:latin typeface="+mn-lt"/>
            </a:endParaRPr>
          </a:p>
          <a:p>
            <a:pPr algn="ctr">
              <a:lnSpc>
                <a:spcPct val="110000"/>
              </a:lnSpc>
            </a:pPr>
            <a:r>
              <a:rPr lang="es-CO" sz="6825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Contenido de la presentación.</a:t>
            </a:r>
          </a:p>
          <a:p>
            <a:pPr>
              <a:lnSpc>
                <a:spcPct val="110000"/>
              </a:lnSpc>
            </a:pPr>
            <a:endParaRPr lang="es-CO" sz="3750" b="1" dirty="0">
              <a:solidFill>
                <a:schemeClr val="bg1"/>
              </a:solidFill>
              <a:latin typeface="Futura Std Book" panose="020B0502020204020303" pitchFamily="34" charset="77"/>
            </a:endParaRPr>
          </a:p>
        </p:txBody>
      </p:sp>
      <p:pic>
        <p:nvPicPr>
          <p:cNvPr id="8" name="Imagen 7" descr="Diagrama, Escala de tiempo&#10;&#10;El contenido generado por IA puede ser incorrecto.">
            <a:extLst>
              <a:ext uri="{FF2B5EF4-FFF2-40B4-BE49-F238E27FC236}">
                <a16:creationId xmlns:a16="http://schemas.microsoft.com/office/drawing/2014/main" id="{3410BCF7-F4B8-A472-CB38-D694F9A94DC1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240851" y="542980"/>
            <a:ext cx="8105643" cy="63150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9062375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" name="Imagen 17" descr="Un grupo de personas caminando en la banqueta de una calle&#10;&#10;El contenido generado por IA puede ser incorrecto.">
            <a:extLst>
              <a:ext uri="{FF2B5EF4-FFF2-40B4-BE49-F238E27FC236}">
                <a16:creationId xmlns:a16="http://schemas.microsoft.com/office/drawing/2014/main" id="{0AA340ED-C4F1-17D1-6068-BD6F1BB849C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95999" y="-3865"/>
            <a:ext cx="6094331" cy="6858000"/>
          </a:xfrm>
          <a:prstGeom prst="rect">
            <a:avLst/>
          </a:prstGeom>
        </p:spPr>
      </p:pic>
      <p:sp>
        <p:nvSpPr>
          <p:cNvPr id="7" name="CuadroTexto 6">
            <a:extLst>
              <a:ext uri="{FF2B5EF4-FFF2-40B4-BE49-F238E27FC236}">
                <a16:creationId xmlns:a16="http://schemas.microsoft.com/office/drawing/2014/main" id="{2EBB1E65-5F3E-54E5-A0A8-EC439E7F56A5}"/>
              </a:ext>
            </a:extLst>
          </p:cNvPr>
          <p:cNvSpPr txBox="1"/>
          <p:nvPr/>
        </p:nvSpPr>
        <p:spPr>
          <a:xfrm>
            <a:off x="498224" y="1763157"/>
            <a:ext cx="5597776" cy="34778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endParaRPr lang="es-MX" sz="2200" dirty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s-MX" sz="2200" b="1" dirty="0">
                <a:solidFill>
                  <a:schemeClr val="bg1"/>
                </a:solidFill>
              </a:rPr>
              <a:t>Percepción de lentitud por parte de los usuarios Wifi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s-MX" sz="2200" b="1" dirty="0">
                <a:solidFill>
                  <a:schemeClr val="bg1"/>
                </a:solidFill>
              </a:rPr>
              <a:t>Sobrecarga en los puntos de acceso.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s-MX" sz="2200" b="1" dirty="0">
                <a:solidFill>
                  <a:schemeClr val="bg1"/>
                </a:solidFill>
              </a:rPr>
              <a:t>Asignación de anchos de banda a las zonas wifi sin análisis previo de consumo de KB por numero de conexiones.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s-MX" sz="2200" b="1" dirty="0">
                <a:solidFill>
                  <a:schemeClr val="bg1"/>
                </a:solidFill>
              </a:rPr>
              <a:t>Falta de criterio para el traslado , reubicación de </a:t>
            </a:r>
            <a:r>
              <a:rPr lang="es-MX" sz="2200" b="1" dirty="0" err="1">
                <a:solidFill>
                  <a:schemeClr val="bg1"/>
                </a:solidFill>
              </a:rPr>
              <a:t>Aps</a:t>
            </a:r>
            <a:r>
              <a:rPr lang="es-MX" sz="2200" b="1" dirty="0">
                <a:solidFill>
                  <a:schemeClr val="bg1"/>
                </a:solidFill>
              </a:rPr>
              <a:t> a zonas con mas demanda.</a:t>
            </a:r>
          </a:p>
        </p:txBody>
      </p:sp>
      <p:pic>
        <p:nvPicPr>
          <p:cNvPr id="11" name="Imagen 10">
            <a:extLst>
              <a:ext uri="{FF2B5EF4-FFF2-40B4-BE49-F238E27FC236}">
                <a16:creationId xmlns:a16="http://schemas.microsoft.com/office/drawing/2014/main" id="{1E3CDA27-F2DC-A1DE-B903-B03B0DDA788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 rot="4735596">
            <a:off x="9182304" y="2783136"/>
            <a:ext cx="5338984" cy="2160000"/>
          </a:xfrm>
          <a:prstGeom prst="rect">
            <a:avLst/>
          </a:prstGeom>
        </p:spPr>
      </p:pic>
      <p:pic>
        <p:nvPicPr>
          <p:cNvPr id="5" name="Imagen 4">
            <a:extLst>
              <a:ext uri="{FF2B5EF4-FFF2-40B4-BE49-F238E27FC236}">
                <a16:creationId xmlns:a16="http://schemas.microsoft.com/office/drawing/2014/main" id="{47BD0F27-4170-3160-8EE1-7FE95E8AE499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-196152" y="4795585"/>
            <a:ext cx="2160000" cy="2262316"/>
          </a:xfrm>
          <a:prstGeom prst="rect">
            <a:avLst/>
          </a:prstGeom>
        </p:spPr>
      </p:pic>
      <p:pic>
        <p:nvPicPr>
          <p:cNvPr id="12" name="Imagen 11">
            <a:extLst>
              <a:ext uri="{FF2B5EF4-FFF2-40B4-BE49-F238E27FC236}">
                <a16:creationId xmlns:a16="http://schemas.microsoft.com/office/drawing/2014/main" id="{EF016BAB-3911-460E-767B-0781CA1AFC50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98223" y="5414551"/>
            <a:ext cx="1008000" cy="1089091"/>
          </a:xfrm>
          <a:prstGeom prst="rect">
            <a:avLst/>
          </a:prstGeom>
        </p:spPr>
      </p:pic>
      <p:sp>
        <p:nvSpPr>
          <p:cNvPr id="2" name="Título 1">
            <a:extLst>
              <a:ext uri="{FF2B5EF4-FFF2-40B4-BE49-F238E27FC236}">
                <a16:creationId xmlns:a16="http://schemas.microsoft.com/office/drawing/2014/main" id="{1D591015-FE96-CB11-2630-8BFF68FD2335}"/>
              </a:ext>
            </a:extLst>
          </p:cNvPr>
          <p:cNvSpPr txBox="1">
            <a:spLocks/>
          </p:cNvSpPr>
          <p:nvPr/>
        </p:nvSpPr>
        <p:spPr>
          <a:xfrm>
            <a:off x="363098" y="212220"/>
            <a:ext cx="6392357" cy="768643"/>
          </a:xfrm>
          <a:prstGeom prst="rect">
            <a:avLst/>
          </a:prstGeom>
        </p:spPr>
        <p:txBody>
          <a:bodyPr vert="horz" lIns="68580" tIns="34290" rIns="68580" bIns="34290" rtlCol="0" anchor="ctr">
            <a:normAutofit fontScale="47500" lnSpcReduction="200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>
              <a:lnSpc>
                <a:spcPct val="110000"/>
              </a:lnSpc>
            </a:pPr>
            <a:endParaRPr lang="es-CO" sz="3750" b="1" dirty="0">
              <a:solidFill>
                <a:srgbClr val="7030A0"/>
              </a:solidFill>
              <a:latin typeface="+mn-lt"/>
            </a:endParaRPr>
          </a:p>
          <a:p>
            <a:pPr algn="ctr">
              <a:lnSpc>
                <a:spcPct val="110000"/>
              </a:lnSpc>
            </a:pPr>
            <a:r>
              <a:rPr lang="es-CO" sz="6825" b="1" dirty="0">
                <a:solidFill>
                  <a:schemeClr val="bg1"/>
                </a:solidFill>
                <a:latin typeface="+mn-lt"/>
              </a:rPr>
              <a:t>Planteamiento del Problema.</a:t>
            </a:r>
          </a:p>
          <a:p>
            <a:pPr>
              <a:lnSpc>
                <a:spcPct val="110000"/>
              </a:lnSpc>
            </a:pPr>
            <a:endParaRPr lang="es-CO" sz="3750" b="1" dirty="0">
              <a:solidFill>
                <a:schemeClr val="bg1"/>
              </a:solidFill>
              <a:latin typeface="Futura Std Book" panose="020B0502020204020303" pitchFamily="34" charset="77"/>
            </a:endParaRPr>
          </a:p>
        </p:txBody>
      </p:sp>
      <p:sp>
        <p:nvSpPr>
          <p:cNvPr id="19" name="Marcador de pie de página 18">
            <a:extLst>
              <a:ext uri="{FF2B5EF4-FFF2-40B4-BE49-F238E27FC236}">
                <a16:creationId xmlns:a16="http://schemas.microsoft.com/office/drawing/2014/main" id="{FF939D56-9A4E-42A6-11A1-678570EA349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s-MX"/>
              <a:t>(Imagen generada con IA-Gemini y Editada con AdobePhotoshop)</a:t>
            </a:r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124556135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D776F642-BE41-1119-FE20-B1594E86151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ítulo 1">
            <a:extLst>
              <a:ext uri="{FF2B5EF4-FFF2-40B4-BE49-F238E27FC236}">
                <a16:creationId xmlns:a16="http://schemas.microsoft.com/office/drawing/2014/main" id="{DB27F4D3-8AFC-4470-55BA-19C79A59CC64}"/>
              </a:ext>
            </a:extLst>
          </p:cNvPr>
          <p:cNvSpPr txBox="1">
            <a:spLocks/>
          </p:cNvSpPr>
          <p:nvPr/>
        </p:nvSpPr>
        <p:spPr>
          <a:xfrm>
            <a:off x="968413" y="112651"/>
            <a:ext cx="9077461" cy="768643"/>
          </a:xfrm>
          <a:prstGeom prst="rect">
            <a:avLst/>
          </a:prstGeom>
        </p:spPr>
        <p:txBody>
          <a:bodyPr vert="horz" lIns="68580" tIns="34290" rIns="68580" bIns="34290" rtlCol="0" anchor="ctr">
            <a:normAutofit fontScale="25000" lnSpcReduction="200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>
              <a:lnSpc>
                <a:spcPct val="110000"/>
              </a:lnSpc>
            </a:pPr>
            <a:endParaRPr lang="es-CO" sz="3750" b="1" dirty="0">
              <a:solidFill>
                <a:schemeClr val="tx2">
                  <a:lumMod val="50000"/>
                </a:schemeClr>
              </a:solidFill>
              <a:latin typeface="+mn-lt"/>
            </a:endParaRPr>
          </a:p>
          <a:p>
            <a:pPr algn="ctr">
              <a:lnSpc>
                <a:spcPct val="110000"/>
              </a:lnSpc>
            </a:pPr>
            <a:r>
              <a:rPr lang="es-CO" sz="18500" b="1" dirty="0">
                <a:solidFill>
                  <a:schemeClr val="tx2">
                    <a:lumMod val="50000"/>
                  </a:schemeClr>
                </a:solidFill>
                <a:latin typeface="+mn-lt"/>
              </a:rPr>
              <a:t>Penetración del Internet por País.  </a:t>
            </a:r>
          </a:p>
          <a:p>
            <a:pPr>
              <a:lnSpc>
                <a:spcPct val="110000"/>
              </a:lnSpc>
            </a:pPr>
            <a:endParaRPr lang="es-CO" sz="3750" b="1" dirty="0">
              <a:solidFill>
                <a:schemeClr val="tx2">
                  <a:lumMod val="50000"/>
                </a:schemeClr>
              </a:solidFill>
              <a:latin typeface="Futura Std Book" panose="020B0502020204020303" pitchFamily="34" charset="77"/>
            </a:endParaRPr>
          </a:p>
        </p:txBody>
      </p:sp>
      <p:sp>
        <p:nvSpPr>
          <p:cNvPr id="8" name="CuadroTexto 7">
            <a:extLst>
              <a:ext uri="{FF2B5EF4-FFF2-40B4-BE49-F238E27FC236}">
                <a16:creationId xmlns:a16="http://schemas.microsoft.com/office/drawing/2014/main" id="{F37ABD6E-7F5C-07AF-657A-C517FB410193}"/>
              </a:ext>
            </a:extLst>
          </p:cNvPr>
          <p:cNvSpPr txBox="1"/>
          <p:nvPr/>
        </p:nvSpPr>
        <p:spPr>
          <a:xfrm>
            <a:off x="252787" y="4526631"/>
            <a:ext cx="9273209" cy="19389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MX" sz="2000" b="1" dirty="0">
                <a:solidFill>
                  <a:schemeClr val="tx2">
                    <a:lumMod val="50000"/>
                  </a:schemeClr>
                </a:solidFill>
              </a:rPr>
              <a:t>Mapa sobre la brecha digital global:</a:t>
            </a:r>
            <a:r>
              <a:rPr lang="es-MX" sz="2000" dirty="0">
                <a:solidFill>
                  <a:schemeClr val="tx2">
                    <a:lumMod val="50000"/>
                  </a:schemeClr>
                </a:solidFill>
              </a:rPr>
              <a:t> </a:t>
            </a:r>
          </a:p>
          <a:p>
            <a:r>
              <a:rPr lang="es-MX" sz="2000" dirty="0">
                <a:solidFill>
                  <a:schemeClr val="tx2">
                    <a:lumMod val="50000"/>
                  </a:schemeClr>
                </a:solidFill>
              </a:rPr>
              <a:t>Los países con mayor acceso a Internet se agrupan en azul (Europa y Norteamérica). </a:t>
            </a:r>
          </a:p>
          <a:p>
            <a:r>
              <a:rPr lang="es-MX" sz="2000" dirty="0">
                <a:solidFill>
                  <a:schemeClr val="tx2">
                    <a:lumMod val="50000"/>
                  </a:schemeClr>
                </a:solidFill>
              </a:rPr>
              <a:t>Colombia se ubica en un rango intermedio, reflejando que aún existe una gran brecha digital y poca cobertura territorial.</a:t>
            </a:r>
          </a:p>
          <a:p>
            <a:r>
              <a:rPr lang="es-MX" sz="2000" dirty="0">
                <a:solidFill>
                  <a:schemeClr val="tx2">
                    <a:lumMod val="50000"/>
                  </a:schemeClr>
                </a:solidFill>
              </a:rPr>
              <a:t>Nuestro proyecto aporta al cierre de esa brecha al proveer más herramientas a los profesionales de TI.</a:t>
            </a:r>
            <a:endParaRPr lang="es-CO" sz="2000" dirty="0">
              <a:solidFill>
                <a:schemeClr val="tx2">
                  <a:lumMod val="50000"/>
                </a:schemeClr>
              </a:solidFill>
            </a:endParaRPr>
          </a:p>
        </p:txBody>
      </p:sp>
      <p:pic>
        <p:nvPicPr>
          <p:cNvPr id="13" name="Imagen 12">
            <a:extLst>
              <a:ext uri="{FF2B5EF4-FFF2-40B4-BE49-F238E27FC236}">
                <a16:creationId xmlns:a16="http://schemas.microsoft.com/office/drawing/2014/main" id="{8562CA4C-84A3-ECA0-56BE-2716F47C2FE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rot="10800000" flipH="1">
            <a:off x="8497815" y="1912273"/>
            <a:ext cx="2908797" cy="6146129"/>
          </a:xfrm>
          <a:prstGeom prst="rect">
            <a:avLst/>
          </a:prstGeom>
        </p:spPr>
      </p:pic>
      <p:pic>
        <p:nvPicPr>
          <p:cNvPr id="5" name="Imagen 4">
            <a:extLst>
              <a:ext uri="{FF2B5EF4-FFF2-40B4-BE49-F238E27FC236}">
                <a16:creationId xmlns:a16="http://schemas.microsoft.com/office/drawing/2014/main" id="{DC6630D4-D61C-381E-F515-0E51CA24188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810370" y="-91440"/>
            <a:ext cx="3564510" cy="7024947"/>
          </a:xfrm>
          <a:prstGeom prst="rect">
            <a:avLst/>
          </a:prstGeom>
        </p:spPr>
      </p:pic>
      <p:pic>
        <p:nvPicPr>
          <p:cNvPr id="10" name="Gráfico 9">
            <a:extLst>
              <a:ext uri="{FF2B5EF4-FFF2-40B4-BE49-F238E27FC236}">
                <a16:creationId xmlns:a16="http://schemas.microsoft.com/office/drawing/2014/main" id="{A86ECAD8-DC21-3255-DE41-B4E3063530D4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 rot="16200000">
            <a:off x="10012430" y="-206067"/>
            <a:ext cx="2214082" cy="2334513"/>
          </a:xfrm>
          <a:prstGeom prst="rect">
            <a:avLst/>
          </a:prstGeom>
        </p:spPr>
      </p:pic>
      <p:pic>
        <p:nvPicPr>
          <p:cNvPr id="12" name="Imagen 11">
            <a:extLst>
              <a:ext uri="{FF2B5EF4-FFF2-40B4-BE49-F238E27FC236}">
                <a16:creationId xmlns:a16="http://schemas.microsoft.com/office/drawing/2014/main" id="{69C34A78-108B-C25D-D886-D5FEF4CBA33E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0682615" y="219393"/>
            <a:ext cx="1160941" cy="1243647"/>
          </a:xfrm>
          <a:prstGeom prst="rect">
            <a:avLst/>
          </a:prstGeom>
        </p:spPr>
      </p:pic>
      <p:pic>
        <p:nvPicPr>
          <p:cNvPr id="3" name="Imagen 2" descr="Mapa&#10;&#10;El contenido generado por IA puede ser incorrecto.">
            <a:extLst>
              <a:ext uri="{FF2B5EF4-FFF2-40B4-BE49-F238E27FC236}">
                <a16:creationId xmlns:a16="http://schemas.microsoft.com/office/drawing/2014/main" id="{A119572A-AD9B-5E45-06C4-CC20C466F837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666030" y="961189"/>
            <a:ext cx="6779139" cy="348137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6388326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AB0A2D12-6C26-21E3-4222-2B88F3AB8C1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ítulo 1">
            <a:extLst>
              <a:ext uri="{FF2B5EF4-FFF2-40B4-BE49-F238E27FC236}">
                <a16:creationId xmlns:a16="http://schemas.microsoft.com/office/drawing/2014/main" id="{42FD4C66-75AB-C247-EB85-0713D914E7D7}"/>
              </a:ext>
            </a:extLst>
          </p:cNvPr>
          <p:cNvSpPr txBox="1">
            <a:spLocks/>
          </p:cNvSpPr>
          <p:nvPr/>
        </p:nvSpPr>
        <p:spPr>
          <a:xfrm>
            <a:off x="628170" y="521266"/>
            <a:ext cx="8489721" cy="768643"/>
          </a:xfrm>
          <a:prstGeom prst="rect">
            <a:avLst/>
          </a:prstGeom>
        </p:spPr>
        <p:txBody>
          <a:bodyPr vert="horz" lIns="68580" tIns="34290" rIns="68580" bIns="34290" rtlCol="0" anchor="ctr">
            <a:normAutofit fontScale="25000" lnSpcReduction="200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>
              <a:lnSpc>
                <a:spcPct val="110000"/>
              </a:lnSpc>
            </a:pPr>
            <a:endParaRPr lang="es-CO" sz="3750" b="1" dirty="0">
              <a:solidFill>
                <a:schemeClr val="tx2">
                  <a:lumMod val="50000"/>
                </a:schemeClr>
              </a:solidFill>
              <a:latin typeface="+mn-lt"/>
            </a:endParaRPr>
          </a:p>
          <a:p>
            <a:pPr algn="ctr">
              <a:lnSpc>
                <a:spcPct val="110000"/>
              </a:lnSpc>
            </a:pPr>
            <a:r>
              <a:rPr lang="es-CO" sz="18500" b="1" dirty="0">
                <a:solidFill>
                  <a:schemeClr val="tx2">
                    <a:lumMod val="50000"/>
                  </a:schemeClr>
                </a:solidFill>
                <a:latin typeface="+mn-lt"/>
              </a:rPr>
              <a:t>Objetivo General.</a:t>
            </a:r>
          </a:p>
          <a:p>
            <a:pPr>
              <a:lnSpc>
                <a:spcPct val="110000"/>
              </a:lnSpc>
            </a:pPr>
            <a:endParaRPr lang="es-CO" sz="3750" b="1" dirty="0">
              <a:solidFill>
                <a:schemeClr val="tx2">
                  <a:lumMod val="50000"/>
                </a:schemeClr>
              </a:solidFill>
              <a:latin typeface="Futura Std Book" panose="020B0502020204020303" pitchFamily="34" charset="77"/>
            </a:endParaRPr>
          </a:p>
        </p:txBody>
      </p:sp>
      <p:pic>
        <p:nvPicPr>
          <p:cNvPr id="13" name="Imagen 12">
            <a:extLst>
              <a:ext uri="{FF2B5EF4-FFF2-40B4-BE49-F238E27FC236}">
                <a16:creationId xmlns:a16="http://schemas.microsoft.com/office/drawing/2014/main" id="{57E05DF4-5F47-0A0F-A002-D00BEFD82A9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rot="10800000" flipH="1">
            <a:off x="8497815" y="1912273"/>
            <a:ext cx="2908797" cy="6146129"/>
          </a:xfrm>
          <a:prstGeom prst="rect">
            <a:avLst/>
          </a:prstGeom>
        </p:spPr>
      </p:pic>
      <p:pic>
        <p:nvPicPr>
          <p:cNvPr id="5" name="Imagen 4">
            <a:extLst>
              <a:ext uri="{FF2B5EF4-FFF2-40B4-BE49-F238E27FC236}">
                <a16:creationId xmlns:a16="http://schemas.microsoft.com/office/drawing/2014/main" id="{31BD3DD8-0DAE-2C63-748B-631FECD19C4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810370" y="-91440"/>
            <a:ext cx="3564510" cy="7024947"/>
          </a:xfrm>
          <a:prstGeom prst="rect">
            <a:avLst/>
          </a:prstGeom>
        </p:spPr>
      </p:pic>
      <p:pic>
        <p:nvPicPr>
          <p:cNvPr id="10" name="Gráfico 9">
            <a:extLst>
              <a:ext uri="{FF2B5EF4-FFF2-40B4-BE49-F238E27FC236}">
                <a16:creationId xmlns:a16="http://schemas.microsoft.com/office/drawing/2014/main" id="{281087B2-3296-DD2A-4B74-50662E93CBD5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 rot="16200000">
            <a:off x="10012430" y="-206067"/>
            <a:ext cx="2214082" cy="2334513"/>
          </a:xfrm>
          <a:prstGeom prst="rect">
            <a:avLst/>
          </a:prstGeom>
        </p:spPr>
      </p:pic>
      <p:pic>
        <p:nvPicPr>
          <p:cNvPr id="12" name="Imagen 11">
            <a:extLst>
              <a:ext uri="{FF2B5EF4-FFF2-40B4-BE49-F238E27FC236}">
                <a16:creationId xmlns:a16="http://schemas.microsoft.com/office/drawing/2014/main" id="{A12369CF-E705-D18E-1B2F-444440A3ABC4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0682615" y="219393"/>
            <a:ext cx="1160941" cy="1243647"/>
          </a:xfrm>
          <a:prstGeom prst="rect">
            <a:avLst/>
          </a:prstGeom>
        </p:spPr>
      </p:pic>
      <p:pic>
        <p:nvPicPr>
          <p:cNvPr id="8" name="Imagen 7" descr="Imagen que contiene Interfaz de usuario gráfica&#10;&#10;El contenido generado por IA puede ser incorrecto.">
            <a:extLst>
              <a:ext uri="{FF2B5EF4-FFF2-40B4-BE49-F238E27FC236}">
                <a16:creationId xmlns:a16="http://schemas.microsoft.com/office/drawing/2014/main" id="{18CC36D7-F78C-E552-44F3-D9241D3A3809}"/>
              </a:ext>
            </a:extLst>
          </p:cNvPr>
          <p:cNvPicPr>
            <a:picLocks noChangeAspect="1"/>
          </p:cNvPicPr>
          <p:nvPr/>
        </p:nvPicPr>
        <p:blipFill>
          <a:blip r:embed="rId8"/>
          <a:srcRect b="71072"/>
          <a:stretch>
            <a:fillRect/>
          </a:stretch>
        </p:blipFill>
        <p:spPr>
          <a:xfrm>
            <a:off x="628170" y="2443555"/>
            <a:ext cx="8337788" cy="336826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3124706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852240F2-1F8D-A72E-AB6C-D41D23FEE2A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ítulo 1">
            <a:extLst>
              <a:ext uri="{FF2B5EF4-FFF2-40B4-BE49-F238E27FC236}">
                <a16:creationId xmlns:a16="http://schemas.microsoft.com/office/drawing/2014/main" id="{2BEE2D5D-3451-00E2-2F5E-D187390A4B7B}"/>
              </a:ext>
            </a:extLst>
          </p:cNvPr>
          <p:cNvSpPr txBox="1">
            <a:spLocks/>
          </p:cNvSpPr>
          <p:nvPr/>
        </p:nvSpPr>
        <p:spPr>
          <a:xfrm>
            <a:off x="628170" y="521266"/>
            <a:ext cx="8489721" cy="768643"/>
          </a:xfrm>
          <a:prstGeom prst="rect">
            <a:avLst/>
          </a:prstGeom>
        </p:spPr>
        <p:txBody>
          <a:bodyPr vert="horz" lIns="68580" tIns="34290" rIns="68580" bIns="34290" rtlCol="0" anchor="ctr">
            <a:normAutofit fontScale="25000" lnSpcReduction="200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>
              <a:lnSpc>
                <a:spcPct val="110000"/>
              </a:lnSpc>
            </a:pPr>
            <a:endParaRPr lang="es-CO" sz="3750" b="1" dirty="0">
              <a:solidFill>
                <a:schemeClr val="tx2">
                  <a:lumMod val="50000"/>
                </a:schemeClr>
              </a:solidFill>
              <a:latin typeface="+mn-lt"/>
            </a:endParaRPr>
          </a:p>
          <a:p>
            <a:pPr algn="ctr">
              <a:lnSpc>
                <a:spcPct val="110000"/>
              </a:lnSpc>
            </a:pPr>
            <a:r>
              <a:rPr lang="es-CO" sz="18500" b="1" dirty="0">
                <a:solidFill>
                  <a:schemeClr val="tx2">
                    <a:lumMod val="50000"/>
                  </a:schemeClr>
                </a:solidFill>
                <a:latin typeface="+mn-lt"/>
              </a:rPr>
              <a:t>Objetivos Específicos.</a:t>
            </a:r>
          </a:p>
          <a:p>
            <a:pPr>
              <a:lnSpc>
                <a:spcPct val="110000"/>
              </a:lnSpc>
            </a:pPr>
            <a:endParaRPr lang="es-CO" sz="3750" b="1" dirty="0">
              <a:solidFill>
                <a:schemeClr val="tx2">
                  <a:lumMod val="50000"/>
                </a:schemeClr>
              </a:solidFill>
              <a:latin typeface="Futura Std Book" panose="020B0502020204020303" pitchFamily="34" charset="77"/>
            </a:endParaRPr>
          </a:p>
        </p:txBody>
      </p:sp>
      <p:pic>
        <p:nvPicPr>
          <p:cNvPr id="13" name="Imagen 12">
            <a:extLst>
              <a:ext uri="{FF2B5EF4-FFF2-40B4-BE49-F238E27FC236}">
                <a16:creationId xmlns:a16="http://schemas.microsoft.com/office/drawing/2014/main" id="{35261FBB-6BEA-BD0D-24BD-52D596CBA56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rot="10800000" flipH="1">
            <a:off x="8497815" y="1912273"/>
            <a:ext cx="2908797" cy="6146129"/>
          </a:xfrm>
          <a:prstGeom prst="rect">
            <a:avLst/>
          </a:prstGeom>
        </p:spPr>
      </p:pic>
      <p:pic>
        <p:nvPicPr>
          <p:cNvPr id="5" name="Imagen 4">
            <a:extLst>
              <a:ext uri="{FF2B5EF4-FFF2-40B4-BE49-F238E27FC236}">
                <a16:creationId xmlns:a16="http://schemas.microsoft.com/office/drawing/2014/main" id="{73B64037-1D99-FD61-A688-170D69ADB6A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810370" y="-91440"/>
            <a:ext cx="3564510" cy="7024947"/>
          </a:xfrm>
          <a:prstGeom prst="rect">
            <a:avLst/>
          </a:prstGeom>
        </p:spPr>
      </p:pic>
      <p:pic>
        <p:nvPicPr>
          <p:cNvPr id="10" name="Gráfico 9">
            <a:extLst>
              <a:ext uri="{FF2B5EF4-FFF2-40B4-BE49-F238E27FC236}">
                <a16:creationId xmlns:a16="http://schemas.microsoft.com/office/drawing/2014/main" id="{BF040288-EF9B-F4AB-5A0A-1517C6480D83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 rot="16200000">
            <a:off x="10012430" y="-206067"/>
            <a:ext cx="2214082" cy="2334513"/>
          </a:xfrm>
          <a:prstGeom prst="rect">
            <a:avLst/>
          </a:prstGeom>
        </p:spPr>
      </p:pic>
      <p:pic>
        <p:nvPicPr>
          <p:cNvPr id="12" name="Imagen 11">
            <a:extLst>
              <a:ext uri="{FF2B5EF4-FFF2-40B4-BE49-F238E27FC236}">
                <a16:creationId xmlns:a16="http://schemas.microsoft.com/office/drawing/2014/main" id="{0842F5A9-21F7-36EC-19B3-10F95D418D4D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0682615" y="219393"/>
            <a:ext cx="1160941" cy="1243647"/>
          </a:xfrm>
          <a:prstGeom prst="rect">
            <a:avLst/>
          </a:prstGeom>
        </p:spPr>
      </p:pic>
      <p:pic>
        <p:nvPicPr>
          <p:cNvPr id="6" name="Imagen 5" descr="Imagen que contiene Interfaz de usuario gráfica&#10;&#10;El contenido generado por IA puede ser incorrecto.">
            <a:extLst>
              <a:ext uri="{FF2B5EF4-FFF2-40B4-BE49-F238E27FC236}">
                <a16:creationId xmlns:a16="http://schemas.microsoft.com/office/drawing/2014/main" id="{66C1A727-01A5-0C6B-4C77-195FA09BF02D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704515" y="1289909"/>
            <a:ext cx="5958976" cy="552434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955163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26174D6A-F18C-77E2-1F38-17E86F1B07F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ítulo 1">
            <a:extLst>
              <a:ext uri="{FF2B5EF4-FFF2-40B4-BE49-F238E27FC236}">
                <a16:creationId xmlns:a16="http://schemas.microsoft.com/office/drawing/2014/main" id="{5A4025EE-F46A-7758-4B92-7ACEBADC75A2}"/>
              </a:ext>
            </a:extLst>
          </p:cNvPr>
          <p:cNvSpPr txBox="1">
            <a:spLocks/>
          </p:cNvSpPr>
          <p:nvPr/>
        </p:nvSpPr>
        <p:spPr>
          <a:xfrm>
            <a:off x="1838063" y="456894"/>
            <a:ext cx="6392357" cy="768643"/>
          </a:xfrm>
          <a:prstGeom prst="rect">
            <a:avLst/>
          </a:prstGeom>
        </p:spPr>
        <p:txBody>
          <a:bodyPr vert="horz" lIns="68580" tIns="34290" rIns="68580" bIns="34290" rtlCol="0" anchor="ctr">
            <a:normAutofit fontScale="25000" lnSpcReduction="200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>
              <a:lnSpc>
                <a:spcPct val="110000"/>
              </a:lnSpc>
            </a:pPr>
            <a:endParaRPr lang="es-CO" sz="3750" b="1" dirty="0">
              <a:solidFill>
                <a:schemeClr val="tx2">
                  <a:lumMod val="50000"/>
                </a:schemeClr>
              </a:solidFill>
              <a:latin typeface="+mn-lt"/>
            </a:endParaRPr>
          </a:p>
          <a:p>
            <a:pPr algn="ctr">
              <a:lnSpc>
                <a:spcPct val="110000"/>
              </a:lnSpc>
            </a:pPr>
            <a:r>
              <a:rPr lang="es-CO" sz="18500" b="1" dirty="0">
                <a:solidFill>
                  <a:schemeClr val="tx2">
                    <a:lumMod val="50000"/>
                  </a:schemeClr>
                </a:solidFill>
                <a:latin typeface="+mn-lt"/>
              </a:rPr>
              <a:t>Marco Teórico.</a:t>
            </a:r>
          </a:p>
          <a:p>
            <a:pPr>
              <a:lnSpc>
                <a:spcPct val="110000"/>
              </a:lnSpc>
            </a:pPr>
            <a:endParaRPr lang="es-CO" sz="3750" b="1" dirty="0">
              <a:solidFill>
                <a:schemeClr val="tx2">
                  <a:lumMod val="50000"/>
                </a:schemeClr>
              </a:solidFill>
              <a:latin typeface="Futura Std Book" panose="020B0502020204020303" pitchFamily="34" charset="77"/>
            </a:endParaRPr>
          </a:p>
        </p:txBody>
      </p:sp>
      <p:pic>
        <p:nvPicPr>
          <p:cNvPr id="13" name="Imagen 12">
            <a:extLst>
              <a:ext uri="{FF2B5EF4-FFF2-40B4-BE49-F238E27FC236}">
                <a16:creationId xmlns:a16="http://schemas.microsoft.com/office/drawing/2014/main" id="{EFE2F7E2-3B24-CE55-6CCD-9414E21BDD5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rot="10800000" flipH="1">
            <a:off x="8497815" y="1912273"/>
            <a:ext cx="2908797" cy="6146129"/>
          </a:xfrm>
          <a:prstGeom prst="rect">
            <a:avLst/>
          </a:prstGeom>
        </p:spPr>
      </p:pic>
      <p:pic>
        <p:nvPicPr>
          <p:cNvPr id="10" name="Gráfico 9">
            <a:extLst>
              <a:ext uri="{FF2B5EF4-FFF2-40B4-BE49-F238E27FC236}">
                <a16:creationId xmlns:a16="http://schemas.microsoft.com/office/drawing/2014/main" id="{3ED87111-59F7-15E1-CF7B-A47D0B782EFB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 rot="16200000">
            <a:off x="10012430" y="-206067"/>
            <a:ext cx="2214082" cy="2334513"/>
          </a:xfrm>
          <a:prstGeom prst="rect">
            <a:avLst/>
          </a:prstGeom>
        </p:spPr>
      </p:pic>
      <p:pic>
        <p:nvPicPr>
          <p:cNvPr id="12" name="Imagen 11">
            <a:extLst>
              <a:ext uri="{FF2B5EF4-FFF2-40B4-BE49-F238E27FC236}">
                <a16:creationId xmlns:a16="http://schemas.microsoft.com/office/drawing/2014/main" id="{09E76FA5-5C99-7B6B-9D06-39E92F75BEE1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682615" y="219393"/>
            <a:ext cx="1160941" cy="1243647"/>
          </a:xfrm>
          <a:prstGeom prst="rect">
            <a:avLst/>
          </a:prstGeom>
        </p:spPr>
      </p:pic>
      <p:sp>
        <p:nvSpPr>
          <p:cNvPr id="2" name="CuadroTexto 1">
            <a:extLst>
              <a:ext uri="{FF2B5EF4-FFF2-40B4-BE49-F238E27FC236}">
                <a16:creationId xmlns:a16="http://schemas.microsoft.com/office/drawing/2014/main" id="{933124C1-293E-A252-44DB-B4874F7B1015}"/>
              </a:ext>
            </a:extLst>
          </p:cNvPr>
          <p:cNvSpPr txBox="1"/>
          <p:nvPr/>
        </p:nvSpPr>
        <p:spPr>
          <a:xfrm>
            <a:off x="589512" y="1430482"/>
            <a:ext cx="8635502" cy="523220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MX" sz="2400" dirty="0"/>
              <a:t>El análisis se realiza sobre </a:t>
            </a:r>
            <a:r>
              <a:rPr lang="es-MX" sz="2400" b="1" dirty="0"/>
              <a:t>52 zonas </a:t>
            </a:r>
            <a:r>
              <a:rPr lang="es-MX" sz="2400" b="1" dirty="0" err="1"/>
              <a:t>WiFi</a:t>
            </a:r>
            <a:r>
              <a:rPr lang="es-MX" sz="2400" b="1" dirty="0"/>
              <a:t> públicas de la Alcaldía de Cali.</a:t>
            </a:r>
          </a:p>
          <a:p>
            <a:endParaRPr lang="es-MX" sz="2400" b="1" dirty="0"/>
          </a:p>
          <a:p>
            <a:r>
              <a:rPr lang="es-CO" sz="2400" dirty="0"/>
              <a:t>Modelos supervisados utilizados: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s-CO" sz="2400" dirty="0"/>
              <a:t>Regresión Lineal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s-CO" sz="2400" dirty="0" err="1"/>
              <a:t>Random</a:t>
            </a:r>
            <a:r>
              <a:rPr lang="es-CO" sz="2400" dirty="0"/>
              <a:t> Forest.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s-CO" sz="2400" dirty="0"/>
              <a:t>SVR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s-CO" sz="2400" dirty="0"/>
              <a:t>Perceptrón.</a:t>
            </a:r>
          </a:p>
          <a:p>
            <a:endParaRPr lang="es-MX" sz="2400" dirty="0"/>
          </a:p>
          <a:p>
            <a:r>
              <a:rPr lang="es-MX" sz="2400" dirty="0"/>
              <a:t>Los modelos se evalúan con las  métricas </a:t>
            </a:r>
            <a:r>
              <a:rPr lang="es-MX" sz="2400" b="1" dirty="0"/>
              <a:t>MAE, RMSE, R² y MAPE, </a:t>
            </a:r>
            <a:r>
              <a:rPr lang="es-MX" sz="2400" dirty="0"/>
              <a:t>Siendo MAPE la métrica escogida para evaluar el mejor desempeño de cada zona.</a:t>
            </a:r>
            <a:endParaRPr lang="es-CO" sz="2400" dirty="0"/>
          </a:p>
          <a:p>
            <a:endParaRPr lang="es-CO" sz="2800" dirty="0"/>
          </a:p>
          <a:p>
            <a:endParaRPr lang="es-CO" dirty="0"/>
          </a:p>
        </p:txBody>
      </p:sp>
      <p:pic>
        <p:nvPicPr>
          <p:cNvPr id="4" name="Imagen 3" descr="Icono&#10;&#10;El contenido generado por IA puede ser incorrecto.">
            <a:extLst>
              <a:ext uri="{FF2B5EF4-FFF2-40B4-BE49-F238E27FC236}">
                <a16:creationId xmlns:a16="http://schemas.microsoft.com/office/drawing/2014/main" id="{A7BBB24A-0648-AFFF-AD67-2CD8BFDD76FA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9783689" y="3057502"/>
            <a:ext cx="2059867" cy="25321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063135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ítulo 1">
            <a:extLst>
              <a:ext uri="{FF2B5EF4-FFF2-40B4-BE49-F238E27FC236}">
                <a16:creationId xmlns:a16="http://schemas.microsoft.com/office/drawing/2014/main" id="{65F5A741-84AA-FAB8-9D4F-D8104036E802}"/>
              </a:ext>
            </a:extLst>
          </p:cNvPr>
          <p:cNvSpPr txBox="1">
            <a:spLocks/>
          </p:cNvSpPr>
          <p:nvPr/>
        </p:nvSpPr>
        <p:spPr>
          <a:xfrm>
            <a:off x="1580219" y="192546"/>
            <a:ext cx="6392357" cy="768643"/>
          </a:xfrm>
          <a:prstGeom prst="rect">
            <a:avLst/>
          </a:prstGeom>
        </p:spPr>
        <p:txBody>
          <a:bodyPr vert="horz" lIns="68580" tIns="34290" rIns="68580" bIns="34290" rtlCol="0" anchor="ctr">
            <a:normAutofit fontScale="25000" lnSpcReduction="200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>
              <a:lnSpc>
                <a:spcPct val="110000"/>
              </a:lnSpc>
            </a:pPr>
            <a:endParaRPr lang="es-CO" sz="3750" b="1" dirty="0">
              <a:solidFill>
                <a:schemeClr val="tx2">
                  <a:lumMod val="50000"/>
                </a:schemeClr>
              </a:solidFill>
              <a:latin typeface="+mn-lt"/>
            </a:endParaRPr>
          </a:p>
          <a:p>
            <a:pPr algn="ctr">
              <a:lnSpc>
                <a:spcPct val="110000"/>
              </a:lnSpc>
            </a:pPr>
            <a:r>
              <a:rPr lang="es-CO" sz="18500" b="1" dirty="0">
                <a:solidFill>
                  <a:schemeClr val="tx2">
                    <a:lumMod val="50000"/>
                  </a:schemeClr>
                </a:solidFill>
                <a:latin typeface="+mn-lt"/>
              </a:rPr>
              <a:t>Preparación de los datos</a:t>
            </a:r>
          </a:p>
          <a:p>
            <a:pPr>
              <a:lnSpc>
                <a:spcPct val="110000"/>
              </a:lnSpc>
            </a:pPr>
            <a:endParaRPr lang="es-CO" sz="3750" b="1" dirty="0">
              <a:solidFill>
                <a:schemeClr val="tx2">
                  <a:lumMod val="50000"/>
                </a:schemeClr>
              </a:solidFill>
              <a:latin typeface="Futura Std Book" panose="020B0502020204020303" pitchFamily="34" charset="77"/>
            </a:endParaRPr>
          </a:p>
        </p:txBody>
      </p:sp>
      <p:pic>
        <p:nvPicPr>
          <p:cNvPr id="13" name="Imagen 12">
            <a:extLst>
              <a:ext uri="{FF2B5EF4-FFF2-40B4-BE49-F238E27FC236}">
                <a16:creationId xmlns:a16="http://schemas.microsoft.com/office/drawing/2014/main" id="{82D18405-0140-9E96-7829-C61FC071CDC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rot="10800000" flipH="1">
            <a:off x="8497815" y="1912273"/>
            <a:ext cx="2908797" cy="6146129"/>
          </a:xfrm>
          <a:prstGeom prst="rect">
            <a:avLst/>
          </a:prstGeom>
        </p:spPr>
      </p:pic>
      <p:pic>
        <p:nvPicPr>
          <p:cNvPr id="10" name="Gráfico 9">
            <a:extLst>
              <a:ext uri="{FF2B5EF4-FFF2-40B4-BE49-F238E27FC236}">
                <a16:creationId xmlns:a16="http://schemas.microsoft.com/office/drawing/2014/main" id="{3A16484D-B71D-283E-CB12-4C8010DC7E21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 rot="16200000">
            <a:off x="10012430" y="-206067"/>
            <a:ext cx="2214082" cy="2334513"/>
          </a:xfrm>
          <a:prstGeom prst="rect">
            <a:avLst/>
          </a:prstGeom>
        </p:spPr>
      </p:pic>
      <p:pic>
        <p:nvPicPr>
          <p:cNvPr id="12" name="Imagen 11">
            <a:extLst>
              <a:ext uri="{FF2B5EF4-FFF2-40B4-BE49-F238E27FC236}">
                <a16:creationId xmlns:a16="http://schemas.microsoft.com/office/drawing/2014/main" id="{82C7BC15-9C77-7B1D-981E-E902F523070D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682615" y="219393"/>
            <a:ext cx="1160941" cy="1243647"/>
          </a:xfrm>
          <a:prstGeom prst="rect">
            <a:avLst/>
          </a:prstGeom>
        </p:spPr>
      </p:pic>
      <p:graphicFrame>
        <p:nvGraphicFramePr>
          <p:cNvPr id="6" name="Tabla 5">
            <a:extLst>
              <a:ext uri="{FF2B5EF4-FFF2-40B4-BE49-F238E27FC236}">
                <a16:creationId xmlns:a16="http://schemas.microsoft.com/office/drawing/2014/main" id="{DD9A5384-6D27-10D6-F7A0-8C50D2C1FFF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450401635"/>
              </p:ext>
            </p:extLst>
          </p:nvPr>
        </p:nvGraphicFramePr>
        <p:xfrm>
          <a:off x="107196" y="2869983"/>
          <a:ext cx="11977609" cy="3597492"/>
        </p:xfrm>
        <a:graphic>
          <a:graphicData uri="http://schemas.openxmlformats.org/drawingml/2006/table">
            <a:tbl>
              <a:tblPr bandRow="1">
                <a:tableStyleId>{5C22544A-7EE6-4342-B048-85BDC9FD1C3A}</a:tableStyleId>
              </a:tblPr>
              <a:tblGrid>
                <a:gridCol w="1714543">
                  <a:extLst>
                    <a:ext uri="{9D8B030D-6E8A-4147-A177-3AD203B41FA5}">
                      <a16:colId xmlns:a16="http://schemas.microsoft.com/office/drawing/2014/main" val="1440942786"/>
                    </a:ext>
                  </a:extLst>
                </a:gridCol>
                <a:gridCol w="845178">
                  <a:extLst>
                    <a:ext uri="{9D8B030D-6E8A-4147-A177-3AD203B41FA5}">
                      <a16:colId xmlns:a16="http://schemas.microsoft.com/office/drawing/2014/main" val="3534064814"/>
                    </a:ext>
                  </a:extLst>
                </a:gridCol>
                <a:gridCol w="2240512">
                  <a:extLst>
                    <a:ext uri="{9D8B030D-6E8A-4147-A177-3AD203B41FA5}">
                      <a16:colId xmlns:a16="http://schemas.microsoft.com/office/drawing/2014/main" val="3472113955"/>
                    </a:ext>
                  </a:extLst>
                </a:gridCol>
                <a:gridCol w="1184943">
                  <a:extLst>
                    <a:ext uri="{9D8B030D-6E8A-4147-A177-3AD203B41FA5}">
                      <a16:colId xmlns:a16="http://schemas.microsoft.com/office/drawing/2014/main" val="3700859430"/>
                    </a:ext>
                  </a:extLst>
                </a:gridCol>
                <a:gridCol w="967301">
                  <a:extLst>
                    <a:ext uri="{9D8B030D-6E8A-4147-A177-3AD203B41FA5}">
                      <a16:colId xmlns:a16="http://schemas.microsoft.com/office/drawing/2014/main" val="2510571112"/>
                    </a:ext>
                  </a:extLst>
                </a:gridCol>
                <a:gridCol w="2119600">
                  <a:extLst>
                    <a:ext uri="{9D8B030D-6E8A-4147-A177-3AD203B41FA5}">
                      <a16:colId xmlns:a16="http://schemas.microsoft.com/office/drawing/2014/main" val="480373411"/>
                    </a:ext>
                  </a:extLst>
                </a:gridCol>
                <a:gridCol w="1190989">
                  <a:extLst>
                    <a:ext uri="{9D8B030D-6E8A-4147-A177-3AD203B41FA5}">
                      <a16:colId xmlns:a16="http://schemas.microsoft.com/office/drawing/2014/main" val="3395352693"/>
                    </a:ext>
                  </a:extLst>
                </a:gridCol>
                <a:gridCol w="1714543">
                  <a:extLst>
                    <a:ext uri="{9D8B030D-6E8A-4147-A177-3AD203B41FA5}">
                      <a16:colId xmlns:a16="http://schemas.microsoft.com/office/drawing/2014/main" val="725716280"/>
                    </a:ext>
                  </a:extLst>
                </a:gridCol>
              </a:tblGrid>
              <a:tr h="301382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s-CO" sz="1100" b="1" dirty="0">
                          <a:effectLst/>
                        </a:rPr>
                        <a:t>FECHA CONEXIÓN</a:t>
                      </a:r>
                      <a:endParaRPr lang="es-CO" sz="1100" b="1" dirty="0">
                        <a:effectLst/>
                        <a:latin typeface="Nimbus Roman No9 L"/>
                        <a:ea typeface="Nimbus Roman No9 L"/>
                        <a:cs typeface="Nimbus Roman No9 L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s-CO" sz="1100" b="1" dirty="0">
                          <a:effectLst/>
                        </a:rPr>
                        <a:t>AREA</a:t>
                      </a:r>
                      <a:endParaRPr lang="es-CO" sz="1100" b="1" dirty="0">
                        <a:effectLst/>
                        <a:latin typeface="Nimbus Roman No9 L"/>
                        <a:ea typeface="Nimbus Roman No9 L"/>
                        <a:cs typeface="Nimbus Roman No9 L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s-CO" sz="1100" b="1" dirty="0">
                          <a:effectLst/>
                        </a:rPr>
                        <a:t>NOMBRE ZONA</a:t>
                      </a:r>
                      <a:endParaRPr lang="es-CO" sz="1100" b="1" dirty="0">
                        <a:effectLst/>
                        <a:latin typeface="Nimbus Roman No9 L"/>
                        <a:ea typeface="Nimbus Roman No9 L"/>
                        <a:cs typeface="Nimbus Roman No9 L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s-CO" sz="1100" b="1" dirty="0">
                          <a:effectLst/>
                        </a:rPr>
                        <a:t>COMUNA</a:t>
                      </a:r>
                      <a:endParaRPr lang="es-CO" sz="1100" b="1" dirty="0">
                        <a:effectLst/>
                        <a:latin typeface="Nimbus Roman No9 L"/>
                        <a:ea typeface="Nimbus Roman No9 L"/>
                        <a:cs typeface="Nimbus Roman No9 L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s-CO" sz="1100" b="1" dirty="0">
                          <a:effectLst/>
                        </a:rPr>
                        <a:t>MODEL</a:t>
                      </a:r>
                      <a:endParaRPr lang="es-CO" sz="1100" b="1" dirty="0">
                        <a:effectLst/>
                        <a:latin typeface="Nimbus Roman No9 L"/>
                        <a:ea typeface="Nimbus Roman No9 L"/>
                        <a:cs typeface="Nimbus Roman No9 L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s-CO" sz="1100" b="1" dirty="0">
                          <a:effectLst/>
                        </a:rPr>
                        <a:t>NÚMERO CONEXIONES</a:t>
                      </a:r>
                      <a:endParaRPr lang="es-CO" sz="1100" b="1" dirty="0">
                        <a:effectLst/>
                        <a:latin typeface="Nimbus Roman No9 L"/>
                        <a:ea typeface="Nimbus Roman No9 L"/>
                        <a:cs typeface="Nimbus Roman No9 L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s-CO" sz="1100" b="1" dirty="0">
                          <a:effectLst/>
                        </a:rPr>
                        <a:t>USAGE (kB)</a:t>
                      </a:r>
                      <a:endParaRPr lang="es-CO" sz="1100" b="1" dirty="0">
                        <a:effectLst/>
                        <a:latin typeface="Nimbus Roman No9 L"/>
                        <a:ea typeface="Nimbus Roman No9 L"/>
                        <a:cs typeface="Nimbus Roman No9 L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s-CO" sz="1100" b="1" dirty="0">
                          <a:effectLst/>
                        </a:rPr>
                        <a:t>PORCENTAJE USO</a:t>
                      </a:r>
                      <a:endParaRPr lang="es-CO" sz="1100" b="1" dirty="0">
                        <a:effectLst/>
                        <a:latin typeface="Nimbus Roman No9 L"/>
                        <a:ea typeface="Nimbus Roman No9 L"/>
                        <a:cs typeface="Nimbus Roman No9 L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198515725"/>
                  </a:ext>
                </a:extLst>
              </a:tr>
              <a:tr h="301382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s-CO" sz="1100" dirty="0">
                          <a:effectLst/>
                        </a:rPr>
                        <a:t>1-ene-24</a:t>
                      </a:r>
                      <a:endParaRPr lang="es-CO" sz="1100" dirty="0">
                        <a:effectLst/>
                        <a:latin typeface="Nimbus Roman No9 L"/>
                        <a:ea typeface="Nimbus Roman No9 L"/>
                        <a:cs typeface="Nimbus Roman No9 L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s-CO" sz="1100" dirty="0">
                          <a:effectLst/>
                        </a:rPr>
                        <a:t>URBAN</a:t>
                      </a:r>
                      <a:endParaRPr lang="es-CO" sz="1100" dirty="0">
                        <a:effectLst/>
                        <a:latin typeface="Nimbus Roman No9 L"/>
                        <a:ea typeface="Nimbus Roman No9 L"/>
                        <a:cs typeface="Nimbus Roman No9 L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s-CO" sz="1100" dirty="0">
                          <a:effectLst/>
                        </a:rPr>
                        <a:t>001_ZW Parque Ingenio</a:t>
                      </a:r>
                      <a:endParaRPr lang="es-CO" sz="1100" dirty="0">
                        <a:effectLst/>
                        <a:latin typeface="Nimbus Roman No9 L"/>
                        <a:ea typeface="Nimbus Roman No9 L"/>
                        <a:cs typeface="Nimbus Roman No9 L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s-CO" sz="1100" dirty="0">
                          <a:effectLst/>
                        </a:rPr>
                        <a:t>17</a:t>
                      </a:r>
                      <a:endParaRPr lang="es-CO" sz="1100" dirty="0">
                        <a:effectLst/>
                        <a:latin typeface="Nimbus Roman No9 L"/>
                        <a:ea typeface="Nimbus Roman No9 L"/>
                        <a:cs typeface="Nimbus Roman No9 L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s-CO" sz="1100" dirty="0">
                          <a:effectLst/>
                        </a:rPr>
                        <a:t>MR76</a:t>
                      </a:r>
                      <a:endParaRPr lang="es-CO" sz="1100" dirty="0">
                        <a:effectLst/>
                        <a:latin typeface="Nimbus Roman No9 L"/>
                        <a:ea typeface="Nimbus Roman No9 L"/>
                        <a:cs typeface="Nimbus Roman No9 L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s-CO" sz="1100" dirty="0">
                          <a:effectLst/>
                        </a:rPr>
                        <a:t>42</a:t>
                      </a:r>
                      <a:endParaRPr lang="es-CO" sz="1100" dirty="0">
                        <a:effectLst/>
                        <a:latin typeface="Nimbus Roman No9 L"/>
                        <a:ea typeface="Nimbus Roman No9 L"/>
                        <a:cs typeface="Nimbus Roman No9 L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s-CO" sz="1100" dirty="0">
                          <a:effectLst/>
                        </a:rPr>
                        <a:t>3709424</a:t>
                      </a:r>
                      <a:endParaRPr lang="es-CO" sz="1100" dirty="0">
                        <a:effectLst/>
                        <a:latin typeface="Nimbus Roman No9 L"/>
                        <a:ea typeface="Nimbus Roman No9 L"/>
                        <a:cs typeface="Nimbus Roman No9 L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s-CO" sz="1100" dirty="0">
                          <a:effectLst/>
                        </a:rPr>
                        <a:t>4,244</a:t>
                      </a:r>
                      <a:endParaRPr lang="es-CO" sz="1100" dirty="0">
                        <a:effectLst/>
                        <a:latin typeface="Nimbus Roman No9 L"/>
                        <a:ea typeface="Nimbus Roman No9 L"/>
                        <a:cs typeface="Nimbus Roman No9 L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3995030829"/>
                  </a:ext>
                </a:extLst>
              </a:tr>
              <a:tr h="301382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s-CO" sz="1100">
                          <a:effectLst/>
                        </a:rPr>
                        <a:t>1-ene-24</a:t>
                      </a:r>
                      <a:endParaRPr lang="es-CO" sz="1100">
                        <a:effectLst/>
                        <a:latin typeface="Nimbus Roman No9 L"/>
                        <a:ea typeface="Nimbus Roman No9 L"/>
                        <a:cs typeface="Nimbus Roman No9 L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s-CO" sz="1100">
                          <a:effectLst/>
                        </a:rPr>
                        <a:t>URBAN</a:t>
                      </a:r>
                      <a:endParaRPr lang="es-CO" sz="1100">
                        <a:effectLst/>
                        <a:latin typeface="Nimbus Roman No9 L"/>
                        <a:ea typeface="Nimbus Roman No9 L"/>
                        <a:cs typeface="Nimbus Roman No9 L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s-CO" sz="1100">
                          <a:effectLst/>
                        </a:rPr>
                        <a:t>001_ZW Parque Ingenio</a:t>
                      </a:r>
                      <a:endParaRPr lang="es-CO" sz="1100">
                        <a:effectLst/>
                        <a:latin typeface="Nimbus Roman No9 L"/>
                        <a:ea typeface="Nimbus Roman No9 L"/>
                        <a:cs typeface="Nimbus Roman No9 L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s-CO" sz="1100">
                          <a:effectLst/>
                        </a:rPr>
                        <a:t>17</a:t>
                      </a:r>
                      <a:endParaRPr lang="es-CO" sz="1100">
                        <a:effectLst/>
                        <a:latin typeface="Nimbus Roman No9 L"/>
                        <a:ea typeface="Nimbus Roman No9 L"/>
                        <a:cs typeface="Nimbus Roman No9 L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s-CO" sz="1100">
                          <a:effectLst/>
                        </a:rPr>
                        <a:t>MR76</a:t>
                      </a:r>
                      <a:endParaRPr lang="es-CO" sz="1100">
                        <a:effectLst/>
                        <a:latin typeface="Nimbus Roman No9 L"/>
                        <a:ea typeface="Nimbus Roman No9 L"/>
                        <a:cs typeface="Nimbus Roman No9 L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s-CO" sz="1100">
                          <a:effectLst/>
                        </a:rPr>
                        <a:t>49</a:t>
                      </a:r>
                      <a:endParaRPr lang="es-CO" sz="1100">
                        <a:effectLst/>
                        <a:latin typeface="Nimbus Roman No9 L"/>
                        <a:ea typeface="Nimbus Roman No9 L"/>
                        <a:cs typeface="Nimbus Roman No9 L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s-CO" sz="1100">
                          <a:effectLst/>
                        </a:rPr>
                        <a:t>2550212</a:t>
                      </a:r>
                      <a:endParaRPr lang="es-CO" sz="1100">
                        <a:effectLst/>
                        <a:latin typeface="Nimbus Roman No9 L"/>
                        <a:ea typeface="Nimbus Roman No9 L"/>
                        <a:cs typeface="Nimbus Roman No9 L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s-CO" sz="1100" dirty="0">
                          <a:effectLst/>
                        </a:rPr>
                        <a:t>2,917</a:t>
                      </a:r>
                      <a:endParaRPr lang="es-CO" sz="1100" dirty="0">
                        <a:effectLst/>
                        <a:latin typeface="Nimbus Roman No9 L"/>
                        <a:ea typeface="Nimbus Roman No9 L"/>
                        <a:cs typeface="Nimbus Roman No9 L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924772273"/>
                  </a:ext>
                </a:extLst>
              </a:tr>
              <a:tr h="405106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s-CO" sz="1100">
                          <a:effectLst/>
                        </a:rPr>
                        <a:t>1-ene-24</a:t>
                      </a:r>
                      <a:endParaRPr lang="es-CO" sz="1100">
                        <a:effectLst/>
                        <a:latin typeface="Nimbus Roman No9 L"/>
                        <a:ea typeface="Nimbus Roman No9 L"/>
                        <a:cs typeface="Nimbus Roman No9 L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s-CO" sz="1100">
                          <a:effectLst/>
                        </a:rPr>
                        <a:t>URBAN</a:t>
                      </a:r>
                      <a:endParaRPr lang="es-CO" sz="1100">
                        <a:effectLst/>
                        <a:latin typeface="Nimbus Roman No9 L"/>
                        <a:ea typeface="Nimbus Roman No9 L"/>
                        <a:cs typeface="Nimbus Roman No9 L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s-CO" sz="1100" dirty="0">
                          <a:effectLst/>
                        </a:rPr>
                        <a:t>002_ZW Canchas Panamericanas</a:t>
                      </a:r>
                      <a:endParaRPr lang="es-CO" sz="1100" dirty="0">
                        <a:effectLst/>
                        <a:latin typeface="Nimbus Roman No9 L"/>
                        <a:ea typeface="Nimbus Roman No9 L"/>
                        <a:cs typeface="Nimbus Roman No9 L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s-CO" sz="1100">
                          <a:effectLst/>
                        </a:rPr>
                        <a:t>19</a:t>
                      </a:r>
                      <a:endParaRPr lang="es-CO" sz="1100">
                        <a:effectLst/>
                        <a:latin typeface="Nimbus Roman No9 L"/>
                        <a:ea typeface="Nimbus Roman No9 L"/>
                        <a:cs typeface="Nimbus Roman No9 L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s-CO" sz="1100">
                          <a:effectLst/>
                        </a:rPr>
                        <a:t>MR76</a:t>
                      </a:r>
                      <a:endParaRPr lang="es-CO" sz="1100">
                        <a:effectLst/>
                        <a:latin typeface="Nimbus Roman No9 L"/>
                        <a:ea typeface="Nimbus Roman No9 L"/>
                        <a:cs typeface="Nimbus Roman No9 L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s-CO" sz="1100">
                          <a:effectLst/>
                        </a:rPr>
                        <a:t>8</a:t>
                      </a:r>
                      <a:endParaRPr lang="es-CO" sz="1100">
                        <a:effectLst/>
                        <a:latin typeface="Nimbus Roman No9 L"/>
                        <a:ea typeface="Nimbus Roman No9 L"/>
                        <a:cs typeface="Nimbus Roman No9 L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s-CO" sz="1100">
                          <a:effectLst/>
                        </a:rPr>
                        <a:t>1419251</a:t>
                      </a:r>
                      <a:endParaRPr lang="es-CO" sz="1100">
                        <a:effectLst/>
                        <a:latin typeface="Nimbus Roman No9 L"/>
                        <a:ea typeface="Nimbus Roman No9 L"/>
                        <a:cs typeface="Nimbus Roman No9 L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s-CO" sz="1100" dirty="0">
                          <a:effectLst/>
                        </a:rPr>
                        <a:t>1,624</a:t>
                      </a:r>
                      <a:endParaRPr lang="es-CO" sz="1100" dirty="0">
                        <a:effectLst/>
                        <a:latin typeface="Nimbus Roman No9 L"/>
                        <a:ea typeface="Nimbus Roman No9 L"/>
                        <a:cs typeface="Nimbus Roman No9 L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217924915"/>
                  </a:ext>
                </a:extLst>
              </a:tr>
              <a:tr h="38577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s-CO" sz="1100">
                          <a:effectLst/>
                        </a:rPr>
                        <a:t>1-ene-24</a:t>
                      </a:r>
                      <a:endParaRPr lang="es-CO" sz="1100">
                        <a:effectLst/>
                        <a:latin typeface="Nimbus Roman No9 L"/>
                        <a:ea typeface="Nimbus Roman No9 L"/>
                        <a:cs typeface="Nimbus Roman No9 L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s-CO" sz="1100">
                          <a:effectLst/>
                        </a:rPr>
                        <a:t>URBAN</a:t>
                      </a:r>
                      <a:endParaRPr lang="es-CO" sz="1100">
                        <a:effectLst/>
                        <a:latin typeface="Nimbus Roman No9 L"/>
                        <a:ea typeface="Nimbus Roman No9 L"/>
                        <a:cs typeface="Nimbus Roman No9 L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s-CO" sz="1100">
                          <a:effectLst/>
                        </a:rPr>
                        <a:t>003_ZW Parque del Perro</a:t>
                      </a:r>
                      <a:endParaRPr lang="es-CO" sz="1100">
                        <a:effectLst/>
                        <a:latin typeface="Nimbus Roman No9 L"/>
                        <a:ea typeface="Nimbus Roman No9 L"/>
                        <a:cs typeface="Nimbus Roman No9 L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s-CO" sz="1100">
                          <a:effectLst/>
                        </a:rPr>
                        <a:t>19</a:t>
                      </a:r>
                      <a:endParaRPr lang="es-CO" sz="1100">
                        <a:effectLst/>
                        <a:latin typeface="Nimbus Roman No9 L"/>
                        <a:ea typeface="Nimbus Roman No9 L"/>
                        <a:cs typeface="Nimbus Roman No9 L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s-CO" sz="1100" dirty="0">
                          <a:effectLst/>
                        </a:rPr>
                        <a:t>MR76</a:t>
                      </a:r>
                      <a:endParaRPr lang="es-CO" sz="1100" dirty="0">
                        <a:effectLst/>
                        <a:latin typeface="Nimbus Roman No9 L"/>
                        <a:ea typeface="Nimbus Roman No9 L"/>
                        <a:cs typeface="Nimbus Roman No9 L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s-CO" sz="1100">
                          <a:effectLst/>
                        </a:rPr>
                        <a:t>31</a:t>
                      </a:r>
                      <a:endParaRPr lang="es-CO" sz="1100">
                        <a:effectLst/>
                        <a:latin typeface="Nimbus Roman No9 L"/>
                        <a:ea typeface="Nimbus Roman No9 L"/>
                        <a:cs typeface="Nimbus Roman No9 L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s-CO" sz="1100">
                          <a:effectLst/>
                        </a:rPr>
                        <a:t>558191</a:t>
                      </a:r>
                      <a:endParaRPr lang="es-CO" sz="1100">
                        <a:effectLst/>
                        <a:latin typeface="Nimbus Roman No9 L"/>
                        <a:ea typeface="Nimbus Roman No9 L"/>
                        <a:cs typeface="Nimbus Roman No9 L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s-CO" sz="1100" dirty="0">
                          <a:effectLst/>
                        </a:rPr>
                        <a:t>0,639</a:t>
                      </a:r>
                      <a:endParaRPr lang="es-CO" sz="1100" dirty="0">
                        <a:effectLst/>
                        <a:latin typeface="Nimbus Roman No9 L"/>
                        <a:ea typeface="Nimbus Roman No9 L"/>
                        <a:cs typeface="Nimbus Roman No9 L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3273316864"/>
                  </a:ext>
                </a:extLst>
              </a:tr>
              <a:tr h="38577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s-CO" sz="1100">
                          <a:effectLst/>
                        </a:rPr>
                        <a:t>1-ene-24</a:t>
                      </a:r>
                      <a:endParaRPr lang="es-CO" sz="1100">
                        <a:effectLst/>
                        <a:latin typeface="Nimbus Roman No9 L"/>
                        <a:ea typeface="Nimbus Roman No9 L"/>
                        <a:cs typeface="Nimbus Roman No9 L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s-CO" sz="1100">
                          <a:effectLst/>
                        </a:rPr>
                        <a:t>URBAN</a:t>
                      </a:r>
                      <a:endParaRPr lang="es-CO" sz="1100">
                        <a:effectLst/>
                        <a:latin typeface="Nimbus Roman No9 L"/>
                        <a:ea typeface="Nimbus Roman No9 L"/>
                        <a:cs typeface="Nimbus Roman No9 L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s-CO" sz="1100">
                          <a:effectLst/>
                        </a:rPr>
                        <a:t>003_ZW Parque del Perro</a:t>
                      </a:r>
                      <a:endParaRPr lang="es-CO" sz="1100">
                        <a:effectLst/>
                        <a:latin typeface="Nimbus Roman No9 L"/>
                        <a:ea typeface="Nimbus Roman No9 L"/>
                        <a:cs typeface="Nimbus Roman No9 L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s-CO" sz="1100">
                          <a:effectLst/>
                        </a:rPr>
                        <a:t>19</a:t>
                      </a:r>
                      <a:endParaRPr lang="es-CO" sz="1100">
                        <a:effectLst/>
                        <a:latin typeface="Nimbus Roman No9 L"/>
                        <a:ea typeface="Nimbus Roman No9 L"/>
                        <a:cs typeface="Nimbus Roman No9 L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s-CO" sz="1100">
                          <a:effectLst/>
                        </a:rPr>
                        <a:t>MR76</a:t>
                      </a:r>
                      <a:endParaRPr lang="es-CO" sz="1100">
                        <a:effectLst/>
                        <a:latin typeface="Nimbus Roman No9 L"/>
                        <a:ea typeface="Nimbus Roman No9 L"/>
                        <a:cs typeface="Nimbus Roman No9 L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s-CO" sz="1100" dirty="0">
                          <a:effectLst/>
                        </a:rPr>
                        <a:t>26</a:t>
                      </a:r>
                      <a:endParaRPr lang="es-CO" sz="1100" dirty="0">
                        <a:effectLst/>
                        <a:latin typeface="Nimbus Roman No9 L"/>
                        <a:ea typeface="Nimbus Roman No9 L"/>
                        <a:cs typeface="Nimbus Roman No9 L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s-CO" sz="1100">
                          <a:effectLst/>
                        </a:rPr>
                        <a:t>279273</a:t>
                      </a:r>
                      <a:endParaRPr lang="es-CO" sz="1100">
                        <a:effectLst/>
                        <a:latin typeface="Nimbus Roman No9 L"/>
                        <a:ea typeface="Nimbus Roman No9 L"/>
                        <a:cs typeface="Nimbus Roman No9 L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s-CO" sz="1100" dirty="0">
                          <a:effectLst/>
                        </a:rPr>
                        <a:t>0,319</a:t>
                      </a:r>
                      <a:endParaRPr lang="es-CO" sz="1100" dirty="0">
                        <a:effectLst/>
                        <a:latin typeface="Nimbus Roman No9 L"/>
                        <a:ea typeface="Nimbus Roman No9 L"/>
                        <a:cs typeface="Nimbus Roman No9 L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4088373680"/>
                  </a:ext>
                </a:extLst>
              </a:tr>
              <a:tr h="405106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s-CO" sz="1100">
                          <a:effectLst/>
                        </a:rPr>
                        <a:t>1-ene-24</a:t>
                      </a:r>
                      <a:endParaRPr lang="es-CO" sz="1100">
                        <a:effectLst/>
                        <a:latin typeface="Nimbus Roman No9 L"/>
                        <a:ea typeface="Nimbus Roman No9 L"/>
                        <a:cs typeface="Nimbus Roman No9 L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s-CO" sz="1100">
                          <a:effectLst/>
                        </a:rPr>
                        <a:t>URBAN</a:t>
                      </a:r>
                      <a:endParaRPr lang="es-CO" sz="1100">
                        <a:effectLst/>
                        <a:latin typeface="Nimbus Roman No9 L"/>
                        <a:ea typeface="Nimbus Roman No9 L"/>
                        <a:cs typeface="Nimbus Roman No9 L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s-CO" sz="1100">
                          <a:effectLst/>
                        </a:rPr>
                        <a:t>005_ZW Parque Barrio Obrero</a:t>
                      </a:r>
                      <a:endParaRPr lang="es-CO" sz="1100">
                        <a:effectLst/>
                        <a:latin typeface="Nimbus Roman No9 L"/>
                        <a:ea typeface="Nimbus Roman No9 L"/>
                        <a:cs typeface="Nimbus Roman No9 L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s-CO" sz="1100">
                          <a:effectLst/>
                        </a:rPr>
                        <a:t>9</a:t>
                      </a:r>
                      <a:endParaRPr lang="es-CO" sz="1100">
                        <a:effectLst/>
                        <a:latin typeface="Nimbus Roman No9 L"/>
                        <a:ea typeface="Nimbus Roman No9 L"/>
                        <a:cs typeface="Nimbus Roman No9 L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s-CO" sz="1100">
                          <a:effectLst/>
                        </a:rPr>
                        <a:t>MR76</a:t>
                      </a:r>
                      <a:endParaRPr lang="es-CO" sz="1100">
                        <a:effectLst/>
                        <a:latin typeface="Nimbus Roman No9 L"/>
                        <a:ea typeface="Nimbus Roman No9 L"/>
                        <a:cs typeface="Nimbus Roman No9 L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s-CO" sz="1100">
                          <a:effectLst/>
                        </a:rPr>
                        <a:t>131</a:t>
                      </a:r>
                      <a:endParaRPr lang="es-CO" sz="1100">
                        <a:effectLst/>
                        <a:latin typeface="Nimbus Roman No9 L"/>
                        <a:ea typeface="Nimbus Roman No9 L"/>
                        <a:cs typeface="Nimbus Roman No9 L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s-CO" sz="1100">
                          <a:effectLst/>
                        </a:rPr>
                        <a:t>1791964</a:t>
                      </a:r>
                      <a:endParaRPr lang="es-CO" sz="1100">
                        <a:effectLst/>
                        <a:latin typeface="Nimbus Roman No9 L"/>
                        <a:ea typeface="Nimbus Roman No9 L"/>
                        <a:cs typeface="Nimbus Roman No9 L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s-CO" sz="1100" dirty="0">
                          <a:effectLst/>
                        </a:rPr>
                        <a:t>2,05</a:t>
                      </a:r>
                      <a:endParaRPr lang="es-CO" sz="1100" dirty="0">
                        <a:effectLst/>
                        <a:latin typeface="Nimbus Roman No9 L"/>
                        <a:ea typeface="Nimbus Roman No9 L"/>
                        <a:cs typeface="Nimbus Roman No9 L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3651389947"/>
                  </a:ext>
                </a:extLst>
              </a:tr>
              <a:tr h="405106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s-CO" sz="1100">
                          <a:effectLst/>
                        </a:rPr>
                        <a:t>1-ene-24</a:t>
                      </a:r>
                      <a:endParaRPr lang="es-CO" sz="1100">
                        <a:effectLst/>
                        <a:latin typeface="Nimbus Roman No9 L"/>
                        <a:ea typeface="Nimbus Roman No9 L"/>
                        <a:cs typeface="Nimbus Roman No9 L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s-CO" sz="1100">
                          <a:effectLst/>
                        </a:rPr>
                        <a:t>URBAN</a:t>
                      </a:r>
                      <a:endParaRPr lang="es-CO" sz="1100">
                        <a:effectLst/>
                        <a:latin typeface="Nimbus Roman No9 L"/>
                        <a:ea typeface="Nimbus Roman No9 L"/>
                        <a:cs typeface="Nimbus Roman No9 L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s-CO" sz="1100">
                          <a:effectLst/>
                        </a:rPr>
                        <a:t>005_ZW Parque Barrio Obrero</a:t>
                      </a:r>
                      <a:endParaRPr lang="es-CO" sz="1100">
                        <a:effectLst/>
                        <a:latin typeface="Nimbus Roman No9 L"/>
                        <a:ea typeface="Nimbus Roman No9 L"/>
                        <a:cs typeface="Nimbus Roman No9 L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s-CO" sz="1100">
                          <a:effectLst/>
                        </a:rPr>
                        <a:t>9</a:t>
                      </a:r>
                      <a:endParaRPr lang="es-CO" sz="1100">
                        <a:effectLst/>
                        <a:latin typeface="Nimbus Roman No9 L"/>
                        <a:ea typeface="Nimbus Roman No9 L"/>
                        <a:cs typeface="Nimbus Roman No9 L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s-CO" sz="1100">
                          <a:effectLst/>
                        </a:rPr>
                        <a:t>MR76</a:t>
                      </a:r>
                      <a:endParaRPr lang="es-CO" sz="1100">
                        <a:effectLst/>
                        <a:latin typeface="Nimbus Roman No9 L"/>
                        <a:ea typeface="Nimbus Roman No9 L"/>
                        <a:cs typeface="Nimbus Roman No9 L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s-CO" sz="1100">
                          <a:effectLst/>
                        </a:rPr>
                        <a:t>99</a:t>
                      </a:r>
                      <a:endParaRPr lang="es-CO" sz="1100">
                        <a:effectLst/>
                        <a:latin typeface="Nimbus Roman No9 L"/>
                        <a:ea typeface="Nimbus Roman No9 L"/>
                        <a:cs typeface="Nimbus Roman No9 L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s-CO" sz="1100">
                          <a:effectLst/>
                        </a:rPr>
                        <a:t>631069</a:t>
                      </a:r>
                      <a:endParaRPr lang="es-CO" sz="1100">
                        <a:effectLst/>
                        <a:latin typeface="Nimbus Roman No9 L"/>
                        <a:ea typeface="Nimbus Roman No9 L"/>
                        <a:cs typeface="Nimbus Roman No9 L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s-CO" sz="1100" dirty="0">
                          <a:effectLst/>
                        </a:rPr>
                        <a:t>0,722</a:t>
                      </a:r>
                      <a:endParaRPr lang="es-CO" sz="1100" dirty="0">
                        <a:effectLst/>
                        <a:latin typeface="Nimbus Roman No9 L"/>
                        <a:ea typeface="Nimbus Roman No9 L"/>
                        <a:cs typeface="Nimbus Roman No9 L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368495448"/>
                  </a:ext>
                </a:extLst>
              </a:tr>
              <a:tr h="301382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s-CO" sz="1100">
                          <a:effectLst/>
                        </a:rPr>
                        <a:t>1-ene-24</a:t>
                      </a:r>
                      <a:endParaRPr lang="es-CO" sz="1100">
                        <a:effectLst/>
                        <a:latin typeface="Nimbus Roman No9 L"/>
                        <a:ea typeface="Nimbus Roman No9 L"/>
                        <a:cs typeface="Nimbus Roman No9 L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s-CO" sz="1100">
                          <a:effectLst/>
                        </a:rPr>
                        <a:t>URBAN</a:t>
                      </a:r>
                      <a:endParaRPr lang="es-CO" sz="1100">
                        <a:effectLst/>
                        <a:latin typeface="Nimbus Roman No9 L"/>
                        <a:ea typeface="Nimbus Roman No9 L"/>
                        <a:cs typeface="Nimbus Roman No9 L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s-CO" sz="1100">
                          <a:effectLst/>
                        </a:rPr>
                        <a:t>006_ZW Parque Vallado</a:t>
                      </a:r>
                      <a:endParaRPr lang="es-CO" sz="1100">
                        <a:effectLst/>
                        <a:latin typeface="Nimbus Roman No9 L"/>
                        <a:ea typeface="Nimbus Roman No9 L"/>
                        <a:cs typeface="Nimbus Roman No9 L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s-CO" sz="1100">
                          <a:effectLst/>
                        </a:rPr>
                        <a:t>15</a:t>
                      </a:r>
                      <a:endParaRPr lang="es-CO" sz="1100">
                        <a:effectLst/>
                        <a:latin typeface="Nimbus Roman No9 L"/>
                        <a:ea typeface="Nimbus Roman No9 L"/>
                        <a:cs typeface="Nimbus Roman No9 L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s-CO" sz="1100">
                          <a:effectLst/>
                        </a:rPr>
                        <a:t>MR76</a:t>
                      </a:r>
                      <a:endParaRPr lang="es-CO" sz="1100">
                        <a:effectLst/>
                        <a:latin typeface="Nimbus Roman No9 L"/>
                        <a:ea typeface="Nimbus Roman No9 L"/>
                        <a:cs typeface="Nimbus Roman No9 L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s-CO" sz="1100">
                          <a:effectLst/>
                        </a:rPr>
                        <a:t>110</a:t>
                      </a:r>
                      <a:endParaRPr lang="es-CO" sz="1100">
                        <a:effectLst/>
                        <a:latin typeface="Nimbus Roman No9 L"/>
                        <a:ea typeface="Nimbus Roman No9 L"/>
                        <a:cs typeface="Nimbus Roman No9 L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s-CO" sz="1100">
                          <a:effectLst/>
                        </a:rPr>
                        <a:t>38318</a:t>
                      </a:r>
                      <a:endParaRPr lang="es-CO" sz="1100">
                        <a:effectLst/>
                        <a:latin typeface="Nimbus Roman No9 L"/>
                        <a:ea typeface="Nimbus Roman No9 L"/>
                        <a:cs typeface="Nimbus Roman No9 L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s-CO" sz="1100" dirty="0">
                          <a:effectLst/>
                        </a:rPr>
                        <a:t>0,044</a:t>
                      </a:r>
                      <a:endParaRPr lang="es-CO" sz="1100" dirty="0">
                        <a:effectLst/>
                        <a:latin typeface="Nimbus Roman No9 L"/>
                        <a:ea typeface="Nimbus Roman No9 L"/>
                        <a:cs typeface="Nimbus Roman No9 L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806116543"/>
                  </a:ext>
                </a:extLst>
              </a:tr>
              <a:tr h="405106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s-CO" sz="1100">
                          <a:effectLst/>
                        </a:rPr>
                        <a:t>1-ene-24</a:t>
                      </a:r>
                      <a:endParaRPr lang="es-CO" sz="1100">
                        <a:effectLst/>
                        <a:latin typeface="Nimbus Roman No9 L"/>
                        <a:ea typeface="Nimbus Roman No9 L"/>
                        <a:cs typeface="Nimbus Roman No9 L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s-CO" sz="1100">
                          <a:effectLst/>
                        </a:rPr>
                        <a:t>URBAN</a:t>
                      </a:r>
                      <a:endParaRPr lang="es-CO" sz="1100">
                        <a:effectLst/>
                        <a:latin typeface="Nimbus Roman No9 L"/>
                        <a:ea typeface="Nimbus Roman No9 L"/>
                        <a:cs typeface="Nimbus Roman No9 L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s-CO" sz="1100" dirty="0">
                          <a:effectLst/>
                        </a:rPr>
                        <a:t>010_ZW Parque Antonio Nariño</a:t>
                      </a:r>
                      <a:endParaRPr lang="es-CO" sz="1100" dirty="0">
                        <a:effectLst/>
                        <a:latin typeface="Nimbus Roman No9 L"/>
                        <a:ea typeface="Nimbus Roman No9 L"/>
                        <a:cs typeface="Nimbus Roman No9 L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s-CO" sz="1100">
                          <a:effectLst/>
                        </a:rPr>
                        <a:t>16</a:t>
                      </a:r>
                      <a:endParaRPr lang="es-CO" sz="1100">
                        <a:effectLst/>
                        <a:latin typeface="Nimbus Roman No9 L"/>
                        <a:ea typeface="Nimbus Roman No9 L"/>
                        <a:cs typeface="Nimbus Roman No9 L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s-CO" sz="1100">
                          <a:effectLst/>
                        </a:rPr>
                        <a:t>MR76</a:t>
                      </a:r>
                      <a:endParaRPr lang="es-CO" sz="1100">
                        <a:effectLst/>
                        <a:latin typeface="Nimbus Roman No9 L"/>
                        <a:ea typeface="Nimbus Roman No9 L"/>
                        <a:cs typeface="Nimbus Roman No9 L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s-CO" sz="1100" dirty="0">
                          <a:effectLst/>
                        </a:rPr>
                        <a:t>31</a:t>
                      </a:r>
                      <a:endParaRPr lang="es-CO" sz="1100" dirty="0">
                        <a:effectLst/>
                        <a:latin typeface="Nimbus Roman No9 L"/>
                        <a:ea typeface="Nimbus Roman No9 L"/>
                        <a:cs typeface="Nimbus Roman No9 L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s-CO" sz="1100">
                          <a:effectLst/>
                        </a:rPr>
                        <a:t>5614</a:t>
                      </a:r>
                      <a:endParaRPr lang="es-CO" sz="1100">
                        <a:effectLst/>
                        <a:latin typeface="Nimbus Roman No9 L"/>
                        <a:ea typeface="Nimbus Roman No9 L"/>
                        <a:cs typeface="Nimbus Roman No9 L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s-CO" sz="1100" dirty="0">
                          <a:effectLst/>
                        </a:rPr>
                        <a:t>0,006</a:t>
                      </a:r>
                      <a:endParaRPr lang="es-CO" sz="1100" dirty="0">
                        <a:effectLst/>
                        <a:latin typeface="Nimbus Roman No9 L"/>
                        <a:ea typeface="Nimbus Roman No9 L"/>
                        <a:cs typeface="Nimbus Roman No9 L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3105583678"/>
                  </a:ext>
                </a:extLst>
              </a:tr>
            </a:tbl>
          </a:graphicData>
        </a:graphic>
      </p:graphicFrame>
      <p:sp>
        <p:nvSpPr>
          <p:cNvPr id="9" name="CuadroTexto 8">
            <a:extLst>
              <a:ext uri="{FF2B5EF4-FFF2-40B4-BE49-F238E27FC236}">
                <a16:creationId xmlns:a16="http://schemas.microsoft.com/office/drawing/2014/main" id="{C11C447C-7BBB-DDBA-2B1F-7451AFEAD1FB}"/>
              </a:ext>
            </a:extLst>
          </p:cNvPr>
          <p:cNvSpPr txBox="1"/>
          <p:nvPr/>
        </p:nvSpPr>
        <p:spPr>
          <a:xfrm>
            <a:off x="3883174" y="2362681"/>
            <a:ext cx="408940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CO" sz="2400" i="1" dirty="0"/>
              <a:t>Estructura inicial de datos</a:t>
            </a:r>
            <a:endParaRPr lang="es-CO" sz="2400" dirty="0"/>
          </a:p>
        </p:txBody>
      </p:sp>
      <p:graphicFrame>
        <p:nvGraphicFramePr>
          <p:cNvPr id="3" name="Tabla 2">
            <a:extLst>
              <a:ext uri="{FF2B5EF4-FFF2-40B4-BE49-F238E27FC236}">
                <a16:creationId xmlns:a16="http://schemas.microsoft.com/office/drawing/2014/main" id="{6446B253-569A-1787-286D-5C19F3F87F5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193164576"/>
              </p:ext>
            </p:extLst>
          </p:nvPr>
        </p:nvGraphicFramePr>
        <p:xfrm>
          <a:off x="107195" y="961189"/>
          <a:ext cx="10132247" cy="975360"/>
        </p:xfrm>
        <a:graphic>
          <a:graphicData uri="http://schemas.openxmlformats.org/drawingml/2006/table">
            <a:tbl>
              <a:tblPr firstRow="1" bandRow="1">
                <a:tableStyleId>{8799B23B-EC83-4686-B30A-512413B5E67A}</a:tableStyleId>
              </a:tblPr>
              <a:tblGrid>
                <a:gridCol w="10132247">
                  <a:extLst>
                    <a:ext uri="{9D8B030D-6E8A-4147-A177-3AD203B41FA5}">
                      <a16:colId xmlns:a16="http://schemas.microsoft.com/office/drawing/2014/main" val="1009586063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s-CO" sz="2000" b="0" kern="1200" dirty="0">
                          <a:solidFill>
                            <a:schemeClr val="tx1"/>
                          </a:solidFill>
                          <a:effectLst/>
                        </a:rPr>
                        <a:t>Preparación inicial y depuración de los datos: </a:t>
                      </a:r>
                      <a:r>
                        <a:rPr lang="es-CO" sz="2000" b="1" kern="1200" dirty="0">
                          <a:solidFill>
                            <a:schemeClr val="lt1"/>
                          </a:solidFill>
                          <a:effectLst/>
                        </a:rPr>
                        <a:t> </a:t>
                      </a:r>
                      <a:r>
                        <a:rPr lang="es-CO" sz="2000" b="0" kern="1200" dirty="0">
                          <a:solidFill>
                            <a:schemeClr val="tx1"/>
                          </a:solidFill>
                          <a:effectLst/>
                        </a:rPr>
                        <a:t>La data proporcionada por el DATIC de la Alcaldía consistía en un solo </a:t>
                      </a:r>
                      <a:r>
                        <a:rPr lang="es-CO" sz="2000" b="0" kern="1200" dirty="0" err="1">
                          <a:solidFill>
                            <a:schemeClr val="tx1"/>
                          </a:solidFill>
                          <a:effectLst/>
                        </a:rPr>
                        <a:t>dataset</a:t>
                      </a:r>
                      <a:r>
                        <a:rPr lang="es-CO" sz="2000" b="0" kern="1200" dirty="0">
                          <a:solidFill>
                            <a:schemeClr val="tx1"/>
                          </a:solidFill>
                          <a:effectLst/>
                        </a:rPr>
                        <a:t> en formato CSV con todas las zonas </a:t>
                      </a:r>
                      <a:r>
                        <a:rPr lang="es-CO" sz="2000" b="0" kern="1200" dirty="0" err="1">
                          <a:solidFill>
                            <a:schemeClr val="tx1"/>
                          </a:solidFill>
                          <a:effectLst/>
                        </a:rPr>
                        <a:t>WiFi</a:t>
                      </a:r>
                      <a:r>
                        <a:rPr lang="es-CO" sz="2000" b="0" kern="1200" dirty="0">
                          <a:solidFill>
                            <a:schemeClr val="tx1"/>
                          </a:solidFill>
                          <a:effectLst/>
                        </a:rPr>
                        <a:t> y datos de consumo.</a:t>
                      </a:r>
                    </a:p>
                    <a:p>
                      <a:endParaRPr lang="es-CO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38567750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90289888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FAA6E5CA-EA28-52B1-5B1B-3FD8649CD59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ítulo 1">
            <a:extLst>
              <a:ext uri="{FF2B5EF4-FFF2-40B4-BE49-F238E27FC236}">
                <a16:creationId xmlns:a16="http://schemas.microsoft.com/office/drawing/2014/main" id="{E96B2C74-87E2-A678-71DB-8400A1235392}"/>
              </a:ext>
            </a:extLst>
          </p:cNvPr>
          <p:cNvSpPr txBox="1">
            <a:spLocks/>
          </p:cNvSpPr>
          <p:nvPr/>
        </p:nvSpPr>
        <p:spPr>
          <a:xfrm>
            <a:off x="1580219" y="192546"/>
            <a:ext cx="6392357" cy="768643"/>
          </a:xfrm>
          <a:prstGeom prst="rect">
            <a:avLst/>
          </a:prstGeom>
        </p:spPr>
        <p:txBody>
          <a:bodyPr vert="horz" lIns="68580" tIns="34290" rIns="68580" bIns="34290" rtlCol="0" anchor="ctr">
            <a:normAutofit fontScale="25000" lnSpcReduction="200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>
              <a:lnSpc>
                <a:spcPct val="110000"/>
              </a:lnSpc>
            </a:pPr>
            <a:endParaRPr lang="es-CO" sz="3750" b="1" dirty="0">
              <a:solidFill>
                <a:schemeClr val="tx2">
                  <a:lumMod val="50000"/>
                </a:schemeClr>
              </a:solidFill>
              <a:latin typeface="+mn-lt"/>
            </a:endParaRPr>
          </a:p>
          <a:p>
            <a:pPr algn="ctr">
              <a:lnSpc>
                <a:spcPct val="110000"/>
              </a:lnSpc>
            </a:pPr>
            <a:r>
              <a:rPr lang="es-CO" sz="16000" b="1" dirty="0">
                <a:solidFill>
                  <a:schemeClr val="tx2">
                    <a:lumMod val="50000"/>
                  </a:schemeClr>
                </a:solidFill>
                <a:latin typeface="+mn-lt"/>
              </a:rPr>
              <a:t>Tratamiento Separación CSV</a:t>
            </a:r>
          </a:p>
          <a:p>
            <a:pPr>
              <a:lnSpc>
                <a:spcPct val="110000"/>
              </a:lnSpc>
            </a:pPr>
            <a:endParaRPr lang="es-CO" sz="3750" b="1" dirty="0">
              <a:solidFill>
                <a:schemeClr val="tx2">
                  <a:lumMod val="50000"/>
                </a:schemeClr>
              </a:solidFill>
              <a:latin typeface="Futura Std Book" panose="020B0502020204020303" pitchFamily="34" charset="77"/>
            </a:endParaRPr>
          </a:p>
        </p:txBody>
      </p:sp>
      <p:sp>
        <p:nvSpPr>
          <p:cNvPr id="8" name="CuadroTexto 7">
            <a:extLst>
              <a:ext uri="{FF2B5EF4-FFF2-40B4-BE49-F238E27FC236}">
                <a16:creationId xmlns:a16="http://schemas.microsoft.com/office/drawing/2014/main" id="{EF0AB9AE-F6D4-6653-C3BF-3FEE147360E3}"/>
              </a:ext>
            </a:extLst>
          </p:cNvPr>
          <p:cNvSpPr txBox="1"/>
          <p:nvPr/>
        </p:nvSpPr>
        <p:spPr>
          <a:xfrm>
            <a:off x="215687" y="961189"/>
            <a:ext cx="876826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CO" dirty="0"/>
              <a:t>Cada zona </a:t>
            </a:r>
            <a:r>
              <a:rPr lang="es-CO" dirty="0" err="1"/>
              <a:t>WiFi</a:t>
            </a:r>
            <a:r>
              <a:rPr lang="es-CO" dirty="0"/>
              <a:t> tiene un comportamiento  diferente se optó por dividir dicho </a:t>
            </a:r>
            <a:r>
              <a:rPr lang="es-CO" dirty="0" err="1"/>
              <a:t>dataset</a:t>
            </a:r>
            <a:r>
              <a:rPr lang="es-CO" dirty="0"/>
              <a:t> en 52 </a:t>
            </a:r>
            <a:r>
              <a:rPr lang="es-CO" dirty="0" err="1"/>
              <a:t>datasets</a:t>
            </a:r>
            <a:r>
              <a:rPr lang="es-CO" dirty="0"/>
              <a:t> .</a:t>
            </a:r>
            <a:r>
              <a:rPr lang="es-CO" dirty="0" err="1"/>
              <a:t>csv</a:t>
            </a:r>
            <a:r>
              <a:rPr lang="es-CO" dirty="0"/>
              <a:t>. </a:t>
            </a:r>
            <a:endParaRPr lang="es-CO" sz="2200" dirty="0">
              <a:solidFill>
                <a:schemeClr val="tx2">
                  <a:lumMod val="50000"/>
                </a:schemeClr>
              </a:solidFill>
            </a:endParaRPr>
          </a:p>
        </p:txBody>
      </p:sp>
      <p:pic>
        <p:nvPicPr>
          <p:cNvPr id="13" name="Imagen 12">
            <a:extLst>
              <a:ext uri="{FF2B5EF4-FFF2-40B4-BE49-F238E27FC236}">
                <a16:creationId xmlns:a16="http://schemas.microsoft.com/office/drawing/2014/main" id="{B8B55EA1-D304-08B7-8DAD-0A896A362A6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rot="10800000" flipH="1">
            <a:off x="8497815" y="1912273"/>
            <a:ext cx="2908797" cy="6146129"/>
          </a:xfrm>
          <a:prstGeom prst="rect">
            <a:avLst/>
          </a:prstGeom>
        </p:spPr>
      </p:pic>
      <p:pic>
        <p:nvPicPr>
          <p:cNvPr id="5" name="Imagen 4">
            <a:extLst>
              <a:ext uri="{FF2B5EF4-FFF2-40B4-BE49-F238E27FC236}">
                <a16:creationId xmlns:a16="http://schemas.microsoft.com/office/drawing/2014/main" id="{23E44DE7-0870-307C-B944-E640F839CD6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810370" y="-91440"/>
            <a:ext cx="3564510" cy="7024947"/>
          </a:xfrm>
          <a:prstGeom prst="rect">
            <a:avLst/>
          </a:prstGeom>
        </p:spPr>
      </p:pic>
      <p:pic>
        <p:nvPicPr>
          <p:cNvPr id="10" name="Gráfico 9">
            <a:extLst>
              <a:ext uri="{FF2B5EF4-FFF2-40B4-BE49-F238E27FC236}">
                <a16:creationId xmlns:a16="http://schemas.microsoft.com/office/drawing/2014/main" id="{389DEE74-E634-8FC2-FD3E-07A4859E1E0D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 rot="16200000">
            <a:off x="10012430" y="-206067"/>
            <a:ext cx="2214082" cy="2334513"/>
          </a:xfrm>
          <a:prstGeom prst="rect">
            <a:avLst/>
          </a:prstGeom>
        </p:spPr>
      </p:pic>
      <p:pic>
        <p:nvPicPr>
          <p:cNvPr id="12" name="Imagen 11">
            <a:extLst>
              <a:ext uri="{FF2B5EF4-FFF2-40B4-BE49-F238E27FC236}">
                <a16:creationId xmlns:a16="http://schemas.microsoft.com/office/drawing/2014/main" id="{918BD726-A26B-A195-E78B-9DE72ED0759B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0682615" y="219393"/>
            <a:ext cx="1160941" cy="1243647"/>
          </a:xfrm>
          <a:prstGeom prst="rect">
            <a:avLst/>
          </a:prstGeom>
        </p:spPr>
      </p:pic>
      <p:graphicFrame>
        <p:nvGraphicFramePr>
          <p:cNvPr id="4" name="Tabla 3">
            <a:extLst>
              <a:ext uri="{FF2B5EF4-FFF2-40B4-BE49-F238E27FC236}">
                <a16:creationId xmlns:a16="http://schemas.microsoft.com/office/drawing/2014/main" id="{E2DF32CD-671C-61DF-14D0-986F1BE312D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935420463"/>
              </p:ext>
            </p:extLst>
          </p:nvPr>
        </p:nvGraphicFramePr>
        <p:xfrm>
          <a:off x="334796" y="1729830"/>
          <a:ext cx="8635503" cy="4575438"/>
        </p:xfrm>
        <a:graphic>
          <a:graphicData uri="http://schemas.openxmlformats.org/drawingml/2006/table">
            <a:tbl>
              <a:tblPr>
                <a:tableStyleId>{F5AB1C69-6EDB-4FF4-983F-18BD219EF322}</a:tableStyleId>
              </a:tblPr>
              <a:tblGrid>
                <a:gridCol w="3042561">
                  <a:extLst>
                    <a:ext uri="{9D8B030D-6E8A-4147-A177-3AD203B41FA5}">
                      <a16:colId xmlns:a16="http://schemas.microsoft.com/office/drawing/2014/main" val="1937581329"/>
                    </a:ext>
                  </a:extLst>
                </a:gridCol>
                <a:gridCol w="2774099">
                  <a:extLst>
                    <a:ext uri="{9D8B030D-6E8A-4147-A177-3AD203B41FA5}">
                      <a16:colId xmlns:a16="http://schemas.microsoft.com/office/drawing/2014/main" val="2665654709"/>
                    </a:ext>
                  </a:extLst>
                </a:gridCol>
                <a:gridCol w="2818843">
                  <a:extLst>
                    <a:ext uri="{9D8B030D-6E8A-4147-A177-3AD203B41FA5}">
                      <a16:colId xmlns:a16="http://schemas.microsoft.com/office/drawing/2014/main" val="787143224"/>
                    </a:ext>
                  </a:extLst>
                </a:gridCol>
              </a:tblGrid>
              <a:tr h="254191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s-CO" sz="1100" b="0" u="none" strike="noStrike">
                          <a:solidFill>
                            <a:srgbClr val="000000"/>
                          </a:solidFill>
                          <a:effectLst/>
                        </a:rPr>
                        <a:t>001_ZW Parque Ingenio</a:t>
                      </a:r>
                      <a:endParaRPr lang="es-CO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s-CO" sz="1100" b="0" u="none" strike="noStrike">
                          <a:solidFill>
                            <a:srgbClr val="000000"/>
                          </a:solidFill>
                          <a:effectLst/>
                        </a:rPr>
                        <a:t>002_ZW Canchas Panamericanas</a:t>
                      </a:r>
                      <a:endParaRPr lang="es-CO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s-MX" sz="1100" b="0" u="none" strike="noStrike">
                          <a:solidFill>
                            <a:srgbClr val="000000"/>
                          </a:solidFill>
                          <a:effectLst/>
                        </a:rPr>
                        <a:t>003_ZW Parque del Perro</a:t>
                      </a:r>
                      <a:endParaRPr lang="es-MX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512163488"/>
                  </a:ext>
                </a:extLst>
              </a:tr>
              <a:tr h="254191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s-MX" sz="1100" b="0" u="none" strike="noStrike">
                          <a:solidFill>
                            <a:srgbClr val="000000"/>
                          </a:solidFill>
                          <a:effectLst/>
                        </a:rPr>
                        <a:t>004_ZW Parque San Nicolas</a:t>
                      </a:r>
                      <a:endParaRPr lang="es-MX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s-MX" sz="1100" b="0" u="none" strike="noStrike">
                          <a:solidFill>
                            <a:srgbClr val="000000"/>
                          </a:solidFill>
                          <a:effectLst/>
                        </a:rPr>
                        <a:t>005_ZW Parque Barrio Obrero</a:t>
                      </a:r>
                      <a:endParaRPr lang="es-MX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s-CO" sz="1100" b="0" u="none" strike="noStrike">
                          <a:solidFill>
                            <a:srgbClr val="000000"/>
                          </a:solidFill>
                          <a:effectLst/>
                        </a:rPr>
                        <a:t>006_ZW Parque Pizamos</a:t>
                      </a:r>
                      <a:endParaRPr lang="es-CO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901511203"/>
                  </a:ext>
                </a:extLst>
              </a:tr>
              <a:tr h="254191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pt-BR" sz="1100" b="0" u="none" strike="noStrike">
                          <a:solidFill>
                            <a:srgbClr val="000000"/>
                          </a:solidFill>
                          <a:effectLst/>
                        </a:rPr>
                        <a:t>007_ZW Parque Alfonso Lopez</a:t>
                      </a:r>
                      <a:endParaRPr lang="pt-BR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s-CO" sz="1100" b="0" u="none" strike="noStrike">
                          <a:solidFill>
                            <a:srgbClr val="000000"/>
                          </a:solidFill>
                          <a:effectLst/>
                        </a:rPr>
                        <a:t>008_ZW Parque Antonio Nariño</a:t>
                      </a:r>
                      <a:endParaRPr lang="es-CO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s-CO" sz="1100" b="0" u="none" strike="noStrike">
                          <a:solidFill>
                            <a:srgbClr val="000000"/>
                          </a:solidFill>
                          <a:effectLst/>
                        </a:rPr>
                        <a:t>009_ZW Parque Santa Rosa Poblado</a:t>
                      </a:r>
                      <a:endParaRPr lang="es-CO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550769684"/>
                  </a:ext>
                </a:extLst>
              </a:tr>
              <a:tr h="254191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s-CO" sz="1100" b="0" u="none" strike="noStrike">
                          <a:solidFill>
                            <a:srgbClr val="000000"/>
                          </a:solidFill>
                          <a:effectLst/>
                        </a:rPr>
                        <a:t>010_ZW Polideportivo Los Naranjos</a:t>
                      </a:r>
                      <a:endParaRPr lang="es-CO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s-CO" sz="1100" b="0" u="none" strike="noStrike">
                          <a:solidFill>
                            <a:srgbClr val="000000"/>
                          </a:solidFill>
                          <a:effectLst/>
                        </a:rPr>
                        <a:t>011_ZW Parque Llano Verde</a:t>
                      </a:r>
                      <a:endParaRPr lang="es-CO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s-CO" sz="1100" b="0" u="none" strike="noStrike">
                          <a:solidFill>
                            <a:srgbClr val="000000"/>
                          </a:solidFill>
                          <a:effectLst/>
                        </a:rPr>
                        <a:t>012_ZW Centro Cultural Comuna 13</a:t>
                      </a:r>
                      <a:endParaRPr lang="es-CO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995901077"/>
                  </a:ext>
                </a:extLst>
              </a:tr>
              <a:tr h="254191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s-CO" sz="1100" b="0" u="none" strike="noStrike">
                          <a:solidFill>
                            <a:srgbClr val="000000"/>
                          </a:solidFill>
                          <a:effectLst/>
                        </a:rPr>
                        <a:t>013_ZW Conjunto Habitacional Ramali</a:t>
                      </a:r>
                      <a:endParaRPr lang="es-CO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pt-BR" sz="1100" b="0" u="none" strike="noStrike">
                          <a:solidFill>
                            <a:srgbClr val="000000"/>
                          </a:solidFill>
                          <a:effectLst/>
                        </a:rPr>
                        <a:t>014_ZW Parque Skate Board</a:t>
                      </a:r>
                      <a:endParaRPr lang="pt-BR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pt-BR" sz="1100" b="0" u="none" strike="noStrike">
                          <a:solidFill>
                            <a:srgbClr val="000000"/>
                          </a:solidFill>
                          <a:effectLst/>
                        </a:rPr>
                        <a:t>015_ZW Parque Alfonso Barberena</a:t>
                      </a:r>
                      <a:endParaRPr lang="pt-BR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130437768"/>
                  </a:ext>
                </a:extLst>
              </a:tr>
              <a:tr h="254191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s-MX" sz="1100" b="0" u="none" strike="noStrike">
                          <a:solidFill>
                            <a:srgbClr val="000000"/>
                          </a:solidFill>
                          <a:effectLst/>
                        </a:rPr>
                        <a:t>016_ZW Polideportivo Los Farallones</a:t>
                      </a:r>
                      <a:endParaRPr lang="es-MX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s-MX" sz="1100" b="0" u="none" strike="noStrike">
                          <a:solidFill>
                            <a:srgbClr val="000000"/>
                          </a:solidFill>
                          <a:effectLst/>
                        </a:rPr>
                        <a:t>017_ZW Parque Los Guerreros</a:t>
                      </a:r>
                      <a:endParaRPr lang="es-MX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s-CO" sz="1100" b="0" u="none" strike="noStrike">
                          <a:solidFill>
                            <a:srgbClr val="000000"/>
                          </a:solidFill>
                          <a:effectLst/>
                        </a:rPr>
                        <a:t>018_ZW Museo La Tertulia</a:t>
                      </a:r>
                      <a:endParaRPr lang="es-CO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527840590"/>
                  </a:ext>
                </a:extLst>
              </a:tr>
              <a:tr h="254191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s-CO" sz="1100" b="0" u="none" strike="noStrike">
                          <a:solidFill>
                            <a:srgbClr val="000000"/>
                          </a:solidFill>
                          <a:effectLst/>
                        </a:rPr>
                        <a:t>019_ZW Parque San Marino</a:t>
                      </a:r>
                      <a:endParaRPr lang="es-CO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s-MX" sz="1100" b="0" u="none" strike="noStrike">
                          <a:solidFill>
                            <a:srgbClr val="000000"/>
                          </a:solidFill>
                          <a:effectLst/>
                        </a:rPr>
                        <a:t>020_ZW Parque La Flora</a:t>
                      </a:r>
                      <a:endParaRPr lang="es-MX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pt-BR" sz="1100" b="0" u="none" strike="noStrike">
                          <a:solidFill>
                            <a:srgbClr val="000000"/>
                          </a:solidFill>
                          <a:effectLst/>
                        </a:rPr>
                        <a:t>021_ZW Parque Alfonso Bonilla Aragón</a:t>
                      </a:r>
                      <a:endParaRPr lang="pt-BR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145953696"/>
                  </a:ext>
                </a:extLst>
              </a:tr>
              <a:tr h="254191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s-MX" sz="1100" b="0" u="none" strike="noStrike">
                          <a:solidFill>
                            <a:srgbClr val="000000"/>
                          </a:solidFill>
                          <a:effectLst/>
                        </a:rPr>
                        <a:t>022_ZW Parque Yo Amo a Siloé</a:t>
                      </a:r>
                      <a:endParaRPr lang="es-MX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s-CO" sz="1100" b="0" u="none" strike="noStrike">
                          <a:solidFill>
                            <a:srgbClr val="000000"/>
                          </a:solidFill>
                          <a:effectLst/>
                        </a:rPr>
                        <a:t>023_ZW Centro Cultural Vista Hermosa</a:t>
                      </a:r>
                      <a:endParaRPr lang="es-CO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s-CO" sz="1100" b="0" u="none" strike="noStrike">
                          <a:solidFill>
                            <a:srgbClr val="000000"/>
                          </a:solidFill>
                          <a:effectLst/>
                        </a:rPr>
                        <a:t>024_ZW Parque Mutis</a:t>
                      </a:r>
                      <a:endParaRPr lang="es-CO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443673667"/>
                  </a:ext>
                </a:extLst>
              </a:tr>
              <a:tr h="254191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s-MX" sz="1100" b="0" u="none" strike="noStrike">
                          <a:solidFill>
                            <a:srgbClr val="000000"/>
                          </a:solidFill>
                          <a:effectLst/>
                        </a:rPr>
                        <a:t>025_ZW Cancha Los Azules</a:t>
                      </a:r>
                      <a:endParaRPr lang="es-MX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s-MX" sz="1100" b="0" u="none" strike="noStrike">
                          <a:solidFill>
                            <a:srgbClr val="000000"/>
                          </a:solidFill>
                          <a:effectLst/>
                        </a:rPr>
                        <a:t>026_ZW Parque La Orqueta</a:t>
                      </a:r>
                      <a:endParaRPr lang="es-MX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s-MX" sz="1100" b="0" u="none" strike="noStrike">
                          <a:solidFill>
                            <a:srgbClr val="000000"/>
                          </a:solidFill>
                          <a:effectLst/>
                        </a:rPr>
                        <a:t>027_ZW Parque Villa Colombia</a:t>
                      </a:r>
                      <a:endParaRPr lang="es-MX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879187603"/>
                  </a:ext>
                </a:extLst>
              </a:tr>
              <a:tr h="254191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s-CO" sz="1100" b="0" u="none" strike="noStrike">
                          <a:solidFill>
                            <a:srgbClr val="000000"/>
                          </a:solidFill>
                          <a:effectLst/>
                        </a:rPr>
                        <a:t>028_ZW Parque Colseguros</a:t>
                      </a:r>
                      <a:endParaRPr lang="es-CO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pt-BR" sz="1100" b="0" u="none" strike="noStrike">
                          <a:solidFill>
                            <a:srgbClr val="000000"/>
                          </a:solidFill>
                          <a:effectLst/>
                        </a:rPr>
                        <a:t>029_ZW Parque India Elena</a:t>
                      </a:r>
                      <a:endParaRPr lang="pt-BR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s-CO" sz="1100" b="0" u="none" strike="noStrike">
                          <a:solidFill>
                            <a:srgbClr val="000000"/>
                          </a:solidFill>
                          <a:effectLst/>
                        </a:rPr>
                        <a:t>030_ZW Parque Tequendama</a:t>
                      </a:r>
                      <a:endParaRPr lang="es-CO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425508945"/>
                  </a:ext>
                </a:extLst>
              </a:tr>
              <a:tr h="254191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s-CO" sz="1100" b="0" u="none" strike="noStrike">
                          <a:solidFill>
                            <a:srgbClr val="000000"/>
                          </a:solidFill>
                          <a:effectLst/>
                        </a:rPr>
                        <a:t>031_ZW Parque Sector Amarillo Skate Park</a:t>
                      </a:r>
                      <a:endParaRPr lang="es-CO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it-IT" sz="1100" b="0" u="none" strike="noStrike">
                          <a:solidFill>
                            <a:srgbClr val="000000"/>
                          </a:solidFill>
                          <a:effectLst/>
                        </a:rPr>
                        <a:t>032_ZW Biblioteca Daniel Guillard</a:t>
                      </a:r>
                      <a:endParaRPr lang="it-IT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s-CO" sz="1100" b="0" u="none" strike="noStrike">
                          <a:solidFill>
                            <a:srgbClr val="000000"/>
                          </a:solidFill>
                          <a:effectLst/>
                        </a:rPr>
                        <a:t>033_ZW Polideportivo Torres Comfandi</a:t>
                      </a:r>
                      <a:endParaRPr lang="es-CO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384656605"/>
                  </a:ext>
                </a:extLst>
              </a:tr>
              <a:tr h="254191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s-CO" sz="1100" b="0" u="none" strike="noStrike">
                          <a:solidFill>
                            <a:srgbClr val="000000"/>
                          </a:solidFill>
                          <a:effectLst/>
                        </a:rPr>
                        <a:t>034_ZW Parque Junin</a:t>
                      </a:r>
                      <a:endParaRPr lang="es-CO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pt-BR" sz="1100" b="0" u="none" strike="noStrike">
                          <a:solidFill>
                            <a:srgbClr val="000000"/>
                          </a:solidFill>
                          <a:effectLst/>
                        </a:rPr>
                        <a:t>035_ZW Parque Mariano Ramos</a:t>
                      </a:r>
                      <a:endParaRPr lang="pt-BR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pt-BR" sz="1100" b="0" u="none" strike="noStrike">
                          <a:solidFill>
                            <a:srgbClr val="000000"/>
                          </a:solidFill>
                          <a:effectLst/>
                        </a:rPr>
                        <a:t>036_ZW Polideportivo Ricardo Balcazar</a:t>
                      </a:r>
                      <a:endParaRPr lang="pt-BR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194836873"/>
                  </a:ext>
                </a:extLst>
              </a:tr>
              <a:tr h="254191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it-IT" sz="1100" b="0" u="none" strike="noStrike">
                          <a:solidFill>
                            <a:srgbClr val="000000"/>
                          </a:solidFill>
                          <a:effectLst/>
                        </a:rPr>
                        <a:t>037_ZW Polideportivo San Benito</a:t>
                      </a:r>
                      <a:endParaRPr lang="it-IT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pt-BR" sz="11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038_ZW Parque Santa Anita</a:t>
                      </a:r>
                      <a:endParaRPr lang="pt-BR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s-CO" sz="1100" b="0" u="none" strike="noStrike">
                          <a:solidFill>
                            <a:srgbClr val="000000"/>
                          </a:solidFill>
                          <a:effectLst/>
                        </a:rPr>
                        <a:t>039_ZW Sebastian Belalcazar</a:t>
                      </a:r>
                      <a:endParaRPr lang="es-CO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277450073"/>
                  </a:ext>
                </a:extLst>
              </a:tr>
              <a:tr h="254191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s-CO" sz="1100" b="0" u="none" strike="noStrike">
                          <a:solidFill>
                            <a:srgbClr val="000000"/>
                          </a:solidFill>
                          <a:effectLst/>
                        </a:rPr>
                        <a:t>040_ZW Parque del Mico</a:t>
                      </a:r>
                      <a:endParaRPr lang="es-CO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s-CO" sz="1100" b="0" u="none" strike="noStrike">
                          <a:solidFill>
                            <a:srgbClr val="000000"/>
                          </a:solidFill>
                          <a:effectLst/>
                        </a:rPr>
                        <a:t>041_ZW Parque Cien Palos</a:t>
                      </a:r>
                      <a:endParaRPr lang="es-CO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s-CO" sz="1100" b="0" u="none" strike="noStrike">
                          <a:solidFill>
                            <a:srgbClr val="000000"/>
                          </a:solidFill>
                          <a:effectLst/>
                        </a:rPr>
                        <a:t>042_ZW Cerro 3 Cruces</a:t>
                      </a:r>
                      <a:endParaRPr lang="es-CO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599240092"/>
                  </a:ext>
                </a:extLst>
              </a:tr>
              <a:tr h="254191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s-CO" sz="1100" b="0" u="none" strike="noStrike">
                          <a:solidFill>
                            <a:srgbClr val="000000"/>
                          </a:solidFill>
                          <a:effectLst/>
                        </a:rPr>
                        <a:t>043_ZW Parque Calima</a:t>
                      </a:r>
                      <a:endParaRPr lang="es-CO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s-CO" sz="1100" b="0" u="none" strike="noStrike">
                          <a:solidFill>
                            <a:srgbClr val="000000"/>
                          </a:solidFill>
                          <a:effectLst/>
                        </a:rPr>
                        <a:t>044_ZW Parque La Merced</a:t>
                      </a:r>
                      <a:endParaRPr lang="es-CO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s-CO" sz="1100" b="0" u="none" strike="noStrike">
                          <a:solidFill>
                            <a:srgbClr val="000000"/>
                          </a:solidFill>
                          <a:effectLst/>
                        </a:rPr>
                        <a:t>045_ZW Puente de Colores</a:t>
                      </a:r>
                      <a:endParaRPr lang="es-CO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934638850"/>
                  </a:ext>
                </a:extLst>
              </a:tr>
              <a:tr h="254191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it-IT" sz="1100" b="0" u="none" strike="noStrike">
                          <a:solidFill>
                            <a:srgbClr val="000000"/>
                          </a:solidFill>
                          <a:effectLst/>
                        </a:rPr>
                        <a:t>046_ZW Polideportivo Laureano Gomez</a:t>
                      </a:r>
                      <a:endParaRPr lang="it-IT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s-CO" sz="1100" b="0" u="none" strike="noStrike">
                          <a:solidFill>
                            <a:srgbClr val="000000"/>
                          </a:solidFill>
                          <a:effectLst/>
                        </a:rPr>
                        <a:t>047_ZW El Diamante</a:t>
                      </a:r>
                      <a:endParaRPr lang="es-CO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s-CO" sz="1100" b="0" u="none" strike="noStrike">
                          <a:solidFill>
                            <a:srgbClr val="000000"/>
                          </a:solidFill>
                          <a:effectLst/>
                        </a:rPr>
                        <a:t>048_ZW Polideportivo Petecuy</a:t>
                      </a:r>
                      <a:endParaRPr lang="es-CO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814982659"/>
                  </a:ext>
                </a:extLst>
              </a:tr>
              <a:tr h="254191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s-CO" sz="1100" b="0" u="none" strike="noStrike">
                          <a:solidFill>
                            <a:srgbClr val="000000"/>
                          </a:solidFill>
                          <a:effectLst/>
                        </a:rPr>
                        <a:t>049_ZW Comuna 16</a:t>
                      </a:r>
                      <a:endParaRPr lang="es-CO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s-CO" sz="1100" b="0" u="none" strike="noStrike">
                          <a:solidFill>
                            <a:srgbClr val="000000"/>
                          </a:solidFill>
                          <a:effectLst/>
                        </a:rPr>
                        <a:t>050_La Castilla</a:t>
                      </a:r>
                      <a:endParaRPr lang="es-CO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s-CO" sz="1100" b="0" u="none" strike="noStrike">
                          <a:solidFill>
                            <a:srgbClr val="000000"/>
                          </a:solidFill>
                          <a:effectLst/>
                        </a:rPr>
                        <a:t>051_La Elvira</a:t>
                      </a:r>
                      <a:endParaRPr lang="es-CO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923034430"/>
                  </a:ext>
                </a:extLst>
              </a:tr>
              <a:tr h="254191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s-CO" sz="1100" b="0" u="none" strike="noStrike">
                          <a:solidFill>
                            <a:srgbClr val="000000"/>
                          </a:solidFill>
                          <a:effectLst/>
                        </a:rPr>
                        <a:t>052_El Saladito</a:t>
                      </a:r>
                      <a:endParaRPr lang="es-CO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s-CO" sz="1100" b="0" u="none" strike="noStrike">
                          <a:solidFill>
                            <a:srgbClr val="000000"/>
                          </a:solidFill>
                          <a:effectLst/>
                        </a:rPr>
                        <a:t> </a:t>
                      </a:r>
                      <a:endParaRPr lang="es-CO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s-CO" sz="11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 </a:t>
                      </a:r>
                      <a:endParaRPr lang="es-CO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46565975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01295778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281F7FC8-6BBF-833D-3AF5-777ACDAA962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ítulo 1">
            <a:extLst>
              <a:ext uri="{FF2B5EF4-FFF2-40B4-BE49-F238E27FC236}">
                <a16:creationId xmlns:a16="http://schemas.microsoft.com/office/drawing/2014/main" id="{74C97626-FCAD-6C5D-3D55-57385C3DE2BD}"/>
              </a:ext>
            </a:extLst>
          </p:cNvPr>
          <p:cNvSpPr txBox="1">
            <a:spLocks/>
          </p:cNvSpPr>
          <p:nvPr/>
        </p:nvSpPr>
        <p:spPr>
          <a:xfrm>
            <a:off x="2291625" y="14677"/>
            <a:ext cx="6392357" cy="768643"/>
          </a:xfrm>
          <a:prstGeom prst="rect">
            <a:avLst/>
          </a:prstGeom>
        </p:spPr>
        <p:txBody>
          <a:bodyPr vert="horz" lIns="68580" tIns="34290" rIns="68580" bIns="34290" rtlCol="0" anchor="ctr">
            <a:normAutofit fontScale="25000" lnSpcReduction="200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>
              <a:lnSpc>
                <a:spcPct val="110000"/>
              </a:lnSpc>
            </a:pPr>
            <a:endParaRPr lang="es-CO" sz="3750" b="1" dirty="0">
              <a:solidFill>
                <a:schemeClr val="tx2">
                  <a:lumMod val="50000"/>
                </a:schemeClr>
              </a:solidFill>
              <a:latin typeface="+mn-lt"/>
            </a:endParaRPr>
          </a:p>
          <a:p>
            <a:pPr algn="ctr">
              <a:lnSpc>
                <a:spcPct val="110000"/>
              </a:lnSpc>
            </a:pPr>
            <a:r>
              <a:rPr lang="es-CO" sz="18500" b="1" dirty="0">
                <a:solidFill>
                  <a:schemeClr val="tx2">
                    <a:lumMod val="50000"/>
                  </a:schemeClr>
                </a:solidFill>
                <a:latin typeface="+mn-lt"/>
              </a:rPr>
              <a:t>Tratamiento de Variables</a:t>
            </a:r>
          </a:p>
          <a:p>
            <a:pPr>
              <a:lnSpc>
                <a:spcPct val="110000"/>
              </a:lnSpc>
            </a:pPr>
            <a:endParaRPr lang="es-CO" sz="3750" b="1" dirty="0">
              <a:solidFill>
                <a:schemeClr val="tx2">
                  <a:lumMod val="50000"/>
                </a:schemeClr>
              </a:solidFill>
              <a:latin typeface="Futura Std Book" panose="020B0502020204020303" pitchFamily="34" charset="77"/>
            </a:endParaRPr>
          </a:p>
        </p:txBody>
      </p:sp>
      <p:sp>
        <p:nvSpPr>
          <p:cNvPr id="8" name="CuadroTexto 7">
            <a:extLst>
              <a:ext uri="{FF2B5EF4-FFF2-40B4-BE49-F238E27FC236}">
                <a16:creationId xmlns:a16="http://schemas.microsoft.com/office/drawing/2014/main" id="{3B43DCAE-FF4F-2105-C6F5-5D5E0E79E7AF}"/>
              </a:ext>
            </a:extLst>
          </p:cNvPr>
          <p:cNvSpPr txBox="1"/>
          <p:nvPr/>
        </p:nvSpPr>
        <p:spPr>
          <a:xfrm>
            <a:off x="0" y="684805"/>
            <a:ext cx="12868883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MX" dirty="0"/>
              <a:t> Se utilizo </a:t>
            </a:r>
            <a:r>
              <a:rPr lang="es-MX" dirty="0" err="1"/>
              <a:t>One</a:t>
            </a:r>
            <a:r>
              <a:rPr lang="es-MX" dirty="0"/>
              <a:t> Hot </a:t>
            </a:r>
            <a:r>
              <a:rPr lang="es-MX" dirty="0" err="1"/>
              <a:t>Encoding</a:t>
            </a:r>
            <a:r>
              <a:rPr lang="es-MX" dirty="0"/>
              <a:t> para las variables LABORAL, FIN_DE_SEMANA y FESTIVO</a:t>
            </a:r>
            <a:br>
              <a:rPr lang="es-MX" dirty="0"/>
            </a:br>
            <a:r>
              <a:rPr lang="es-MX" dirty="0"/>
              <a:t>Codificación ordinal para la variable DIA_SEMANA</a:t>
            </a:r>
            <a:endParaRPr lang="es-CO" b="1" dirty="0"/>
          </a:p>
        </p:txBody>
      </p:sp>
      <p:pic>
        <p:nvPicPr>
          <p:cNvPr id="13" name="Imagen 12">
            <a:extLst>
              <a:ext uri="{FF2B5EF4-FFF2-40B4-BE49-F238E27FC236}">
                <a16:creationId xmlns:a16="http://schemas.microsoft.com/office/drawing/2014/main" id="{40E0033D-A3C4-E92B-DDDB-13D13DB3E2D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rot="10800000" flipH="1">
            <a:off x="8497815" y="1912273"/>
            <a:ext cx="2908797" cy="6146129"/>
          </a:xfrm>
          <a:prstGeom prst="rect">
            <a:avLst/>
          </a:prstGeom>
        </p:spPr>
      </p:pic>
      <p:pic>
        <p:nvPicPr>
          <p:cNvPr id="10" name="Gráfico 9">
            <a:extLst>
              <a:ext uri="{FF2B5EF4-FFF2-40B4-BE49-F238E27FC236}">
                <a16:creationId xmlns:a16="http://schemas.microsoft.com/office/drawing/2014/main" id="{1886F0D6-CDF4-6432-1172-A25AFD446DC9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 rot="16200000">
            <a:off x="10012430" y="-206067"/>
            <a:ext cx="2214082" cy="2334513"/>
          </a:xfrm>
          <a:prstGeom prst="rect">
            <a:avLst/>
          </a:prstGeom>
        </p:spPr>
      </p:pic>
      <p:pic>
        <p:nvPicPr>
          <p:cNvPr id="12" name="Imagen 11">
            <a:extLst>
              <a:ext uri="{FF2B5EF4-FFF2-40B4-BE49-F238E27FC236}">
                <a16:creationId xmlns:a16="http://schemas.microsoft.com/office/drawing/2014/main" id="{BD8D778F-2F1D-DD3B-308B-6A986BE3AED3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682615" y="219393"/>
            <a:ext cx="1160941" cy="1243647"/>
          </a:xfrm>
          <a:prstGeom prst="rect">
            <a:avLst/>
          </a:prstGeom>
        </p:spPr>
      </p:pic>
      <p:graphicFrame>
        <p:nvGraphicFramePr>
          <p:cNvPr id="2" name="Tabla 1">
            <a:extLst>
              <a:ext uri="{FF2B5EF4-FFF2-40B4-BE49-F238E27FC236}">
                <a16:creationId xmlns:a16="http://schemas.microsoft.com/office/drawing/2014/main" id="{60722FD1-47B6-9310-51C7-F32F2D337FA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136466074"/>
              </p:ext>
            </p:extLst>
          </p:nvPr>
        </p:nvGraphicFramePr>
        <p:xfrm>
          <a:off x="136478" y="2321176"/>
          <a:ext cx="11859903" cy="4175160"/>
        </p:xfrm>
        <a:graphic>
          <a:graphicData uri="http://schemas.openxmlformats.org/drawingml/2006/table">
            <a:tbl>
              <a:tblPr bandRow="1">
                <a:tableStyleId>{5C22544A-7EE6-4342-B048-85BDC9FD1C3A}</a:tableStyleId>
              </a:tblPr>
              <a:tblGrid>
                <a:gridCol w="1730667">
                  <a:extLst>
                    <a:ext uri="{9D8B030D-6E8A-4147-A177-3AD203B41FA5}">
                      <a16:colId xmlns:a16="http://schemas.microsoft.com/office/drawing/2014/main" val="3174234106"/>
                    </a:ext>
                  </a:extLst>
                </a:gridCol>
                <a:gridCol w="1382817">
                  <a:extLst>
                    <a:ext uri="{9D8B030D-6E8A-4147-A177-3AD203B41FA5}">
                      <a16:colId xmlns:a16="http://schemas.microsoft.com/office/drawing/2014/main" val="628354059"/>
                    </a:ext>
                  </a:extLst>
                </a:gridCol>
                <a:gridCol w="1021498">
                  <a:extLst>
                    <a:ext uri="{9D8B030D-6E8A-4147-A177-3AD203B41FA5}">
                      <a16:colId xmlns:a16="http://schemas.microsoft.com/office/drawing/2014/main" val="1175968436"/>
                    </a:ext>
                  </a:extLst>
                </a:gridCol>
                <a:gridCol w="1676775">
                  <a:extLst>
                    <a:ext uri="{9D8B030D-6E8A-4147-A177-3AD203B41FA5}">
                      <a16:colId xmlns:a16="http://schemas.microsoft.com/office/drawing/2014/main" val="2806426977"/>
                    </a:ext>
                  </a:extLst>
                </a:gridCol>
                <a:gridCol w="940660">
                  <a:extLst>
                    <a:ext uri="{9D8B030D-6E8A-4147-A177-3AD203B41FA5}">
                      <a16:colId xmlns:a16="http://schemas.microsoft.com/office/drawing/2014/main" val="2186261917"/>
                    </a:ext>
                  </a:extLst>
                </a:gridCol>
                <a:gridCol w="1767410">
                  <a:extLst>
                    <a:ext uri="{9D8B030D-6E8A-4147-A177-3AD203B41FA5}">
                      <a16:colId xmlns:a16="http://schemas.microsoft.com/office/drawing/2014/main" val="1540950978"/>
                    </a:ext>
                  </a:extLst>
                </a:gridCol>
                <a:gridCol w="2200995">
                  <a:extLst>
                    <a:ext uri="{9D8B030D-6E8A-4147-A177-3AD203B41FA5}">
                      <a16:colId xmlns:a16="http://schemas.microsoft.com/office/drawing/2014/main" val="1496991287"/>
                    </a:ext>
                  </a:extLst>
                </a:gridCol>
                <a:gridCol w="1139081">
                  <a:extLst>
                    <a:ext uri="{9D8B030D-6E8A-4147-A177-3AD203B41FA5}">
                      <a16:colId xmlns:a16="http://schemas.microsoft.com/office/drawing/2014/main" val="273135840"/>
                    </a:ext>
                  </a:extLst>
                </a:gridCol>
              </a:tblGrid>
              <a:tr h="75912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CO" sz="1600" b="1" dirty="0">
                          <a:effectLst/>
                        </a:rPr>
                        <a:t>FECHA_CONEXION</a:t>
                      </a:r>
                      <a:endParaRPr lang="es-CO" sz="1600" b="1" dirty="0">
                        <a:effectLst/>
                        <a:latin typeface="Nimbus Roman No9 L"/>
                        <a:ea typeface="Nimbus Roman No9 L"/>
                        <a:cs typeface="Nimbus Roman No9 L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CO" sz="1600" b="1" dirty="0">
                          <a:effectLst/>
                        </a:rPr>
                        <a:t>DIA_SEMANA</a:t>
                      </a:r>
                      <a:endParaRPr lang="es-CO" sz="1600" b="1" dirty="0">
                        <a:effectLst/>
                        <a:latin typeface="Nimbus Roman No9 L"/>
                        <a:ea typeface="Nimbus Roman No9 L"/>
                        <a:cs typeface="Nimbus Roman No9 L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CO" sz="1600" b="1" dirty="0">
                          <a:effectLst/>
                        </a:rPr>
                        <a:t>LABORAL</a:t>
                      </a:r>
                      <a:endParaRPr lang="es-CO" sz="1600" b="1" dirty="0">
                        <a:effectLst/>
                        <a:latin typeface="Nimbus Roman No9 L"/>
                        <a:ea typeface="Nimbus Roman No9 L"/>
                        <a:cs typeface="Nimbus Roman No9 L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CO" sz="1600" b="1" dirty="0">
                          <a:effectLst/>
                        </a:rPr>
                        <a:t>FIN_DE_SEMANA</a:t>
                      </a:r>
                      <a:endParaRPr lang="es-CO" sz="1600" b="1" dirty="0">
                        <a:effectLst/>
                        <a:latin typeface="Nimbus Roman No9 L"/>
                        <a:ea typeface="Nimbus Roman No9 L"/>
                        <a:cs typeface="Nimbus Roman No9 L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CO" sz="1600" b="1" dirty="0">
                          <a:effectLst/>
                        </a:rPr>
                        <a:t>FESTIVO</a:t>
                      </a:r>
                      <a:endParaRPr lang="es-CO" sz="1600" b="1" dirty="0">
                        <a:effectLst/>
                        <a:latin typeface="Nimbus Roman No9 L"/>
                        <a:ea typeface="Nimbus Roman No9 L"/>
                        <a:cs typeface="Nimbus Roman No9 L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CO" sz="1600" b="1" dirty="0">
                          <a:effectLst/>
                        </a:rPr>
                        <a:t>PORCENTAJE_USO</a:t>
                      </a:r>
                      <a:endParaRPr lang="es-CO" sz="1600" b="1" dirty="0">
                        <a:effectLst/>
                        <a:latin typeface="Nimbus Roman No9 L"/>
                        <a:ea typeface="Nimbus Roman No9 L"/>
                        <a:cs typeface="Nimbus Roman No9 L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CO" sz="1600" b="1" dirty="0">
                          <a:effectLst/>
                        </a:rPr>
                        <a:t>NUMERO_CONEXIONES</a:t>
                      </a:r>
                      <a:endParaRPr lang="es-CO" sz="1600" b="1" dirty="0">
                        <a:effectLst/>
                        <a:latin typeface="Nimbus Roman No9 L"/>
                        <a:ea typeface="Nimbus Roman No9 L"/>
                        <a:cs typeface="Nimbus Roman No9 L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CO" sz="1600" b="1" dirty="0">
                          <a:effectLst/>
                        </a:rPr>
                        <a:t>USAGE_KB</a:t>
                      </a:r>
                      <a:endParaRPr lang="es-CO" sz="1600" b="1" dirty="0">
                        <a:effectLst/>
                        <a:latin typeface="Nimbus Roman No9 L"/>
                        <a:ea typeface="Nimbus Roman No9 L"/>
                        <a:cs typeface="Nimbus Roman No9 L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4144103568"/>
                  </a:ext>
                </a:extLst>
              </a:tr>
              <a:tr h="379560">
                <a:tc>
                  <a:txBody>
                    <a:bodyPr/>
                    <a:lstStyle/>
                    <a:p>
                      <a:pPr algn="just">
                        <a:buNone/>
                      </a:pPr>
                      <a:r>
                        <a:rPr lang="es-CO" sz="1800">
                          <a:effectLst/>
                        </a:rPr>
                        <a:t>1/01/2024</a:t>
                      </a:r>
                      <a:endParaRPr lang="es-CO" sz="1800">
                        <a:effectLst/>
                        <a:latin typeface="Nimbus Roman No9 L"/>
                        <a:ea typeface="Nimbus Roman No9 L"/>
                        <a:cs typeface="Nimbus Roman No9 L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just">
                        <a:buNone/>
                      </a:pPr>
                      <a:r>
                        <a:rPr lang="es-CO" sz="1800">
                          <a:effectLst/>
                        </a:rPr>
                        <a:t>0</a:t>
                      </a:r>
                      <a:endParaRPr lang="es-CO" sz="1800">
                        <a:effectLst/>
                        <a:latin typeface="Nimbus Roman No9 L"/>
                        <a:ea typeface="Nimbus Roman No9 L"/>
                        <a:cs typeface="Nimbus Roman No9 L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just">
                        <a:buNone/>
                      </a:pPr>
                      <a:r>
                        <a:rPr lang="es-CO" sz="1800">
                          <a:effectLst/>
                        </a:rPr>
                        <a:t>0</a:t>
                      </a:r>
                      <a:endParaRPr lang="es-CO" sz="1800">
                        <a:effectLst/>
                        <a:latin typeface="Nimbus Roman No9 L"/>
                        <a:ea typeface="Nimbus Roman No9 L"/>
                        <a:cs typeface="Nimbus Roman No9 L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just">
                        <a:buNone/>
                      </a:pPr>
                      <a:r>
                        <a:rPr lang="es-CO" sz="1800">
                          <a:effectLst/>
                        </a:rPr>
                        <a:t>0</a:t>
                      </a:r>
                      <a:endParaRPr lang="es-CO" sz="1800">
                        <a:effectLst/>
                        <a:latin typeface="Nimbus Roman No9 L"/>
                        <a:ea typeface="Nimbus Roman No9 L"/>
                        <a:cs typeface="Nimbus Roman No9 L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just">
                        <a:buNone/>
                      </a:pPr>
                      <a:r>
                        <a:rPr lang="es-CO" sz="1800">
                          <a:effectLst/>
                        </a:rPr>
                        <a:t>1</a:t>
                      </a:r>
                      <a:endParaRPr lang="es-CO" sz="1800">
                        <a:effectLst/>
                        <a:latin typeface="Nimbus Roman No9 L"/>
                        <a:ea typeface="Nimbus Roman No9 L"/>
                        <a:cs typeface="Nimbus Roman No9 L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just">
                        <a:buNone/>
                      </a:pPr>
                      <a:r>
                        <a:rPr lang="es-CO" sz="1800">
                          <a:effectLst/>
                        </a:rPr>
                        <a:t>1233</a:t>
                      </a:r>
                      <a:endParaRPr lang="es-CO" sz="1800">
                        <a:effectLst/>
                        <a:latin typeface="Nimbus Roman No9 L"/>
                        <a:ea typeface="Nimbus Roman No9 L"/>
                        <a:cs typeface="Nimbus Roman No9 L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just">
                        <a:buNone/>
                      </a:pPr>
                      <a:r>
                        <a:rPr lang="es-CO" sz="1800">
                          <a:effectLst/>
                        </a:rPr>
                        <a:t>350</a:t>
                      </a:r>
                      <a:endParaRPr lang="es-CO" sz="1800">
                        <a:effectLst/>
                        <a:latin typeface="Nimbus Roman No9 L"/>
                        <a:ea typeface="Nimbus Roman No9 L"/>
                        <a:cs typeface="Nimbus Roman No9 L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just">
                        <a:buNone/>
                      </a:pPr>
                      <a:r>
                        <a:rPr lang="es-CO" sz="1800" dirty="0">
                          <a:effectLst/>
                        </a:rPr>
                        <a:t>10774630</a:t>
                      </a:r>
                      <a:endParaRPr lang="es-CO" sz="1800" dirty="0">
                        <a:effectLst/>
                        <a:latin typeface="Nimbus Roman No9 L"/>
                        <a:ea typeface="Nimbus Roman No9 L"/>
                        <a:cs typeface="Nimbus Roman No9 L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90533893"/>
                  </a:ext>
                </a:extLst>
              </a:tr>
              <a:tr h="379560">
                <a:tc>
                  <a:txBody>
                    <a:bodyPr/>
                    <a:lstStyle/>
                    <a:p>
                      <a:pPr algn="just">
                        <a:buNone/>
                      </a:pPr>
                      <a:r>
                        <a:rPr lang="es-CO" sz="1800">
                          <a:effectLst/>
                        </a:rPr>
                        <a:t>2/01/2024</a:t>
                      </a:r>
                      <a:endParaRPr lang="es-CO" sz="1800">
                        <a:effectLst/>
                        <a:latin typeface="Nimbus Roman No9 L"/>
                        <a:ea typeface="Nimbus Roman No9 L"/>
                        <a:cs typeface="Nimbus Roman No9 L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just">
                        <a:buNone/>
                      </a:pPr>
                      <a:r>
                        <a:rPr lang="es-CO" sz="1800">
                          <a:effectLst/>
                        </a:rPr>
                        <a:t>1</a:t>
                      </a:r>
                      <a:endParaRPr lang="es-CO" sz="1800">
                        <a:effectLst/>
                        <a:latin typeface="Nimbus Roman No9 L"/>
                        <a:ea typeface="Nimbus Roman No9 L"/>
                        <a:cs typeface="Nimbus Roman No9 L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just">
                        <a:buNone/>
                      </a:pPr>
                      <a:r>
                        <a:rPr lang="es-CO" sz="1800">
                          <a:effectLst/>
                        </a:rPr>
                        <a:t>1</a:t>
                      </a:r>
                      <a:endParaRPr lang="es-CO" sz="1800">
                        <a:effectLst/>
                        <a:latin typeface="Nimbus Roman No9 L"/>
                        <a:ea typeface="Nimbus Roman No9 L"/>
                        <a:cs typeface="Nimbus Roman No9 L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just">
                        <a:buNone/>
                      </a:pPr>
                      <a:r>
                        <a:rPr lang="es-CO" sz="1800">
                          <a:effectLst/>
                        </a:rPr>
                        <a:t>0</a:t>
                      </a:r>
                      <a:endParaRPr lang="es-CO" sz="1800">
                        <a:effectLst/>
                        <a:latin typeface="Nimbus Roman No9 L"/>
                        <a:ea typeface="Nimbus Roman No9 L"/>
                        <a:cs typeface="Nimbus Roman No9 L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just">
                        <a:buNone/>
                      </a:pPr>
                      <a:r>
                        <a:rPr lang="es-CO" sz="1800">
                          <a:effectLst/>
                        </a:rPr>
                        <a:t>0</a:t>
                      </a:r>
                      <a:endParaRPr lang="es-CO" sz="1800">
                        <a:effectLst/>
                        <a:latin typeface="Nimbus Roman No9 L"/>
                        <a:ea typeface="Nimbus Roman No9 L"/>
                        <a:cs typeface="Nimbus Roman No9 L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just">
                        <a:buNone/>
                      </a:pPr>
                      <a:r>
                        <a:rPr lang="es-CO" sz="1800" dirty="0">
                          <a:effectLst/>
                        </a:rPr>
                        <a:t>2865</a:t>
                      </a:r>
                      <a:endParaRPr lang="es-CO" sz="1800" dirty="0">
                        <a:effectLst/>
                        <a:latin typeface="Nimbus Roman No9 L"/>
                        <a:ea typeface="Nimbus Roman No9 L"/>
                        <a:cs typeface="Nimbus Roman No9 L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just">
                        <a:buNone/>
                      </a:pPr>
                      <a:r>
                        <a:rPr lang="es-CO" sz="1800" dirty="0">
                          <a:effectLst/>
                        </a:rPr>
                        <a:t>280</a:t>
                      </a:r>
                      <a:endParaRPr lang="es-CO" sz="1800" dirty="0">
                        <a:effectLst/>
                        <a:latin typeface="Nimbus Roman No9 L"/>
                        <a:ea typeface="Nimbus Roman No9 L"/>
                        <a:cs typeface="Nimbus Roman No9 L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just">
                        <a:buNone/>
                      </a:pPr>
                      <a:r>
                        <a:rPr lang="es-CO" sz="1800" dirty="0">
                          <a:effectLst/>
                        </a:rPr>
                        <a:t>24119120</a:t>
                      </a:r>
                      <a:endParaRPr lang="es-CO" sz="1800" dirty="0">
                        <a:effectLst/>
                        <a:latin typeface="Nimbus Roman No9 L"/>
                        <a:ea typeface="Nimbus Roman No9 L"/>
                        <a:cs typeface="Nimbus Roman No9 L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745025727"/>
                  </a:ext>
                </a:extLst>
              </a:tr>
              <a:tr h="379560">
                <a:tc>
                  <a:txBody>
                    <a:bodyPr/>
                    <a:lstStyle/>
                    <a:p>
                      <a:pPr algn="just">
                        <a:buNone/>
                      </a:pPr>
                      <a:r>
                        <a:rPr lang="es-CO" sz="1800">
                          <a:effectLst/>
                        </a:rPr>
                        <a:t>3/01/2024</a:t>
                      </a:r>
                      <a:endParaRPr lang="es-CO" sz="1800">
                        <a:effectLst/>
                        <a:latin typeface="Nimbus Roman No9 L"/>
                        <a:ea typeface="Nimbus Roman No9 L"/>
                        <a:cs typeface="Nimbus Roman No9 L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just">
                        <a:buNone/>
                      </a:pPr>
                      <a:r>
                        <a:rPr lang="es-CO" sz="1800">
                          <a:effectLst/>
                        </a:rPr>
                        <a:t>2</a:t>
                      </a:r>
                      <a:endParaRPr lang="es-CO" sz="1800">
                        <a:effectLst/>
                        <a:latin typeface="Nimbus Roman No9 L"/>
                        <a:ea typeface="Nimbus Roman No9 L"/>
                        <a:cs typeface="Nimbus Roman No9 L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just">
                        <a:buNone/>
                      </a:pPr>
                      <a:r>
                        <a:rPr lang="es-CO" sz="1800" dirty="0">
                          <a:effectLst/>
                        </a:rPr>
                        <a:t>1</a:t>
                      </a:r>
                      <a:endParaRPr lang="es-CO" sz="1800" dirty="0">
                        <a:effectLst/>
                        <a:latin typeface="Nimbus Roman No9 L"/>
                        <a:ea typeface="Nimbus Roman No9 L"/>
                        <a:cs typeface="Nimbus Roman No9 L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just">
                        <a:buNone/>
                      </a:pPr>
                      <a:r>
                        <a:rPr lang="es-CO" sz="1800">
                          <a:effectLst/>
                        </a:rPr>
                        <a:t>0</a:t>
                      </a:r>
                      <a:endParaRPr lang="es-CO" sz="1800">
                        <a:effectLst/>
                        <a:latin typeface="Nimbus Roman No9 L"/>
                        <a:ea typeface="Nimbus Roman No9 L"/>
                        <a:cs typeface="Nimbus Roman No9 L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just">
                        <a:buNone/>
                      </a:pPr>
                      <a:r>
                        <a:rPr lang="es-CO" sz="1800">
                          <a:effectLst/>
                        </a:rPr>
                        <a:t>0</a:t>
                      </a:r>
                      <a:endParaRPr lang="es-CO" sz="1800">
                        <a:effectLst/>
                        <a:latin typeface="Nimbus Roman No9 L"/>
                        <a:ea typeface="Nimbus Roman No9 L"/>
                        <a:cs typeface="Nimbus Roman No9 L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just">
                        <a:buNone/>
                      </a:pPr>
                      <a:r>
                        <a:rPr lang="es-CO" sz="1800">
                          <a:effectLst/>
                        </a:rPr>
                        <a:t>4708</a:t>
                      </a:r>
                      <a:endParaRPr lang="es-CO" sz="1800">
                        <a:effectLst/>
                        <a:latin typeface="Nimbus Roman No9 L"/>
                        <a:ea typeface="Nimbus Roman No9 L"/>
                        <a:cs typeface="Nimbus Roman No9 L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just">
                        <a:buNone/>
                      </a:pPr>
                      <a:r>
                        <a:rPr lang="es-CO" sz="1800">
                          <a:effectLst/>
                        </a:rPr>
                        <a:t>360</a:t>
                      </a:r>
                      <a:endParaRPr lang="es-CO" sz="1800">
                        <a:effectLst/>
                        <a:latin typeface="Nimbus Roman No9 L"/>
                        <a:ea typeface="Nimbus Roman No9 L"/>
                        <a:cs typeface="Nimbus Roman No9 L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just">
                        <a:buNone/>
                      </a:pPr>
                      <a:r>
                        <a:rPr lang="es-CO" sz="1800" dirty="0">
                          <a:effectLst/>
                        </a:rPr>
                        <a:t>57052340</a:t>
                      </a:r>
                      <a:endParaRPr lang="es-CO" sz="1800" dirty="0">
                        <a:effectLst/>
                        <a:latin typeface="Nimbus Roman No9 L"/>
                        <a:ea typeface="Nimbus Roman No9 L"/>
                        <a:cs typeface="Nimbus Roman No9 L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3444662402"/>
                  </a:ext>
                </a:extLst>
              </a:tr>
              <a:tr h="379560">
                <a:tc>
                  <a:txBody>
                    <a:bodyPr/>
                    <a:lstStyle/>
                    <a:p>
                      <a:pPr algn="just">
                        <a:buNone/>
                      </a:pPr>
                      <a:r>
                        <a:rPr lang="es-CO" sz="1800">
                          <a:effectLst/>
                        </a:rPr>
                        <a:t>4/01/2024</a:t>
                      </a:r>
                      <a:endParaRPr lang="es-CO" sz="1800">
                        <a:effectLst/>
                        <a:latin typeface="Nimbus Roman No9 L"/>
                        <a:ea typeface="Nimbus Roman No9 L"/>
                        <a:cs typeface="Nimbus Roman No9 L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just">
                        <a:buNone/>
                      </a:pPr>
                      <a:r>
                        <a:rPr lang="es-CO" sz="1800">
                          <a:effectLst/>
                        </a:rPr>
                        <a:t>3</a:t>
                      </a:r>
                      <a:endParaRPr lang="es-CO" sz="1800">
                        <a:effectLst/>
                        <a:latin typeface="Nimbus Roman No9 L"/>
                        <a:ea typeface="Nimbus Roman No9 L"/>
                        <a:cs typeface="Nimbus Roman No9 L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just">
                        <a:buNone/>
                      </a:pPr>
                      <a:r>
                        <a:rPr lang="es-CO" sz="1800">
                          <a:effectLst/>
                        </a:rPr>
                        <a:t>1</a:t>
                      </a:r>
                      <a:endParaRPr lang="es-CO" sz="1800">
                        <a:effectLst/>
                        <a:latin typeface="Nimbus Roman No9 L"/>
                        <a:ea typeface="Nimbus Roman No9 L"/>
                        <a:cs typeface="Nimbus Roman No9 L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just">
                        <a:buNone/>
                      </a:pPr>
                      <a:r>
                        <a:rPr lang="es-CO" sz="1800">
                          <a:effectLst/>
                        </a:rPr>
                        <a:t>0</a:t>
                      </a:r>
                      <a:endParaRPr lang="es-CO" sz="1800">
                        <a:effectLst/>
                        <a:latin typeface="Nimbus Roman No9 L"/>
                        <a:ea typeface="Nimbus Roman No9 L"/>
                        <a:cs typeface="Nimbus Roman No9 L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just">
                        <a:buNone/>
                      </a:pPr>
                      <a:r>
                        <a:rPr lang="es-CO" sz="1800">
                          <a:effectLst/>
                        </a:rPr>
                        <a:t>0</a:t>
                      </a:r>
                      <a:endParaRPr lang="es-CO" sz="1800">
                        <a:effectLst/>
                        <a:latin typeface="Nimbus Roman No9 L"/>
                        <a:ea typeface="Nimbus Roman No9 L"/>
                        <a:cs typeface="Nimbus Roman No9 L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just">
                        <a:buNone/>
                      </a:pPr>
                      <a:r>
                        <a:rPr lang="es-CO" sz="1800">
                          <a:effectLst/>
                        </a:rPr>
                        <a:t>1386</a:t>
                      </a:r>
                      <a:endParaRPr lang="es-CO" sz="1800">
                        <a:effectLst/>
                        <a:latin typeface="Nimbus Roman No9 L"/>
                        <a:ea typeface="Nimbus Roman No9 L"/>
                        <a:cs typeface="Nimbus Roman No9 L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just">
                        <a:buNone/>
                      </a:pPr>
                      <a:r>
                        <a:rPr lang="es-CO" sz="1800">
                          <a:effectLst/>
                        </a:rPr>
                        <a:t>290</a:t>
                      </a:r>
                      <a:endParaRPr lang="es-CO" sz="1800">
                        <a:effectLst/>
                        <a:latin typeface="Nimbus Roman No9 L"/>
                        <a:ea typeface="Nimbus Roman No9 L"/>
                        <a:cs typeface="Nimbus Roman No9 L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just">
                        <a:buNone/>
                      </a:pPr>
                      <a:r>
                        <a:rPr lang="es-CO" sz="1800" dirty="0">
                          <a:effectLst/>
                        </a:rPr>
                        <a:t>14644230</a:t>
                      </a:r>
                      <a:endParaRPr lang="es-CO" sz="1800" dirty="0">
                        <a:effectLst/>
                        <a:latin typeface="Nimbus Roman No9 L"/>
                        <a:ea typeface="Nimbus Roman No9 L"/>
                        <a:cs typeface="Nimbus Roman No9 L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3692512814"/>
                  </a:ext>
                </a:extLst>
              </a:tr>
              <a:tr h="379560">
                <a:tc>
                  <a:txBody>
                    <a:bodyPr/>
                    <a:lstStyle/>
                    <a:p>
                      <a:pPr algn="just">
                        <a:buNone/>
                      </a:pPr>
                      <a:r>
                        <a:rPr lang="es-CO" sz="1800">
                          <a:effectLst/>
                        </a:rPr>
                        <a:t>5/01/2024</a:t>
                      </a:r>
                      <a:endParaRPr lang="es-CO" sz="1800">
                        <a:effectLst/>
                        <a:latin typeface="Nimbus Roman No9 L"/>
                        <a:ea typeface="Nimbus Roman No9 L"/>
                        <a:cs typeface="Nimbus Roman No9 L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just">
                        <a:buNone/>
                      </a:pPr>
                      <a:r>
                        <a:rPr lang="es-CO" sz="1800">
                          <a:effectLst/>
                        </a:rPr>
                        <a:t>4</a:t>
                      </a:r>
                      <a:endParaRPr lang="es-CO" sz="1800">
                        <a:effectLst/>
                        <a:latin typeface="Nimbus Roman No9 L"/>
                        <a:ea typeface="Nimbus Roman No9 L"/>
                        <a:cs typeface="Nimbus Roman No9 L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just">
                        <a:buNone/>
                      </a:pPr>
                      <a:r>
                        <a:rPr lang="es-CO" sz="1800">
                          <a:effectLst/>
                        </a:rPr>
                        <a:t>1</a:t>
                      </a:r>
                      <a:endParaRPr lang="es-CO" sz="1800">
                        <a:effectLst/>
                        <a:latin typeface="Nimbus Roman No9 L"/>
                        <a:ea typeface="Nimbus Roman No9 L"/>
                        <a:cs typeface="Nimbus Roman No9 L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just">
                        <a:buNone/>
                      </a:pPr>
                      <a:r>
                        <a:rPr lang="es-CO" sz="1800">
                          <a:effectLst/>
                        </a:rPr>
                        <a:t>0</a:t>
                      </a:r>
                      <a:endParaRPr lang="es-CO" sz="1800">
                        <a:effectLst/>
                        <a:latin typeface="Nimbus Roman No9 L"/>
                        <a:ea typeface="Nimbus Roman No9 L"/>
                        <a:cs typeface="Nimbus Roman No9 L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just">
                        <a:buNone/>
                      </a:pPr>
                      <a:r>
                        <a:rPr lang="es-CO" sz="1800">
                          <a:effectLst/>
                        </a:rPr>
                        <a:t>0</a:t>
                      </a:r>
                      <a:endParaRPr lang="es-CO" sz="1800">
                        <a:effectLst/>
                        <a:latin typeface="Nimbus Roman No9 L"/>
                        <a:ea typeface="Nimbus Roman No9 L"/>
                        <a:cs typeface="Nimbus Roman No9 L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just">
                        <a:buNone/>
                      </a:pPr>
                      <a:r>
                        <a:rPr lang="es-CO" sz="1800">
                          <a:effectLst/>
                        </a:rPr>
                        <a:t>277</a:t>
                      </a:r>
                      <a:endParaRPr lang="es-CO" sz="1800">
                        <a:effectLst/>
                        <a:latin typeface="Nimbus Roman No9 L"/>
                        <a:ea typeface="Nimbus Roman No9 L"/>
                        <a:cs typeface="Nimbus Roman No9 L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just">
                        <a:buNone/>
                      </a:pPr>
                      <a:r>
                        <a:rPr lang="es-CO" sz="1800">
                          <a:effectLst/>
                        </a:rPr>
                        <a:t>410</a:t>
                      </a:r>
                      <a:endParaRPr lang="es-CO" sz="1800">
                        <a:effectLst/>
                        <a:latin typeface="Nimbus Roman No9 L"/>
                        <a:ea typeface="Nimbus Roman No9 L"/>
                        <a:cs typeface="Nimbus Roman No9 L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just">
                        <a:buNone/>
                      </a:pPr>
                      <a:r>
                        <a:rPr lang="es-CO" sz="1800" dirty="0">
                          <a:effectLst/>
                        </a:rPr>
                        <a:t>3003800</a:t>
                      </a:r>
                      <a:endParaRPr lang="es-CO" sz="1800" dirty="0">
                        <a:effectLst/>
                        <a:latin typeface="Nimbus Roman No9 L"/>
                        <a:ea typeface="Nimbus Roman No9 L"/>
                        <a:cs typeface="Nimbus Roman No9 L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3501094941"/>
                  </a:ext>
                </a:extLst>
              </a:tr>
              <a:tr h="379560">
                <a:tc>
                  <a:txBody>
                    <a:bodyPr/>
                    <a:lstStyle/>
                    <a:p>
                      <a:pPr algn="just">
                        <a:buNone/>
                      </a:pPr>
                      <a:r>
                        <a:rPr lang="es-CO" sz="1800">
                          <a:effectLst/>
                        </a:rPr>
                        <a:t>6/01/2024</a:t>
                      </a:r>
                      <a:endParaRPr lang="es-CO" sz="1800">
                        <a:effectLst/>
                        <a:latin typeface="Nimbus Roman No9 L"/>
                        <a:ea typeface="Nimbus Roman No9 L"/>
                        <a:cs typeface="Nimbus Roman No9 L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just">
                        <a:buNone/>
                      </a:pPr>
                      <a:r>
                        <a:rPr lang="es-CO" sz="1800">
                          <a:effectLst/>
                        </a:rPr>
                        <a:t>5</a:t>
                      </a:r>
                      <a:endParaRPr lang="es-CO" sz="1800">
                        <a:effectLst/>
                        <a:latin typeface="Nimbus Roman No9 L"/>
                        <a:ea typeface="Nimbus Roman No9 L"/>
                        <a:cs typeface="Nimbus Roman No9 L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just">
                        <a:buNone/>
                      </a:pPr>
                      <a:r>
                        <a:rPr lang="es-CO" sz="1800">
                          <a:effectLst/>
                        </a:rPr>
                        <a:t>0</a:t>
                      </a:r>
                      <a:endParaRPr lang="es-CO" sz="1800">
                        <a:effectLst/>
                        <a:latin typeface="Nimbus Roman No9 L"/>
                        <a:ea typeface="Nimbus Roman No9 L"/>
                        <a:cs typeface="Nimbus Roman No9 L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just">
                        <a:buNone/>
                      </a:pPr>
                      <a:r>
                        <a:rPr lang="es-CO" sz="1800">
                          <a:effectLst/>
                        </a:rPr>
                        <a:t>1</a:t>
                      </a:r>
                      <a:endParaRPr lang="es-CO" sz="1800">
                        <a:effectLst/>
                        <a:latin typeface="Nimbus Roman No9 L"/>
                        <a:ea typeface="Nimbus Roman No9 L"/>
                        <a:cs typeface="Nimbus Roman No9 L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just">
                        <a:buNone/>
                      </a:pPr>
                      <a:r>
                        <a:rPr lang="es-CO" sz="1800">
                          <a:effectLst/>
                        </a:rPr>
                        <a:t>0</a:t>
                      </a:r>
                      <a:endParaRPr lang="es-CO" sz="1800">
                        <a:effectLst/>
                        <a:latin typeface="Nimbus Roman No9 L"/>
                        <a:ea typeface="Nimbus Roman No9 L"/>
                        <a:cs typeface="Nimbus Roman No9 L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just">
                        <a:buNone/>
                      </a:pPr>
                      <a:r>
                        <a:rPr lang="es-CO" sz="1800">
                          <a:effectLst/>
                        </a:rPr>
                        <a:t>180</a:t>
                      </a:r>
                      <a:endParaRPr lang="es-CO" sz="1800">
                        <a:effectLst/>
                        <a:latin typeface="Nimbus Roman No9 L"/>
                        <a:ea typeface="Nimbus Roman No9 L"/>
                        <a:cs typeface="Nimbus Roman No9 L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just">
                        <a:buNone/>
                      </a:pPr>
                      <a:r>
                        <a:rPr lang="es-CO" sz="1800" dirty="0">
                          <a:effectLst/>
                        </a:rPr>
                        <a:t>370</a:t>
                      </a:r>
                      <a:endParaRPr lang="es-CO" sz="1800" dirty="0">
                        <a:effectLst/>
                        <a:latin typeface="Nimbus Roman No9 L"/>
                        <a:ea typeface="Nimbus Roman No9 L"/>
                        <a:cs typeface="Nimbus Roman No9 L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just">
                        <a:buNone/>
                      </a:pPr>
                      <a:r>
                        <a:rPr lang="es-CO" sz="1800" dirty="0">
                          <a:effectLst/>
                        </a:rPr>
                        <a:t>1377260</a:t>
                      </a:r>
                      <a:endParaRPr lang="es-CO" sz="1800" dirty="0">
                        <a:effectLst/>
                        <a:latin typeface="Nimbus Roman No9 L"/>
                        <a:ea typeface="Nimbus Roman No9 L"/>
                        <a:cs typeface="Nimbus Roman No9 L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3766184104"/>
                  </a:ext>
                </a:extLst>
              </a:tr>
              <a:tr h="379560">
                <a:tc>
                  <a:txBody>
                    <a:bodyPr/>
                    <a:lstStyle/>
                    <a:p>
                      <a:pPr algn="just">
                        <a:buNone/>
                      </a:pPr>
                      <a:r>
                        <a:rPr lang="es-CO" sz="1800">
                          <a:effectLst/>
                        </a:rPr>
                        <a:t>7/01/2024</a:t>
                      </a:r>
                      <a:endParaRPr lang="es-CO" sz="1800">
                        <a:effectLst/>
                        <a:latin typeface="Nimbus Roman No9 L"/>
                        <a:ea typeface="Nimbus Roman No9 L"/>
                        <a:cs typeface="Nimbus Roman No9 L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just">
                        <a:buNone/>
                      </a:pPr>
                      <a:r>
                        <a:rPr lang="es-CO" sz="1800">
                          <a:effectLst/>
                        </a:rPr>
                        <a:t>6</a:t>
                      </a:r>
                      <a:endParaRPr lang="es-CO" sz="1800">
                        <a:effectLst/>
                        <a:latin typeface="Nimbus Roman No9 L"/>
                        <a:ea typeface="Nimbus Roman No9 L"/>
                        <a:cs typeface="Nimbus Roman No9 L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just">
                        <a:buNone/>
                      </a:pPr>
                      <a:r>
                        <a:rPr lang="es-CO" sz="1800">
                          <a:effectLst/>
                        </a:rPr>
                        <a:t>0</a:t>
                      </a:r>
                      <a:endParaRPr lang="es-CO" sz="1800">
                        <a:effectLst/>
                        <a:latin typeface="Nimbus Roman No9 L"/>
                        <a:ea typeface="Nimbus Roman No9 L"/>
                        <a:cs typeface="Nimbus Roman No9 L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just">
                        <a:buNone/>
                      </a:pPr>
                      <a:r>
                        <a:rPr lang="es-CO" sz="1800">
                          <a:effectLst/>
                        </a:rPr>
                        <a:t>1</a:t>
                      </a:r>
                      <a:endParaRPr lang="es-CO" sz="1800">
                        <a:effectLst/>
                        <a:latin typeface="Nimbus Roman No9 L"/>
                        <a:ea typeface="Nimbus Roman No9 L"/>
                        <a:cs typeface="Nimbus Roman No9 L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just">
                        <a:buNone/>
                      </a:pPr>
                      <a:r>
                        <a:rPr lang="es-CO" sz="1800">
                          <a:effectLst/>
                        </a:rPr>
                        <a:t>0</a:t>
                      </a:r>
                      <a:endParaRPr lang="es-CO" sz="1800">
                        <a:effectLst/>
                        <a:latin typeface="Nimbus Roman No9 L"/>
                        <a:ea typeface="Nimbus Roman No9 L"/>
                        <a:cs typeface="Nimbus Roman No9 L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just">
                        <a:buNone/>
                      </a:pPr>
                      <a:r>
                        <a:rPr lang="es-CO" sz="1800">
                          <a:effectLst/>
                        </a:rPr>
                        <a:t>71</a:t>
                      </a:r>
                      <a:endParaRPr lang="es-CO" sz="1800">
                        <a:effectLst/>
                        <a:latin typeface="Nimbus Roman No9 L"/>
                        <a:ea typeface="Nimbus Roman No9 L"/>
                        <a:cs typeface="Nimbus Roman No9 L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just">
                        <a:buNone/>
                      </a:pPr>
                      <a:r>
                        <a:rPr lang="es-CO" sz="1800">
                          <a:effectLst/>
                        </a:rPr>
                        <a:t>390</a:t>
                      </a:r>
                      <a:endParaRPr lang="es-CO" sz="1800">
                        <a:effectLst/>
                        <a:latin typeface="Nimbus Roman No9 L"/>
                        <a:ea typeface="Nimbus Roman No9 L"/>
                        <a:cs typeface="Nimbus Roman No9 L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just">
                        <a:buNone/>
                      </a:pPr>
                      <a:r>
                        <a:rPr lang="es-CO" sz="1800" dirty="0">
                          <a:effectLst/>
                        </a:rPr>
                        <a:t>715450</a:t>
                      </a:r>
                      <a:endParaRPr lang="es-CO" sz="1800" dirty="0">
                        <a:effectLst/>
                        <a:latin typeface="Nimbus Roman No9 L"/>
                        <a:ea typeface="Nimbus Roman No9 L"/>
                        <a:cs typeface="Nimbus Roman No9 L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725791357"/>
                  </a:ext>
                </a:extLst>
              </a:tr>
              <a:tr h="379560">
                <a:tc>
                  <a:txBody>
                    <a:bodyPr/>
                    <a:lstStyle/>
                    <a:p>
                      <a:pPr algn="just">
                        <a:buNone/>
                      </a:pPr>
                      <a:r>
                        <a:rPr lang="es-CO" sz="1800">
                          <a:effectLst/>
                        </a:rPr>
                        <a:t>8/01/2024</a:t>
                      </a:r>
                      <a:endParaRPr lang="es-CO" sz="1800">
                        <a:effectLst/>
                        <a:latin typeface="Nimbus Roman No9 L"/>
                        <a:ea typeface="Nimbus Roman No9 L"/>
                        <a:cs typeface="Nimbus Roman No9 L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just">
                        <a:buNone/>
                      </a:pPr>
                      <a:r>
                        <a:rPr lang="es-CO" sz="1800">
                          <a:effectLst/>
                        </a:rPr>
                        <a:t>0</a:t>
                      </a:r>
                      <a:endParaRPr lang="es-CO" sz="1800">
                        <a:effectLst/>
                        <a:latin typeface="Nimbus Roman No9 L"/>
                        <a:ea typeface="Nimbus Roman No9 L"/>
                        <a:cs typeface="Nimbus Roman No9 L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just">
                        <a:buNone/>
                      </a:pPr>
                      <a:r>
                        <a:rPr lang="es-CO" sz="1800">
                          <a:effectLst/>
                        </a:rPr>
                        <a:t>0</a:t>
                      </a:r>
                      <a:endParaRPr lang="es-CO" sz="1800">
                        <a:effectLst/>
                        <a:latin typeface="Nimbus Roman No9 L"/>
                        <a:ea typeface="Nimbus Roman No9 L"/>
                        <a:cs typeface="Nimbus Roman No9 L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just">
                        <a:buNone/>
                      </a:pPr>
                      <a:r>
                        <a:rPr lang="es-CO" sz="1800">
                          <a:effectLst/>
                        </a:rPr>
                        <a:t>0</a:t>
                      </a:r>
                      <a:endParaRPr lang="es-CO" sz="1800">
                        <a:effectLst/>
                        <a:latin typeface="Nimbus Roman No9 L"/>
                        <a:ea typeface="Nimbus Roman No9 L"/>
                        <a:cs typeface="Nimbus Roman No9 L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just">
                        <a:buNone/>
                      </a:pPr>
                      <a:r>
                        <a:rPr lang="es-CO" sz="1800">
                          <a:effectLst/>
                        </a:rPr>
                        <a:t>1</a:t>
                      </a:r>
                      <a:endParaRPr lang="es-CO" sz="1800">
                        <a:effectLst/>
                        <a:latin typeface="Nimbus Roman No9 L"/>
                        <a:ea typeface="Nimbus Roman No9 L"/>
                        <a:cs typeface="Nimbus Roman No9 L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just">
                        <a:buNone/>
                      </a:pPr>
                      <a:r>
                        <a:rPr lang="es-CO" sz="1800">
                          <a:effectLst/>
                        </a:rPr>
                        <a:t>1507</a:t>
                      </a:r>
                      <a:endParaRPr lang="es-CO" sz="1800">
                        <a:effectLst/>
                        <a:latin typeface="Nimbus Roman No9 L"/>
                        <a:ea typeface="Nimbus Roman No9 L"/>
                        <a:cs typeface="Nimbus Roman No9 L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just">
                        <a:buNone/>
                      </a:pPr>
                      <a:r>
                        <a:rPr lang="es-CO" sz="1800">
                          <a:effectLst/>
                        </a:rPr>
                        <a:t>310</a:t>
                      </a:r>
                      <a:endParaRPr lang="es-CO" sz="1800">
                        <a:effectLst/>
                        <a:latin typeface="Nimbus Roman No9 L"/>
                        <a:ea typeface="Nimbus Roman No9 L"/>
                        <a:cs typeface="Nimbus Roman No9 L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just">
                        <a:buNone/>
                      </a:pPr>
                      <a:r>
                        <a:rPr lang="es-CO" sz="1800" dirty="0">
                          <a:effectLst/>
                        </a:rPr>
                        <a:t>23754920</a:t>
                      </a:r>
                      <a:endParaRPr lang="es-CO" sz="1800" dirty="0">
                        <a:effectLst/>
                        <a:latin typeface="Nimbus Roman No9 L"/>
                        <a:ea typeface="Nimbus Roman No9 L"/>
                        <a:cs typeface="Nimbus Roman No9 L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4153694073"/>
                  </a:ext>
                </a:extLst>
              </a:tr>
              <a:tr h="379560">
                <a:tc>
                  <a:txBody>
                    <a:bodyPr/>
                    <a:lstStyle/>
                    <a:p>
                      <a:pPr algn="just">
                        <a:buNone/>
                      </a:pPr>
                      <a:r>
                        <a:rPr lang="es-CO" sz="1800">
                          <a:effectLst/>
                        </a:rPr>
                        <a:t>9/01/2024</a:t>
                      </a:r>
                      <a:endParaRPr lang="es-CO" sz="1800">
                        <a:effectLst/>
                        <a:latin typeface="Nimbus Roman No9 L"/>
                        <a:ea typeface="Nimbus Roman No9 L"/>
                        <a:cs typeface="Nimbus Roman No9 L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just">
                        <a:buNone/>
                      </a:pPr>
                      <a:r>
                        <a:rPr lang="es-CO" sz="1800">
                          <a:effectLst/>
                        </a:rPr>
                        <a:t>1</a:t>
                      </a:r>
                      <a:endParaRPr lang="es-CO" sz="1800">
                        <a:effectLst/>
                        <a:latin typeface="Nimbus Roman No9 L"/>
                        <a:ea typeface="Nimbus Roman No9 L"/>
                        <a:cs typeface="Nimbus Roman No9 L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just">
                        <a:buNone/>
                      </a:pPr>
                      <a:r>
                        <a:rPr lang="es-CO" sz="1800">
                          <a:effectLst/>
                        </a:rPr>
                        <a:t>1</a:t>
                      </a:r>
                      <a:endParaRPr lang="es-CO" sz="1800">
                        <a:effectLst/>
                        <a:latin typeface="Nimbus Roman No9 L"/>
                        <a:ea typeface="Nimbus Roman No9 L"/>
                        <a:cs typeface="Nimbus Roman No9 L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just">
                        <a:buNone/>
                      </a:pPr>
                      <a:r>
                        <a:rPr lang="es-CO" sz="1800">
                          <a:effectLst/>
                        </a:rPr>
                        <a:t>0</a:t>
                      </a:r>
                      <a:endParaRPr lang="es-CO" sz="1800">
                        <a:effectLst/>
                        <a:latin typeface="Nimbus Roman No9 L"/>
                        <a:ea typeface="Nimbus Roman No9 L"/>
                        <a:cs typeface="Nimbus Roman No9 L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just">
                        <a:buNone/>
                      </a:pPr>
                      <a:r>
                        <a:rPr lang="es-CO" sz="1800">
                          <a:effectLst/>
                        </a:rPr>
                        <a:t>0</a:t>
                      </a:r>
                      <a:endParaRPr lang="es-CO" sz="1800">
                        <a:effectLst/>
                        <a:latin typeface="Nimbus Roman No9 L"/>
                        <a:ea typeface="Nimbus Roman No9 L"/>
                        <a:cs typeface="Nimbus Roman No9 L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just">
                        <a:buNone/>
                      </a:pPr>
                      <a:r>
                        <a:rPr lang="es-CO" sz="1800">
                          <a:effectLst/>
                        </a:rPr>
                        <a:t>5</a:t>
                      </a:r>
                      <a:endParaRPr lang="es-CO" sz="1800">
                        <a:effectLst/>
                        <a:latin typeface="Nimbus Roman No9 L"/>
                        <a:ea typeface="Nimbus Roman No9 L"/>
                        <a:cs typeface="Nimbus Roman No9 L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just">
                        <a:buNone/>
                      </a:pPr>
                      <a:r>
                        <a:rPr lang="es-CO" sz="1800">
                          <a:effectLst/>
                        </a:rPr>
                        <a:t>310</a:t>
                      </a:r>
                      <a:endParaRPr lang="es-CO" sz="1800">
                        <a:effectLst/>
                        <a:latin typeface="Nimbus Roman No9 L"/>
                        <a:ea typeface="Nimbus Roman No9 L"/>
                        <a:cs typeface="Nimbus Roman No9 L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just">
                        <a:buNone/>
                      </a:pPr>
                      <a:r>
                        <a:rPr lang="es-CO" sz="1800" dirty="0">
                          <a:effectLst/>
                        </a:rPr>
                        <a:t>23754920</a:t>
                      </a:r>
                      <a:endParaRPr lang="es-CO" sz="1800" dirty="0">
                        <a:effectLst/>
                        <a:latin typeface="Nimbus Roman No9 L"/>
                        <a:ea typeface="Nimbus Roman No9 L"/>
                        <a:cs typeface="Nimbus Roman No9 L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446847686"/>
                  </a:ext>
                </a:extLst>
              </a:tr>
            </a:tbl>
          </a:graphicData>
        </a:graphic>
      </p:graphicFrame>
      <p:graphicFrame>
        <p:nvGraphicFramePr>
          <p:cNvPr id="3" name="Tabla 2">
            <a:extLst>
              <a:ext uri="{FF2B5EF4-FFF2-40B4-BE49-F238E27FC236}">
                <a16:creationId xmlns:a16="http://schemas.microsoft.com/office/drawing/2014/main" id="{B751EA21-7195-6DF1-4E66-2BE816C8C8E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491067653"/>
              </p:ext>
            </p:extLst>
          </p:nvPr>
        </p:nvGraphicFramePr>
        <p:xfrm>
          <a:off x="136478" y="1467743"/>
          <a:ext cx="8361336" cy="741680"/>
        </p:xfrm>
        <a:graphic>
          <a:graphicData uri="http://schemas.openxmlformats.org/drawingml/2006/table">
            <a:tbl>
              <a:tblPr firstRow="1" bandRow="1">
                <a:tableStyleId>{0505E3EF-67EA-436B-97B2-0124C06EBD24}</a:tableStyleId>
              </a:tblPr>
              <a:tblGrid>
                <a:gridCol w="1790438">
                  <a:extLst>
                    <a:ext uri="{9D8B030D-6E8A-4147-A177-3AD203B41FA5}">
                      <a16:colId xmlns:a16="http://schemas.microsoft.com/office/drawing/2014/main" val="2172361001"/>
                    </a:ext>
                  </a:extLst>
                </a:gridCol>
                <a:gridCol w="1812660">
                  <a:extLst>
                    <a:ext uri="{9D8B030D-6E8A-4147-A177-3AD203B41FA5}">
                      <a16:colId xmlns:a16="http://schemas.microsoft.com/office/drawing/2014/main" val="1415504465"/>
                    </a:ext>
                  </a:extLst>
                </a:gridCol>
                <a:gridCol w="2190298">
                  <a:extLst>
                    <a:ext uri="{9D8B030D-6E8A-4147-A177-3AD203B41FA5}">
                      <a16:colId xmlns:a16="http://schemas.microsoft.com/office/drawing/2014/main" val="2348151075"/>
                    </a:ext>
                  </a:extLst>
                </a:gridCol>
                <a:gridCol w="2567940">
                  <a:extLst>
                    <a:ext uri="{9D8B030D-6E8A-4147-A177-3AD203B41FA5}">
                      <a16:colId xmlns:a16="http://schemas.microsoft.com/office/drawing/2014/main" val="3684714004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LUNES : 0</a:t>
                      </a:r>
                      <a:endParaRPr lang="es-CO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MARTES: 1</a:t>
                      </a:r>
                      <a:endParaRPr lang="es-CO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MIERCOLES:2</a:t>
                      </a:r>
                      <a:endParaRPr lang="es-CO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JUEVES:3</a:t>
                      </a:r>
                      <a:endParaRPr lang="es-CO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77728552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b="1" dirty="0"/>
                        <a:t>VIERNES: 4</a:t>
                      </a:r>
                      <a:endParaRPr lang="es-CO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b="1" dirty="0"/>
                        <a:t>SABADO: 5</a:t>
                      </a:r>
                      <a:endParaRPr lang="es-CO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b="1" dirty="0"/>
                        <a:t>DOMINGO: 6</a:t>
                      </a:r>
                      <a:endParaRPr lang="es-CO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b="1" dirty="0"/>
                        <a:t>Codificación Ordinal</a:t>
                      </a:r>
                      <a:endParaRPr lang="es-CO" b="1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77463456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17564548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2EB9B7BC-EA58-7A17-B6A6-C6D199B019B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ítulo 1">
            <a:extLst>
              <a:ext uri="{FF2B5EF4-FFF2-40B4-BE49-F238E27FC236}">
                <a16:creationId xmlns:a16="http://schemas.microsoft.com/office/drawing/2014/main" id="{6F21B5B7-3898-60F9-4934-C96F2018A4E1}"/>
              </a:ext>
            </a:extLst>
          </p:cNvPr>
          <p:cNvSpPr txBox="1">
            <a:spLocks/>
          </p:cNvSpPr>
          <p:nvPr/>
        </p:nvSpPr>
        <p:spPr>
          <a:xfrm>
            <a:off x="1831242" y="29007"/>
            <a:ext cx="7677800" cy="768643"/>
          </a:xfrm>
          <a:prstGeom prst="rect">
            <a:avLst/>
          </a:prstGeom>
        </p:spPr>
        <p:txBody>
          <a:bodyPr vert="horz" lIns="68580" tIns="34290" rIns="68580" bIns="34290" rtlCol="0" anchor="ctr">
            <a:normAutofit fontScale="25000" lnSpcReduction="200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>
              <a:lnSpc>
                <a:spcPct val="110000"/>
              </a:lnSpc>
            </a:pPr>
            <a:endParaRPr lang="es-CO" sz="3750" b="1" dirty="0">
              <a:solidFill>
                <a:schemeClr val="tx2">
                  <a:lumMod val="50000"/>
                </a:schemeClr>
              </a:solidFill>
              <a:latin typeface="+mn-lt"/>
            </a:endParaRPr>
          </a:p>
          <a:p>
            <a:pPr algn="ctr">
              <a:lnSpc>
                <a:spcPct val="110000"/>
              </a:lnSpc>
            </a:pPr>
            <a:r>
              <a:rPr lang="es-CO" sz="18500" b="1" dirty="0">
                <a:solidFill>
                  <a:schemeClr val="tx2">
                    <a:lumMod val="50000"/>
                  </a:schemeClr>
                </a:solidFill>
                <a:latin typeface="+mn-lt"/>
              </a:rPr>
              <a:t>Partición.</a:t>
            </a:r>
          </a:p>
          <a:p>
            <a:pPr>
              <a:lnSpc>
                <a:spcPct val="110000"/>
              </a:lnSpc>
            </a:pPr>
            <a:endParaRPr lang="es-CO" sz="3750" b="1" dirty="0">
              <a:solidFill>
                <a:schemeClr val="tx2">
                  <a:lumMod val="50000"/>
                </a:schemeClr>
              </a:solidFill>
              <a:latin typeface="Futura Std Book" panose="020B0502020204020303" pitchFamily="34" charset="77"/>
            </a:endParaRPr>
          </a:p>
        </p:txBody>
      </p:sp>
      <p:sp>
        <p:nvSpPr>
          <p:cNvPr id="8" name="CuadroTexto 7">
            <a:extLst>
              <a:ext uri="{FF2B5EF4-FFF2-40B4-BE49-F238E27FC236}">
                <a16:creationId xmlns:a16="http://schemas.microsoft.com/office/drawing/2014/main" id="{D8023AFB-C5EC-A1C0-5DA0-9425B96B521B}"/>
              </a:ext>
            </a:extLst>
          </p:cNvPr>
          <p:cNvSpPr txBox="1"/>
          <p:nvPr/>
        </p:nvSpPr>
        <p:spPr>
          <a:xfrm>
            <a:off x="443172" y="832260"/>
            <a:ext cx="10239443" cy="243143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CO" sz="2200" dirty="0">
                <a:solidFill>
                  <a:schemeClr val="tx2">
                    <a:lumMod val="50000"/>
                  </a:schemeClr>
                </a:solidFill>
              </a:rPr>
              <a:t>E</a:t>
            </a:r>
            <a:r>
              <a:rPr lang="es-CO" dirty="0"/>
              <a:t>l conjunto de datos fue dividido en: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s-CO" b="1" dirty="0"/>
              <a:t>80 % de los registros iniciales</a:t>
            </a:r>
            <a:r>
              <a:rPr lang="es-CO" dirty="0"/>
              <a:t> para entrenamiento.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s-CO" b="1" dirty="0"/>
              <a:t>20 % de los registros finales</a:t>
            </a:r>
            <a:r>
              <a:rPr lang="es-CO" dirty="0"/>
              <a:t> para probar cada modelo.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s-MX" dirty="0"/>
              <a:t>En total se tienen </a:t>
            </a:r>
            <a:r>
              <a:rPr lang="es-MX" b="1" dirty="0"/>
              <a:t>17900 registros </a:t>
            </a:r>
            <a:r>
              <a:rPr lang="es-MX" dirty="0"/>
              <a:t>entre todos los </a:t>
            </a:r>
            <a:r>
              <a:rPr lang="es-MX" dirty="0" err="1"/>
              <a:t>dataset</a:t>
            </a:r>
            <a:r>
              <a:rPr lang="es-MX" dirty="0"/>
              <a:t>, un </a:t>
            </a:r>
            <a:r>
              <a:rPr lang="es-MX" b="1" dirty="0"/>
              <a:t>promedio de 344.23 registros</a:t>
            </a:r>
            <a:r>
              <a:rPr lang="es-MX" dirty="0"/>
              <a:t> por cada </a:t>
            </a:r>
            <a:r>
              <a:rPr lang="es-MX" dirty="0" err="1"/>
              <a:t>dataset</a:t>
            </a:r>
            <a:r>
              <a:rPr lang="es-MX" dirty="0"/>
              <a:t> y una </a:t>
            </a:r>
            <a:r>
              <a:rPr lang="es-MX" b="1" dirty="0"/>
              <a:t>mediana de 341 registros.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s-MX" dirty="0"/>
              <a:t>Parque </a:t>
            </a:r>
            <a:r>
              <a:rPr lang="es-MX" dirty="0" err="1"/>
              <a:t>Pizamos</a:t>
            </a:r>
            <a:r>
              <a:rPr lang="es-MX" dirty="0"/>
              <a:t> es la zona que menos registros tiene 124 en total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s-MX" dirty="0"/>
              <a:t>Parque Sebastián de Belalcázar es la que mas registros tiene con 539 en total</a:t>
            </a:r>
            <a:endParaRPr lang="es-CO" dirty="0"/>
          </a:p>
          <a:p>
            <a:endParaRPr lang="es-CO" sz="2200" dirty="0">
              <a:solidFill>
                <a:schemeClr val="tx2">
                  <a:lumMod val="50000"/>
                </a:schemeClr>
              </a:solidFill>
            </a:endParaRPr>
          </a:p>
        </p:txBody>
      </p:sp>
      <p:pic>
        <p:nvPicPr>
          <p:cNvPr id="13" name="Imagen 12">
            <a:extLst>
              <a:ext uri="{FF2B5EF4-FFF2-40B4-BE49-F238E27FC236}">
                <a16:creationId xmlns:a16="http://schemas.microsoft.com/office/drawing/2014/main" id="{364C673A-AA22-05E9-6E86-073F8186C8F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rot="10800000" flipH="1">
            <a:off x="8497815" y="1912273"/>
            <a:ext cx="2908797" cy="6146129"/>
          </a:xfrm>
          <a:prstGeom prst="rect">
            <a:avLst/>
          </a:prstGeom>
        </p:spPr>
      </p:pic>
      <p:pic>
        <p:nvPicPr>
          <p:cNvPr id="10" name="Gráfico 9">
            <a:extLst>
              <a:ext uri="{FF2B5EF4-FFF2-40B4-BE49-F238E27FC236}">
                <a16:creationId xmlns:a16="http://schemas.microsoft.com/office/drawing/2014/main" id="{A23E193B-52CC-BC60-6742-CA038D2A7924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 rot="16200000">
            <a:off x="10012430" y="-206067"/>
            <a:ext cx="2214082" cy="2334513"/>
          </a:xfrm>
          <a:prstGeom prst="rect">
            <a:avLst/>
          </a:prstGeom>
        </p:spPr>
      </p:pic>
      <p:pic>
        <p:nvPicPr>
          <p:cNvPr id="12" name="Imagen 11">
            <a:extLst>
              <a:ext uri="{FF2B5EF4-FFF2-40B4-BE49-F238E27FC236}">
                <a16:creationId xmlns:a16="http://schemas.microsoft.com/office/drawing/2014/main" id="{3755B712-2966-BD40-7FB3-2776F2C42FEF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682615" y="219393"/>
            <a:ext cx="1160941" cy="1243647"/>
          </a:xfrm>
          <a:prstGeom prst="rect">
            <a:avLst/>
          </a:prstGeom>
        </p:spPr>
      </p:pic>
      <p:graphicFrame>
        <p:nvGraphicFramePr>
          <p:cNvPr id="6" name="Tabla 5">
            <a:extLst>
              <a:ext uri="{FF2B5EF4-FFF2-40B4-BE49-F238E27FC236}">
                <a16:creationId xmlns:a16="http://schemas.microsoft.com/office/drawing/2014/main" id="{F68020F8-14CE-D576-784B-07D5BDE468B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579471834"/>
              </p:ext>
            </p:extLst>
          </p:nvPr>
        </p:nvGraphicFramePr>
        <p:xfrm>
          <a:off x="189857" y="3263695"/>
          <a:ext cx="11812286" cy="3443286"/>
        </p:xfrm>
        <a:graphic>
          <a:graphicData uri="http://schemas.openxmlformats.org/drawingml/2006/table">
            <a:tbl>
              <a:tblPr bandRow="1">
                <a:tableStyleId>{5C22544A-7EE6-4342-B048-85BDC9FD1C3A}</a:tableStyleId>
              </a:tblPr>
              <a:tblGrid>
                <a:gridCol w="5368950">
                  <a:extLst>
                    <a:ext uri="{9D8B030D-6E8A-4147-A177-3AD203B41FA5}">
                      <a16:colId xmlns:a16="http://schemas.microsoft.com/office/drawing/2014/main" val="2047046025"/>
                    </a:ext>
                  </a:extLst>
                </a:gridCol>
                <a:gridCol w="2687451">
                  <a:extLst>
                    <a:ext uri="{9D8B030D-6E8A-4147-A177-3AD203B41FA5}">
                      <a16:colId xmlns:a16="http://schemas.microsoft.com/office/drawing/2014/main" val="578430441"/>
                    </a:ext>
                  </a:extLst>
                </a:gridCol>
                <a:gridCol w="1940441">
                  <a:extLst>
                    <a:ext uri="{9D8B030D-6E8A-4147-A177-3AD203B41FA5}">
                      <a16:colId xmlns:a16="http://schemas.microsoft.com/office/drawing/2014/main" val="3459234806"/>
                    </a:ext>
                  </a:extLst>
                </a:gridCol>
                <a:gridCol w="1815444">
                  <a:extLst>
                    <a:ext uri="{9D8B030D-6E8A-4147-A177-3AD203B41FA5}">
                      <a16:colId xmlns:a16="http://schemas.microsoft.com/office/drawing/2014/main" val="543274724"/>
                    </a:ext>
                  </a:extLst>
                </a:gridCol>
              </a:tblGrid>
              <a:tr h="313026">
                <a:tc>
                  <a:txBody>
                    <a:bodyPr/>
                    <a:lstStyle/>
                    <a:p>
                      <a:pPr algn="just">
                        <a:buNone/>
                      </a:pPr>
                      <a:r>
                        <a:rPr lang="es-CO" sz="1600" b="1" dirty="0">
                          <a:effectLst/>
                        </a:rPr>
                        <a:t>Zona </a:t>
                      </a:r>
                      <a:r>
                        <a:rPr lang="es-CO" sz="1600" b="1" dirty="0" err="1">
                          <a:effectLst/>
                        </a:rPr>
                        <a:t>WiFi</a:t>
                      </a:r>
                      <a:endParaRPr lang="es-CO" sz="1600" b="1" dirty="0">
                        <a:effectLst/>
                        <a:latin typeface="Nimbus Roman No9 L"/>
                        <a:ea typeface="Nimbus Roman No9 L"/>
                        <a:cs typeface="Nimbus Roman No9 L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just">
                        <a:buNone/>
                      </a:pPr>
                      <a:r>
                        <a:rPr lang="es-CO" sz="1600" b="1" dirty="0">
                          <a:effectLst/>
                        </a:rPr>
                        <a:t>Total de registros</a:t>
                      </a:r>
                      <a:endParaRPr lang="es-CO" sz="1600" b="1" dirty="0">
                        <a:effectLst/>
                        <a:latin typeface="Nimbus Roman No9 L"/>
                        <a:ea typeface="Nimbus Roman No9 L"/>
                        <a:cs typeface="Nimbus Roman No9 L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just">
                        <a:buNone/>
                      </a:pPr>
                      <a:r>
                        <a:rPr lang="es-CO" sz="1600" b="1" dirty="0">
                          <a:effectLst/>
                        </a:rPr>
                        <a:t>Train (80 %)</a:t>
                      </a:r>
                      <a:endParaRPr lang="es-CO" sz="1600" b="1" dirty="0">
                        <a:effectLst/>
                        <a:latin typeface="Nimbus Roman No9 L"/>
                        <a:ea typeface="Nimbus Roman No9 L"/>
                        <a:cs typeface="Nimbus Roman No9 L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just">
                        <a:buNone/>
                      </a:pPr>
                      <a:r>
                        <a:rPr lang="es-CO" sz="1600" b="1" dirty="0">
                          <a:effectLst/>
                        </a:rPr>
                        <a:t>Test (20 %)</a:t>
                      </a:r>
                      <a:endParaRPr lang="es-CO" sz="1600" b="1" dirty="0">
                        <a:effectLst/>
                        <a:latin typeface="Nimbus Roman No9 L"/>
                        <a:ea typeface="Nimbus Roman No9 L"/>
                        <a:cs typeface="Nimbus Roman No9 L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4255819124"/>
                  </a:ext>
                </a:extLst>
              </a:tr>
              <a:tr h="313026">
                <a:tc>
                  <a:txBody>
                    <a:bodyPr/>
                    <a:lstStyle/>
                    <a:p>
                      <a:pPr algn="just">
                        <a:buNone/>
                      </a:pPr>
                      <a:r>
                        <a:rPr lang="es-CO" sz="1600" dirty="0">
                          <a:effectLst/>
                        </a:rPr>
                        <a:t>ZW Parque Ingenio</a:t>
                      </a:r>
                      <a:endParaRPr lang="es-CO" sz="1600" dirty="0">
                        <a:effectLst/>
                        <a:latin typeface="Nimbus Roman No9 L"/>
                        <a:ea typeface="Nimbus Roman No9 L"/>
                        <a:cs typeface="Nimbus Roman No9 L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just">
                        <a:buNone/>
                      </a:pPr>
                      <a:r>
                        <a:rPr lang="es-CO" sz="1600" dirty="0">
                          <a:effectLst/>
                        </a:rPr>
                        <a:t>356</a:t>
                      </a:r>
                      <a:endParaRPr lang="es-CO" sz="1600" dirty="0">
                        <a:effectLst/>
                        <a:latin typeface="Nimbus Roman No9 L"/>
                        <a:ea typeface="Nimbus Roman No9 L"/>
                        <a:cs typeface="Nimbus Roman No9 L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just">
                        <a:buNone/>
                      </a:pPr>
                      <a:r>
                        <a:rPr lang="es-CO" sz="1600">
                          <a:effectLst/>
                        </a:rPr>
                        <a:t>284</a:t>
                      </a:r>
                      <a:endParaRPr lang="es-CO" sz="1600">
                        <a:effectLst/>
                        <a:latin typeface="Nimbus Roman No9 L"/>
                        <a:ea typeface="Nimbus Roman No9 L"/>
                        <a:cs typeface="Nimbus Roman No9 L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just">
                        <a:buNone/>
                      </a:pPr>
                      <a:r>
                        <a:rPr lang="es-CO" sz="1600">
                          <a:effectLst/>
                        </a:rPr>
                        <a:t>72</a:t>
                      </a:r>
                      <a:endParaRPr lang="es-CO" sz="1600">
                        <a:effectLst/>
                        <a:latin typeface="Nimbus Roman No9 L"/>
                        <a:ea typeface="Nimbus Roman No9 L"/>
                        <a:cs typeface="Nimbus Roman No9 L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3008707483"/>
                  </a:ext>
                </a:extLst>
              </a:tr>
              <a:tr h="313026">
                <a:tc>
                  <a:txBody>
                    <a:bodyPr/>
                    <a:lstStyle/>
                    <a:p>
                      <a:pPr algn="just">
                        <a:buNone/>
                      </a:pPr>
                      <a:r>
                        <a:rPr lang="es-CO" sz="1600" dirty="0">
                          <a:effectLst/>
                        </a:rPr>
                        <a:t>ZW Canchas Panamericanas</a:t>
                      </a:r>
                      <a:endParaRPr lang="es-CO" sz="1600" dirty="0">
                        <a:effectLst/>
                        <a:latin typeface="Nimbus Roman No9 L"/>
                        <a:ea typeface="Nimbus Roman No9 L"/>
                        <a:cs typeface="Nimbus Roman No9 L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just">
                        <a:buNone/>
                      </a:pPr>
                      <a:r>
                        <a:rPr lang="es-CO" sz="1600" dirty="0">
                          <a:effectLst/>
                        </a:rPr>
                        <a:t>327</a:t>
                      </a:r>
                      <a:endParaRPr lang="es-CO" sz="1600" dirty="0">
                        <a:effectLst/>
                        <a:latin typeface="Nimbus Roman No9 L"/>
                        <a:ea typeface="Nimbus Roman No9 L"/>
                        <a:cs typeface="Nimbus Roman No9 L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just">
                        <a:buNone/>
                      </a:pPr>
                      <a:r>
                        <a:rPr lang="es-CO" sz="1600">
                          <a:effectLst/>
                        </a:rPr>
                        <a:t>261</a:t>
                      </a:r>
                      <a:endParaRPr lang="es-CO" sz="1600">
                        <a:effectLst/>
                        <a:latin typeface="Nimbus Roman No9 L"/>
                        <a:ea typeface="Nimbus Roman No9 L"/>
                        <a:cs typeface="Nimbus Roman No9 L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just">
                        <a:buNone/>
                      </a:pPr>
                      <a:r>
                        <a:rPr lang="es-CO" sz="1600">
                          <a:effectLst/>
                        </a:rPr>
                        <a:t>66</a:t>
                      </a:r>
                      <a:endParaRPr lang="es-CO" sz="1600">
                        <a:effectLst/>
                        <a:latin typeface="Nimbus Roman No9 L"/>
                        <a:ea typeface="Nimbus Roman No9 L"/>
                        <a:cs typeface="Nimbus Roman No9 L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3444974974"/>
                  </a:ext>
                </a:extLst>
              </a:tr>
              <a:tr h="313026">
                <a:tc>
                  <a:txBody>
                    <a:bodyPr/>
                    <a:lstStyle/>
                    <a:p>
                      <a:pPr algn="just">
                        <a:buNone/>
                      </a:pPr>
                      <a:r>
                        <a:rPr lang="es-CO" sz="1600" dirty="0">
                          <a:effectLst/>
                        </a:rPr>
                        <a:t>ZW Parque del Perro</a:t>
                      </a:r>
                      <a:endParaRPr lang="es-CO" sz="1600" dirty="0">
                        <a:effectLst/>
                        <a:latin typeface="Nimbus Roman No9 L"/>
                        <a:ea typeface="Nimbus Roman No9 L"/>
                        <a:cs typeface="Nimbus Roman No9 L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just">
                        <a:buNone/>
                      </a:pPr>
                      <a:r>
                        <a:rPr lang="es-CO" sz="1600" dirty="0">
                          <a:effectLst/>
                        </a:rPr>
                        <a:t>341</a:t>
                      </a:r>
                      <a:endParaRPr lang="es-CO" sz="1600" dirty="0">
                        <a:effectLst/>
                        <a:latin typeface="Nimbus Roman No9 L"/>
                        <a:ea typeface="Nimbus Roman No9 L"/>
                        <a:cs typeface="Nimbus Roman No9 L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just">
                        <a:buNone/>
                      </a:pPr>
                      <a:r>
                        <a:rPr lang="es-CO" sz="1600">
                          <a:effectLst/>
                        </a:rPr>
                        <a:t>272</a:t>
                      </a:r>
                      <a:endParaRPr lang="es-CO" sz="1600">
                        <a:effectLst/>
                        <a:latin typeface="Nimbus Roman No9 L"/>
                        <a:ea typeface="Nimbus Roman No9 L"/>
                        <a:cs typeface="Nimbus Roman No9 L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just">
                        <a:buNone/>
                      </a:pPr>
                      <a:r>
                        <a:rPr lang="es-CO" sz="1600">
                          <a:effectLst/>
                        </a:rPr>
                        <a:t>69</a:t>
                      </a:r>
                      <a:endParaRPr lang="es-CO" sz="1600">
                        <a:effectLst/>
                        <a:latin typeface="Nimbus Roman No9 L"/>
                        <a:ea typeface="Nimbus Roman No9 L"/>
                        <a:cs typeface="Nimbus Roman No9 L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3419099556"/>
                  </a:ext>
                </a:extLst>
              </a:tr>
              <a:tr h="313026">
                <a:tc>
                  <a:txBody>
                    <a:bodyPr/>
                    <a:lstStyle/>
                    <a:p>
                      <a:pPr algn="just">
                        <a:buNone/>
                      </a:pPr>
                      <a:r>
                        <a:rPr lang="es-CO" sz="1600" dirty="0">
                          <a:effectLst/>
                        </a:rPr>
                        <a:t>ZW Parque San Nicolás</a:t>
                      </a:r>
                      <a:endParaRPr lang="es-CO" sz="1600" dirty="0">
                        <a:effectLst/>
                        <a:latin typeface="Nimbus Roman No9 L"/>
                        <a:ea typeface="Nimbus Roman No9 L"/>
                        <a:cs typeface="Nimbus Roman No9 L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just">
                        <a:buNone/>
                      </a:pPr>
                      <a:r>
                        <a:rPr lang="es-CO" sz="1600" dirty="0">
                          <a:effectLst/>
                        </a:rPr>
                        <a:t>334</a:t>
                      </a:r>
                      <a:endParaRPr lang="es-CO" sz="1600" dirty="0">
                        <a:effectLst/>
                        <a:latin typeface="Nimbus Roman No9 L"/>
                        <a:ea typeface="Nimbus Roman No9 L"/>
                        <a:cs typeface="Nimbus Roman No9 L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just">
                        <a:buNone/>
                      </a:pPr>
                      <a:r>
                        <a:rPr lang="es-CO" sz="1600">
                          <a:effectLst/>
                        </a:rPr>
                        <a:t>267</a:t>
                      </a:r>
                      <a:endParaRPr lang="es-CO" sz="1600">
                        <a:effectLst/>
                        <a:latin typeface="Nimbus Roman No9 L"/>
                        <a:ea typeface="Nimbus Roman No9 L"/>
                        <a:cs typeface="Nimbus Roman No9 L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just">
                        <a:buNone/>
                      </a:pPr>
                      <a:r>
                        <a:rPr lang="es-CO" sz="1600">
                          <a:effectLst/>
                        </a:rPr>
                        <a:t>67</a:t>
                      </a:r>
                      <a:endParaRPr lang="es-CO" sz="1600">
                        <a:effectLst/>
                        <a:latin typeface="Nimbus Roman No9 L"/>
                        <a:ea typeface="Nimbus Roman No9 L"/>
                        <a:cs typeface="Nimbus Roman No9 L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65558508"/>
                  </a:ext>
                </a:extLst>
              </a:tr>
              <a:tr h="313026">
                <a:tc>
                  <a:txBody>
                    <a:bodyPr/>
                    <a:lstStyle/>
                    <a:p>
                      <a:pPr algn="just">
                        <a:buNone/>
                      </a:pPr>
                      <a:r>
                        <a:rPr lang="es-CO" sz="1600" dirty="0">
                          <a:effectLst/>
                        </a:rPr>
                        <a:t>ZW Parque Barrio Obrero</a:t>
                      </a:r>
                      <a:endParaRPr lang="es-CO" sz="1600" dirty="0">
                        <a:effectLst/>
                        <a:latin typeface="Nimbus Roman No9 L"/>
                        <a:ea typeface="Nimbus Roman No9 L"/>
                        <a:cs typeface="Nimbus Roman No9 L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just">
                        <a:buNone/>
                      </a:pPr>
                      <a:r>
                        <a:rPr lang="es-CO" sz="1600" dirty="0">
                          <a:effectLst/>
                        </a:rPr>
                        <a:t>382</a:t>
                      </a:r>
                      <a:endParaRPr lang="es-CO" sz="1600" dirty="0">
                        <a:effectLst/>
                        <a:latin typeface="Nimbus Roman No9 L"/>
                        <a:ea typeface="Nimbus Roman No9 L"/>
                        <a:cs typeface="Nimbus Roman No9 L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just">
                        <a:buNone/>
                      </a:pPr>
                      <a:r>
                        <a:rPr lang="es-CO" sz="1600" dirty="0">
                          <a:effectLst/>
                        </a:rPr>
                        <a:t>305</a:t>
                      </a:r>
                      <a:endParaRPr lang="es-CO" sz="1600" dirty="0">
                        <a:effectLst/>
                        <a:latin typeface="Nimbus Roman No9 L"/>
                        <a:ea typeface="Nimbus Roman No9 L"/>
                        <a:cs typeface="Nimbus Roman No9 L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just">
                        <a:buNone/>
                      </a:pPr>
                      <a:r>
                        <a:rPr lang="es-CO" sz="1600" dirty="0">
                          <a:effectLst/>
                        </a:rPr>
                        <a:t>77</a:t>
                      </a:r>
                      <a:endParaRPr lang="es-CO" sz="1600" dirty="0">
                        <a:effectLst/>
                        <a:latin typeface="Nimbus Roman No9 L"/>
                        <a:ea typeface="Nimbus Roman No9 L"/>
                        <a:cs typeface="Nimbus Roman No9 L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661027702"/>
                  </a:ext>
                </a:extLst>
              </a:tr>
              <a:tr h="313026">
                <a:tc>
                  <a:txBody>
                    <a:bodyPr/>
                    <a:lstStyle/>
                    <a:p>
                      <a:pPr algn="just">
                        <a:buNone/>
                      </a:pPr>
                      <a:r>
                        <a:rPr lang="es-CO" sz="1600" dirty="0">
                          <a:effectLst/>
                        </a:rPr>
                        <a:t>ZW Parque </a:t>
                      </a:r>
                      <a:r>
                        <a:rPr lang="es-CO" sz="1600" dirty="0" err="1">
                          <a:effectLst/>
                        </a:rPr>
                        <a:t>Pízamos</a:t>
                      </a:r>
                      <a:endParaRPr lang="es-CO" sz="1600" dirty="0">
                        <a:effectLst/>
                        <a:latin typeface="Nimbus Roman No9 L"/>
                        <a:ea typeface="Nimbus Roman No9 L"/>
                        <a:cs typeface="Nimbus Roman No9 L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just">
                        <a:buNone/>
                      </a:pPr>
                      <a:r>
                        <a:rPr lang="es-CO" sz="1600">
                          <a:effectLst/>
                        </a:rPr>
                        <a:t>124</a:t>
                      </a:r>
                      <a:endParaRPr lang="es-CO" sz="1600">
                        <a:effectLst/>
                        <a:latin typeface="Nimbus Roman No9 L"/>
                        <a:ea typeface="Nimbus Roman No9 L"/>
                        <a:cs typeface="Nimbus Roman No9 L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just">
                        <a:buNone/>
                      </a:pPr>
                      <a:r>
                        <a:rPr lang="es-CO" sz="1600">
                          <a:effectLst/>
                        </a:rPr>
                        <a:t>99</a:t>
                      </a:r>
                      <a:endParaRPr lang="es-CO" sz="1600">
                        <a:effectLst/>
                        <a:latin typeface="Nimbus Roman No9 L"/>
                        <a:ea typeface="Nimbus Roman No9 L"/>
                        <a:cs typeface="Nimbus Roman No9 L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just">
                        <a:buNone/>
                      </a:pPr>
                      <a:r>
                        <a:rPr lang="es-CO" sz="1600" dirty="0">
                          <a:effectLst/>
                        </a:rPr>
                        <a:t>25</a:t>
                      </a:r>
                      <a:endParaRPr lang="es-CO" sz="1600" dirty="0">
                        <a:effectLst/>
                        <a:latin typeface="Nimbus Roman No9 L"/>
                        <a:ea typeface="Nimbus Roman No9 L"/>
                        <a:cs typeface="Nimbus Roman No9 L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36787043"/>
                  </a:ext>
                </a:extLst>
              </a:tr>
              <a:tr h="313026">
                <a:tc>
                  <a:txBody>
                    <a:bodyPr/>
                    <a:lstStyle/>
                    <a:p>
                      <a:pPr algn="just">
                        <a:buNone/>
                      </a:pPr>
                      <a:r>
                        <a:rPr lang="es-CO" sz="1600" dirty="0">
                          <a:effectLst/>
                        </a:rPr>
                        <a:t>ZW Parque Alfonso López</a:t>
                      </a:r>
                      <a:endParaRPr lang="es-CO" sz="1600" dirty="0">
                        <a:effectLst/>
                        <a:latin typeface="Nimbus Roman No9 L"/>
                        <a:ea typeface="Nimbus Roman No9 L"/>
                        <a:cs typeface="Nimbus Roman No9 L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just">
                        <a:buNone/>
                      </a:pPr>
                      <a:r>
                        <a:rPr lang="es-CO" sz="1600">
                          <a:effectLst/>
                        </a:rPr>
                        <a:t>341</a:t>
                      </a:r>
                      <a:endParaRPr lang="es-CO" sz="1600">
                        <a:effectLst/>
                        <a:latin typeface="Nimbus Roman No9 L"/>
                        <a:ea typeface="Nimbus Roman No9 L"/>
                        <a:cs typeface="Nimbus Roman No9 L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just">
                        <a:buNone/>
                      </a:pPr>
                      <a:r>
                        <a:rPr lang="es-CO" sz="1600">
                          <a:effectLst/>
                        </a:rPr>
                        <a:t>272</a:t>
                      </a:r>
                      <a:endParaRPr lang="es-CO" sz="1600">
                        <a:effectLst/>
                        <a:latin typeface="Nimbus Roman No9 L"/>
                        <a:ea typeface="Nimbus Roman No9 L"/>
                        <a:cs typeface="Nimbus Roman No9 L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just">
                        <a:buNone/>
                      </a:pPr>
                      <a:r>
                        <a:rPr lang="es-CO" sz="1600" dirty="0">
                          <a:effectLst/>
                        </a:rPr>
                        <a:t>69</a:t>
                      </a:r>
                      <a:endParaRPr lang="es-CO" sz="1600" dirty="0">
                        <a:effectLst/>
                        <a:latin typeface="Nimbus Roman No9 L"/>
                        <a:ea typeface="Nimbus Roman No9 L"/>
                        <a:cs typeface="Nimbus Roman No9 L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2045457754"/>
                  </a:ext>
                </a:extLst>
              </a:tr>
              <a:tr h="313026">
                <a:tc>
                  <a:txBody>
                    <a:bodyPr/>
                    <a:lstStyle/>
                    <a:p>
                      <a:pPr algn="just">
                        <a:buNone/>
                      </a:pPr>
                      <a:r>
                        <a:rPr lang="es-CO" sz="1600" dirty="0">
                          <a:effectLst/>
                        </a:rPr>
                        <a:t>ZW Parque Antonio Nariño</a:t>
                      </a:r>
                      <a:endParaRPr lang="es-CO" sz="1600" dirty="0">
                        <a:effectLst/>
                        <a:latin typeface="Nimbus Roman No9 L"/>
                        <a:ea typeface="Nimbus Roman No9 L"/>
                        <a:cs typeface="Nimbus Roman No9 L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just">
                        <a:buNone/>
                      </a:pPr>
                      <a:r>
                        <a:rPr lang="es-CO" sz="1600">
                          <a:effectLst/>
                        </a:rPr>
                        <a:t>331</a:t>
                      </a:r>
                      <a:endParaRPr lang="es-CO" sz="1600">
                        <a:effectLst/>
                        <a:latin typeface="Nimbus Roman No9 L"/>
                        <a:ea typeface="Nimbus Roman No9 L"/>
                        <a:cs typeface="Nimbus Roman No9 L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just">
                        <a:buNone/>
                      </a:pPr>
                      <a:r>
                        <a:rPr lang="es-CO" sz="1600">
                          <a:effectLst/>
                        </a:rPr>
                        <a:t>264</a:t>
                      </a:r>
                      <a:endParaRPr lang="es-CO" sz="1600">
                        <a:effectLst/>
                        <a:latin typeface="Nimbus Roman No9 L"/>
                        <a:ea typeface="Nimbus Roman No9 L"/>
                        <a:cs typeface="Nimbus Roman No9 L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just">
                        <a:buNone/>
                      </a:pPr>
                      <a:r>
                        <a:rPr lang="es-CO" sz="1600" dirty="0">
                          <a:effectLst/>
                        </a:rPr>
                        <a:t>67</a:t>
                      </a:r>
                      <a:endParaRPr lang="es-CO" sz="1600" dirty="0">
                        <a:effectLst/>
                        <a:latin typeface="Nimbus Roman No9 L"/>
                        <a:ea typeface="Nimbus Roman No9 L"/>
                        <a:cs typeface="Nimbus Roman No9 L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3338049300"/>
                  </a:ext>
                </a:extLst>
              </a:tr>
              <a:tr h="313026">
                <a:tc>
                  <a:txBody>
                    <a:bodyPr/>
                    <a:lstStyle/>
                    <a:p>
                      <a:pPr algn="just">
                        <a:buNone/>
                      </a:pPr>
                      <a:r>
                        <a:rPr lang="es-CO" sz="1600" dirty="0">
                          <a:effectLst/>
                        </a:rPr>
                        <a:t>ZW Parque Santa Rosa Poblado</a:t>
                      </a:r>
                      <a:endParaRPr lang="es-CO" sz="1600" dirty="0">
                        <a:effectLst/>
                        <a:latin typeface="Nimbus Roman No9 L"/>
                        <a:ea typeface="Nimbus Roman No9 L"/>
                        <a:cs typeface="Nimbus Roman No9 L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just">
                        <a:buNone/>
                      </a:pPr>
                      <a:r>
                        <a:rPr lang="es-CO" sz="1600">
                          <a:effectLst/>
                        </a:rPr>
                        <a:t>380</a:t>
                      </a:r>
                      <a:endParaRPr lang="es-CO" sz="1600">
                        <a:effectLst/>
                        <a:latin typeface="Nimbus Roman No9 L"/>
                        <a:ea typeface="Nimbus Roman No9 L"/>
                        <a:cs typeface="Nimbus Roman No9 L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just">
                        <a:buNone/>
                      </a:pPr>
                      <a:r>
                        <a:rPr lang="es-CO" sz="1600">
                          <a:effectLst/>
                        </a:rPr>
                        <a:t>304</a:t>
                      </a:r>
                      <a:endParaRPr lang="es-CO" sz="1600">
                        <a:effectLst/>
                        <a:latin typeface="Nimbus Roman No9 L"/>
                        <a:ea typeface="Nimbus Roman No9 L"/>
                        <a:cs typeface="Nimbus Roman No9 L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just">
                        <a:buNone/>
                      </a:pPr>
                      <a:r>
                        <a:rPr lang="es-CO" sz="1600" dirty="0">
                          <a:effectLst/>
                        </a:rPr>
                        <a:t>76</a:t>
                      </a:r>
                      <a:endParaRPr lang="es-CO" sz="1600" dirty="0">
                        <a:effectLst/>
                        <a:latin typeface="Nimbus Roman No9 L"/>
                        <a:ea typeface="Nimbus Roman No9 L"/>
                        <a:cs typeface="Nimbus Roman No9 L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4195413525"/>
                  </a:ext>
                </a:extLst>
              </a:tr>
              <a:tr h="313026">
                <a:tc>
                  <a:txBody>
                    <a:bodyPr/>
                    <a:lstStyle/>
                    <a:p>
                      <a:pPr algn="just">
                        <a:buNone/>
                      </a:pPr>
                      <a:r>
                        <a:rPr lang="es-CO" sz="1600" dirty="0">
                          <a:effectLst/>
                        </a:rPr>
                        <a:t>ZW Polideportivo Los Naranjos</a:t>
                      </a:r>
                      <a:endParaRPr lang="es-CO" sz="1600" dirty="0">
                        <a:effectLst/>
                        <a:latin typeface="Nimbus Roman No9 L"/>
                        <a:ea typeface="Nimbus Roman No9 L"/>
                        <a:cs typeface="Nimbus Roman No9 L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just">
                        <a:buNone/>
                      </a:pPr>
                      <a:r>
                        <a:rPr lang="es-CO" sz="1600">
                          <a:effectLst/>
                        </a:rPr>
                        <a:t>402</a:t>
                      </a:r>
                      <a:endParaRPr lang="es-CO" sz="1600">
                        <a:effectLst/>
                        <a:latin typeface="Nimbus Roman No9 L"/>
                        <a:ea typeface="Nimbus Roman No9 L"/>
                        <a:cs typeface="Nimbus Roman No9 L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just">
                        <a:buNone/>
                      </a:pPr>
                      <a:r>
                        <a:rPr lang="es-CO" sz="1600">
                          <a:effectLst/>
                        </a:rPr>
                        <a:t>321</a:t>
                      </a:r>
                      <a:endParaRPr lang="es-CO" sz="1600">
                        <a:effectLst/>
                        <a:latin typeface="Nimbus Roman No9 L"/>
                        <a:ea typeface="Nimbus Roman No9 L"/>
                        <a:cs typeface="Nimbus Roman No9 L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just">
                        <a:buNone/>
                      </a:pPr>
                      <a:r>
                        <a:rPr lang="es-CO" sz="1600" dirty="0">
                          <a:effectLst/>
                        </a:rPr>
                        <a:t>81</a:t>
                      </a:r>
                      <a:endParaRPr lang="es-CO" sz="1600" dirty="0">
                        <a:effectLst/>
                        <a:latin typeface="Nimbus Roman No9 L"/>
                        <a:ea typeface="Nimbus Roman No9 L"/>
                        <a:cs typeface="Nimbus Roman No9 L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26972574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68308943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4DBAEFF1-D3FE-F5AF-499B-86FEDBE9F95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ítulo 1">
            <a:extLst>
              <a:ext uri="{FF2B5EF4-FFF2-40B4-BE49-F238E27FC236}">
                <a16:creationId xmlns:a16="http://schemas.microsoft.com/office/drawing/2014/main" id="{6D77C7C3-8ADF-BEC4-5C8C-F8030FF9CCD6}"/>
              </a:ext>
            </a:extLst>
          </p:cNvPr>
          <p:cNvSpPr txBox="1">
            <a:spLocks/>
          </p:cNvSpPr>
          <p:nvPr/>
        </p:nvSpPr>
        <p:spPr>
          <a:xfrm>
            <a:off x="1612662" y="72573"/>
            <a:ext cx="6392357" cy="768643"/>
          </a:xfrm>
          <a:prstGeom prst="rect">
            <a:avLst/>
          </a:prstGeom>
        </p:spPr>
        <p:txBody>
          <a:bodyPr vert="horz" lIns="68580" tIns="34290" rIns="68580" bIns="34290" rtlCol="0" anchor="ctr">
            <a:normAutofit fontScale="25000" lnSpcReduction="200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>
              <a:lnSpc>
                <a:spcPct val="110000"/>
              </a:lnSpc>
            </a:pPr>
            <a:endParaRPr lang="es-CO" sz="3750" b="1" dirty="0">
              <a:solidFill>
                <a:schemeClr val="tx2">
                  <a:lumMod val="50000"/>
                </a:schemeClr>
              </a:solidFill>
              <a:latin typeface="+mn-lt"/>
            </a:endParaRPr>
          </a:p>
          <a:p>
            <a:pPr algn="ctr">
              <a:lnSpc>
                <a:spcPct val="110000"/>
              </a:lnSpc>
            </a:pPr>
            <a:r>
              <a:rPr lang="es-CO" sz="18500" b="1" dirty="0">
                <a:solidFill>
                  <a:schemeClr val="tx2">
                    <a:lumMod val="50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Escalado y Ventaneo.</a:t>
            </a:r>
            <a:endParaRPr lang="es-CO" sz="3750" b="1" dirty="0">
              <a:solidFill>
                <a:schemeClr val="tx2">
                  <a:lumMod val="50000"/>
                </a:schemeClr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pic>
        <p:nvPicPr>
          <p:cNvPr id="13" name="Imagen 12">
            <a:extLst>
              <a:ext uri="{FF2B5EF4-FFF2-40B4-BE49-F238E27FC236}">
                <a16:creationId xmlns:a16="http://schemas.microsoft.com/office/drawing/2014/main" id="{39F49B71-1D58-763B-37EE-E947EDCFB12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rot="10800000" flipH="1">
            <a:off x="8497815" y="1912273"/>
            <a:ext cx="2908797" cy="6146129"/>
          </a:xfrm>
          <a:prstGeom prst="rect">
            <a:avLst/>
          </a:prstGeom>
        </p:spPr>
      </p:pic>
      <p:pic>
        <p:nvPicPr>
          <p:cNvPr id="10" name="Gráfico 9">
            <a:extLst>
              <a:ext uri="{FF2B5EF4-FFF2-40B4-BE49-F238E27FC236}">
                <a16:creationId xmlns:a16="http://schemas.microsoft.com/office/drawing/2014/main" id="{ADDF0915-05C8-64AB-3EF5-65A75B8AE19D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 rot="16200000">
            <a:off x="10012430" y="-206067"/>
            <a:ext cx="2214082" cy="2334513"/>
          </a:xfrm>
          <a:prstGeom prst="rect">
            <a:avLst/>
          </a:prstGeom>
        </p:spPr>
      </p:pic>
      <p:pic>
        <p:nvPicPr>
          <p:cNvPr id="12" name="Imagen 11">
            <a:extLst>
              <a:ext uri="{FF2B5EF4-FFF2-40B4-BE49-F238E27FC236}">
                <a16:creationId xmlns:a16="http://schemas.microsoft.com/office/drawing/2014/main" id="{A900E7D5-C0B3-01AA-B2D6-60944EDD498F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682615" y="219393"/>
            <a:ext cx="1160941" cy="1243647"/>
          </a:xfrm>
          <a:prstGeom prst="rect">
            <a:avLst/>
          </a:prstGeom>
        </p:spPr>
      </p:pic>
      <p:sp>
        <p:nvSpPr>
          <p:cNvPr id="2" name="CuadroTexto 1">
            <a:extLst>
              <a:ext uri="{FF2B5EF4-FFF2-40B4-BE49-F238E27FC236}">
                <a16:creationId xmlns:a16="http://schemas.microsoft.com/office/drawing/2014/main" id="{00EF9315-1341-A945-3960-BEBCCC1A55FA}"/>
              </a:ext>
            </a:extLst>
          </p:cNvPr>
          <p:cNvSpPr txBox="1"/>
          <p:nvPr/>
        </p:nvSpPr>
        <p:spPr>
          <a:xfrm>
            <a:off x="1363239" y="1387935"/>
            <a:ext cx="8620839" cy="221599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CO" sz="2400" b="1" dirty="0"/>
              <a:t>Variables Escaladas:  </a:t>
            </a:r>
            <a:r>
              <a:rPr lang="es-CO" sz="2400" dirty="0"/>
              <a:t>PORCENTAJE_USO, NUMERO_CONEXIONES, USAGE_KB se utilizo </a:t>
            </a:r>
            <a:r>
              <a:rPr lang="es-MX" sz="2400" b="1" dirty="0" err="1"/>
              <a:t>RobustScaler</a:t>
            </a:r>
            <a:r>
              <a:rPr lang="es-MX" sz="2400" b="1" dirty="0"/>
              <a:t> </a:t>
            </a:r>
            <a:r>
              <a:rPr lang="es-MX" sz="2400" dirty="0"/>
              <a:t>por la gran cantidad de </a:t>
            </a:r>
            <a:r>
              <a:rPr lang="es-MX" sz="2400" dirty="0" err="1"/>
              <a:t>Outliers</a:t>
            </a:r>
            <a:r>
              <a:rPr lang="es-MX" sz="2400" dirty="0"/>
              <a:t> con los que cuentan los </a:t>
            </a:r>
            <a:r>
              <a:rPr lang="es-MX" sz="2400" dirty="0" err="1"/>
              <a:t>datasets</a:t>
            </a:r>
            <a:r>
              <a:rPr lang="es-MX" sz="2400" dirty="0"/>
              <a:t>. Este utiliza la mediana y el rango intercuartílico.  Este método resulta más adecuado que técnicas como la de </a:t>
            </a:r>
            <a:r>
              <a:rPr lang="es-MX" sz="2400" dirty="0" err="1"/>
              <a:t>StandardScaler</a:t>
            </a:r>
            <a:r>
              <a:rPr lang="es-MX" sz="2400" dirty="0"/>
              <a:t>.</a:t>
            </a:r>
          </a:p>
          <a:p>
            <a:endParaRPr lang="es-CO" dirty="0"/>
          </a:p>
        </p:txBody>
      </p:sp>
      <p:sp>
        <p:nvSpPr>
          <p:cNvPr id="3" name="CuadroTexto 2">
            <a:extLst>
              <a:ext uri="{FF2B5EF4-FFF2-40B4-BE49-F238E27FC236}">
                <a16:creationId xmlns:a16="http://schemas.microsoft.com/office/drawing/2014/main" id="{D1F676BD-73A4-FBEE-8C2E-F11D7A59D56D}"/>
              </a:ext>
            </a:extLst>
          </p:cNvPr>
          <p:cNvSpPr txBox="1"/>
          <p:nvPr/>
        </p:nvSpPr>
        <p:spPr>
          <a:xfrm>
            <a:off x="1363239" y="3912607"/>
            <a:ext cx="8833301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s-MX" sz="2400" b="1" dirty="0"/>
              <a:t>Ventaneo/Ventanas Deslizantes de las series de tiempo:  </a:t>
            </a:r>
            <a:r>
              <a:rPr lang="es-CO" sz="2400" dirty="0"/>
              <a:t>Con los datos ya depurados, transformados y escalados, se procedió a aplicar una ventana de 10 días para predecir el día 11.</a:t>
            </a:r>
          </a:p>
          <a:p>
            <a:pPr algn="just"/>
            <a:r>
              <a:rPr lang="es-CO" dirty="0"/>
              <a:t> </a:t>
            </a:r>
          </a:p>
          <a:p>
            <a:endParaRPr lang="es-CO" b="1" dirty="0"/>
          </a:p>
        </p:txBody>
      </p:sp>
    </p:spTree>
    <p:extLst>
      <p:ext uri="{BB962C8B-B14F-4D97-AF65-F5344CB8AC3E}">
        <p14:creationId xmlns:p14="http://schemas.microsoft.com/office/powerpoint/2010/main" val="3891461002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B2F29835-49B7-6395-AADF-6C51DF8BE0A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ítulo 1">
            <a:extLst>
              <a:ext uri="{FF2B5EF4-FFF2-40B4-BE49-F238E27FC236}">
                <a16:creationId xmlns:a16="http://schemas.microsoft.com/office/drawing/2014/main" id="{DF142102-342C-832E-4980-9909861CC1DA}"/>
              </a:ext>
            </a:extLst>
          </p:cNvPr>
          <p:cNvSpPr txBox="1">
            <a:spLocks/>
          </p:cNvSpPr>
          <p:nvPr/>
        </p:nvSpPr>
        <p:spPr>
          <a:xfrm>
            <a:off x="1612662" y="72573"/>
            <a:ext cx="6392357" cy="768643"/>
          </a:xfrm>
          <a:prstGeom prst="rect">
            <a:avLst/>
          </a:prstGeom>
        </p:spPr>
        <p:txBody>
          <a:bodyPr vert="horz" lIns="68580" tIns="34290" rIns="68580" bIns="34290" rtlCol="0" anchor="ctr">
            <a:normAutofit fontScale="25000" lnSpcReduction="200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>
              <a:lnSpc>
                <a:spcPct val="110000"/>
              </a:lnSpc>
            </a:pPr>
            <a:endParaRPr lang="es-CO" sz="3750" b="1" dirty="0">
              <a:solidFill>
                <a:schemeClr val="tx2">
                  <a:lumMod val="50000"/>
                </a:schemeClr>
              </a:solidFill>
              <a:latin typeface="+mn-lt"/>
            </a:endParaRPr>
          </a:p>
          <a:p>
            <a:pPr algn="ctr">
              <a:lnSpc>
                <a:spcPct val="110000"/>
              </a:lnSpc>
            </a:pPr>
            <a:r>
              <a:rPr lang="es-CO" sz="18500" b="1" dirty="0">
                <a:solidFill>
                  <a:schemeClr val="tx2">
                    <a:lumMod val="50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Modelado.</a:t>
            </a:r>
            <a:endParaRPr lang="es-CO" sz="3750" b="1" dirty="0">
              <a:solidFill>
                <a:schemeClr val="tx2">
                  <a:lumMod val="50000"/>
                </a:schemeClr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pic>
        <p:nvPicPr>
          <p:cNvPr id="13" name="Imagen 12">
            <a:extLst>
              <a:ext uri="{FF2B5EF4-FFF2-40B4-BE49-F238E27FC236}">
                <a16:creationId xmlns:a16="http://schemas.microsoft.com/office/drawing/2014/main" id="{73730BA1-0DE5-8343-76F6-DEDE559E7AA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rot="10800000" flipH="1">
            <a:off x="8497815" y="1912273"/>
            <a:ext cx="2908797" cy="6146129"/>
          </a:xfrm>
          <a:prstGeom prst="rect">
            <a:avLst/>
          </a:prstGeom>
        </p:spPr>
      </p:pic>
      <p:pic>
        <p:nvPicPr>
          <p:cNvPr id="5" name="Imagen 4">
            <a:extLst>
              <a:ext uri="{FF2B5EF4-FFF2-40B4-BE49-F238E27FC236}">
                <a16:creationId xmlns:a16="http://schemas.microsoft.com/office/drawing/2014/main" id="{E5EE34F2-85A6-5397-3536-5EC628D0D8C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810370" y="-91440"/>
            <a:ext cx="3564510" cy="7024947"/>
          </a:xfrm>
          <a:prstGeom prst="rect">
            <a:avLst/>
          </a:prstGeom>
        </p:spPr>
      </p:pic>
      <p:pic>
        <p:nvPicPr>
          <p:cNvPr id="10" name="Gráfico 9">
            <a:extLst>
              <a:ext uri="{FF2B5EF4-FFF2-40B4-BE49-F238E27FC236}">
                <a16:creationId xmlns:a16="http://schemas.microsoft.com/office/drawing/2014/main" id="{DA5A751C-0CFC-8FD3-F1AC-515FE98234E4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 rot="16200000">
            <a:off x="10012430" y="-206067"/>
            <a:ext cx="2214082" cy="2334513"/>
          </a:xfrm>
          <a:prstGeom prst="rect">
            <a:avLst/>
          </a:prstGeom>
        </p:spPr>
      </p:pic>
      <p:pic>
        <p:nvPicPr>
          <p:cNvPr id="12" name="Imagen 11">
            <a:extLst>
              <a:ext uri="{FF2B5EF4-FFF2-40B4-BE49-F238E27FC236}">
                <a16:creationId xmlns:a16="http://schemas.microsoft.com/office/drawing/2014/main" id="{99010557-571E-8190-99C1-FA2F533A3A05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0682615" y="219393"/>
            <a:ext cx="1160941" cy="1243647"/>
          </a:xfrm>
          <a:prstGeom prst="rect">
            <a:avLst/>
          </a:prstGeom>
        </p:spPr>
      </p:pic>
      <p:sp>
        <p:nvSpPr>
          <p:cNvPr id="2" name="CuadroTexto 1">
            <a:extLst>
              <a:ext uri="{FF2B5EF4-FFF2-40B4-BE49-F238E27FC236}">
                <a16:creationId xmlns:a16="http://schemas.microsoft.com/office/drawing/2014/main" id="{C7502DA5-59FD-05D1-FBBC-0975798753AE}"/>
              </a:ext>
            </a:extLst>
          </p:cNvPr>
          <p:cNvSpPr txBox="1"/>
          <p:nvPr/>
        </p:nvSpPr>
        <p:spPr>
          <a:xfrm>
            <a:off x="189531" y="758111"/>
            <a:ext cx="8620839" cy="23083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s-CO" dirty="0"/>
              <a:t>Como primer paso, se implementaron modelos base con parámetros por defecto, con el propósito de obtener una línea base de desempeño que sirviera como referencia para posteriores comparaciones.</a:t>
            </a:r>
          </a:p>
          <a:p>
            <a:pPr algn="just"/>
            <a:endParaRPr lang="es-CO" dirty="0"/>
          </a:p>
          <a:p>
            <a:pPr algn="just"/>
            <a:r>
              <a:rPr lang="es-CO" dirty="0"/>
              <a:t>Posteriormente se hizo una búsqueda de grilla con tal de encontrar los mejores </a:t>
            </a:r>
            <a:r>
              <a:rPr lang="es-CO" dirty="0" err="1"/>
              <a:t>hiperparámetros</a:t>
            </a:r>
            <a:r>
              <a:rPr lang="es-CO" dirty="0"/>
              <a:t> y dar con el mejor desempeño de predicción en cada zona.</a:t>
            </a:r>
          </a:p>
          <a:p>
            <a:pPr algn="just"/>
            <a:endParaRPr lang="es-MX" dirty="0"/>
          </a:p>
          <a:p>
            <a:endParaRPr lang="es-CO" dirty="0"/>
          </a:p>
        </p:txBody>
      </p:sp>
      <p:sp>
        <p:nvSpPr>
          <p:cNvPr id="3" name="CuadroTexto 2">
            <a:extLst>
              <a:ext uri="{FF2B5EF4-FFF2-40B4-BE49-F238E27FC236}">
                <a16:creationId xmlns:a16="http://schemas.microsoft.com/office/drawing/2014/main" id="{380CBCBB-CF90-B5D4-B7B3-9ED54DA34A12}"/>
              </a:ext>
            </a:extLst>
          </p:cNvPr>
          <p:cNvSpPr txBox="1"/>
          <p:nvPr/>
        </p:nvSpPr>
        <p:spPr>
          <a:xfrm>
            <a:off x="189531" y="2844929"/>
            <a:ext cx="8833301" cy="258532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MX" dirty="0"/>
              <a:t>●</a:t>
            </a:r>
            <a:r>
              <a:rPr lang="es-MX" b="1" dirty="0"/>
              <a:t>Regresión Lineal:</a:t>
            </a:r>
            <a:r>
              <a:rPr lang="es-MX" dirty="0"/>
              <a:t> utilizada como modelo de referencia simple para evaluar la capacidad de los enfoques más complejos.</a:t>
            </a:r>
          </a:p>
          <a:p>
            <a:r>
              <a:rPr lang="es-MX" dirty="0"/>
              <a:t>●</a:t>
            </a:r>
            <a:r>
              <a:rPr lang="es-MX" b="1" dirty="0" err="1"/>
              <a:t>Random</a:t>
            </a:r>
            <a:r>
              <a:rPr lang="es-MX" b="1" dirty="0"/>
              <a:t> Forest </a:t>
            </a:r>
            <a:r>
              <a:rPr lang="es-MX" b="1" dirty="0" err="1"/>
              <a:t>Regressor</a:t>
            </a:r>
            <a:r>
              <a:rPr lang="es-MX" b="1" dirty="0"/>
              <a:t>: </a:t>
            </a:r>
            <a:r>
              <a:rPr lang="es-MX" dirty="0"/>
              <a:t>basado en ensambles de árboles de decisión, capaz de modelar relaciones no lineales y manejar interacciones complejas entre variables.</a:t>
            </a:r>
          </a:p>
          <a:p>
            <a:r>
              <a:rPr lang="es-MX" dirty="0"/>
              <a:t>●</a:t>
            </a:r>
            <a:r>
              <a:rPr lang="es-MX" b="1" dirty="0" err="1"/>
              <a:t>Support</a:t>
            </a:r>
            <a:r>
              <a:rPr lang="es-MX" b="1" dirty="0"/>
              <a:t> Vector </a:t>
            </a:r>
            <a:r>
              <a:rPr lang="es-MX" b="1" dirty="0" err="1"/>
              <a:t>Regression</a:t>
            </a:r>
            <a:r>
              <a:rPr lang="es-MX" b="1" dirty="0"/>
              <a:t> (SVR): </a:t>
            </a:r>
            <a:r>
              <a:rPr lang="es-MX" dirty="0"/>
              <a:t>que permite capturar relaciones no lineales mediante el uso de funciones </a:t>
            </a:r>
            <a:r>
              <a:rPr lang="es-MX" dirty="0" err="1"/>
              <a:t>kernel</a:t>
            </a:r>
            <a:r>
              <a:rPr lang="es-MX" dirty="0"/>
              <a:t>.</a:t>
            </a:r>
          </a:p>
          <a:p>
            <a:r>
              <a:rPr lang="es-MX" dirty="0"/>
              <a:t>●</a:t>
            </a:r>
            <a:r>
              <a:rPr lang="es-MX" b="1" dirty="0"/>
              <a:t>Perceptrón Multicapa (MLP </a:t>
            </a:r>
            <a:r>
              <a:rPr lang="es-MX" b="1" dirty="0" err="1"/>
              <a:t>Regressor</a:t>
            </a:r>
            <a:r>
              <a:rPr lang="es-MX" b="1" dirty="0"/>
              <a:t>): </a:t>
            </a:r>
            <a:r>
              <a:rPr lang="es-MX" dirty="0"/>
              <a:t>representativo de los modelos de redes neuronales aplicados a problemas de regresión.</a:t>
            </a:r>
          </a:p>
          <a:p>
            <a:endParaRPr lang="es-CO" b="1" dirty="0"/>
          </a:p>
        </p:txBody>
      </p:sp>
      <p:sp>
        <p:nvSpPr>
          <p:cNvPr id="8" name="CuadroTexto 7">
            <a:extLst>
              <a:ext uri="{FF2B5EF4-FFF2-40B4-BE49-F238E27FC236}">
                <a16:creationId xmlns:a16="http://schemas.microsoft.com/office/drawing/2014/main" id="{8E9FFD60-B0E6-CB91-01E7-EA6F459C32EE}"/>
              </a:ext>
            </a:extLst>
          </p:cNvPr>
          <p:cNvSpPr txBox="1"/>
          <p:nvPr/>
        </p:nvSpPr>
        <p:spPr>
          <a:xfrm>
            <a:off x="189531" y="5430252"/>
            <a:ext cx="8945681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CO" i="1" dirty="0"/>
              <a:t>Para cada modelo se reportaron las métricas de desempeño MAE, RMSE, MAPE y R², calculadas sobre el conjunto de prueba. De las cuales se optó por seleccionar el mejor modelo dependiendo del MAPE.</a:t>
            </a:r>
          </a:p>
          <a:p>
            <a:endParaRPr lang="es-CO" dirty="0"/>
          </a:p>
        </p:txBody>
      </p:sp>
    </p:spTree>
    <p:extLst>
      <p:ext uri="{BB962C8B-B14F-4D97-AF65-F5344CB8AC3E}">
        <p14:creationId xmlns:p14="http://schemas.microsoft.com/office/powerpoint/2010/main" val="2898852620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8741845A-9AC7-4B4B-88AC-FD51578ABBE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ítulo 1">
            <a:extLst>
              <a:ext uri="{FF2B5EF4-FFF2-40B4-BE49-F238E27FC236}">
                <a16:creationId xmlns:a16="http://schemas.microsoft.com/office/drawing/2014/main" id="{F76CE468-F812-1E78-6018-1238E91260E3}"/>
              </a:ext>
            </a:extLst>
          </p:cNvPr>
          <p:cNvSpPr txBox="1">
            <a:spLocks/>
          </p:cNvSpPr>
          <p:nvPr/>
        </p:nvSpPr>
        <p:spPr>
          <a:xfrm>
            <a:off x="1612661" y="-50986"/>
            <a:ext cx="6392357" cy="768643"/>
          </a:xfrm>
          <a:prstGeom prst="rect">
            <a:avLst/>
          </a:prstGeom>
        </p:spPr>
        <p:txBody>
          <a:bodyPr vert="horz" lIns="68580" tIns="34290" rIns="68580" bIns="34290" rtlCol="0" anchor="ctr">
            <a:normAutofit fontScale="25000" lnSpcReduction="200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>
              <a:lnSpc>
                <a:spcPct val="110000"/>
              </a:lnSpc>
            </a:pPr>
            <a:endParaRPr lang="es-CO" sz="3750" b="1" dirty="0">
              <a:solidFill>
                <a:schemeClr val="tx2">
                  <a:lumMod val="50000"/>
                </a:schemeClr>
              </a:solidFill>
              <a:latin typeface="+mn-lt"/>
            </a:endParaRPr>
          </a:p>
          <a:p>
            <a:pPr algn="ctr">
              <a:lnSpc>
                <a:spcPct val="110000"/>
              </a:lnSpc>
            </a:pPr>
            <a:r>
              <a:rPr lang="es-CO" sz="17600" b="1" dirty="0">
                <a:solidFill>
                  <a:schemeClr val="tx2">
                    <a:lumMod val="50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Modelo </a:t>
            </a:r>
            <a:r>
              <a:rPr lang="es-CO" sz="17600" b="1" dirty="0" err="1">
                <a:solidFill>
                  <a:schemeClr val="tx2">
                    <a:lumMod val="50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Random</a:t>
            </a:r>
            <a:r>
              <a:rPr lang="es-CO" sz="17600" b="1" dirty="0">
                <a:solidFill>
                  <a:schemeClr val="tx2">
                    <a:lumMod val="50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Forest.</a:t>
            </a:r>
          </a:p>
        </p:txBody>
      </p:sp>
      <p:pic>
        <p:nvPicPr>
          <p:cNvPr id="13" name="Imagen 12">
            <a:extLst>
              <a:ext uri="{FF2B5EF4-FFF2-40B4-BE49-F238E27FC236}">
                <a16:creationId xmlns:a16="http://schemas.microsoft.com/office/drawing/2014/main" id="{1F55630D-B355-EAAD-CC2B-829A293C9A1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rot="10800000" flipH="1">
            <a:off x="5458401" y="1514693"/>
            <a:ext cx="2908797" cy="6146129"/>
          </a:xfrm>
          <a:prstGeom prst="rect">
            <a:avLst/>
          </a:prstGeom>
        </p:spPr>
      </p:pic>
      <p:pic>
        <p:nvPicPr>
          <p:cNvPr id="5" name="Imagen 4">
            <a:extLst>
              <a:ext uri="{FF2B5EF4-FFF2-40B4-BE49-F238E27FC236}">
                <a16:creationId xmlns:a16="http://schemas.microsoft.com/office/drawing/2014/main" id="{3337ECD2-32B5-306F-6CDA-EF15D12ED15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810370" y="-91440"/>
            <a:ext cx="3564510" cy="7024947"/>
          </a:xfrm>
          <a:prstGeom prst="rect">
            <a:avLst/>
          </a:prstGeom>
        </p:spPr>
      </p:pic>
      <p:pic>
        <p:nvPicPr>
          <p:cNvPr id="10" name="Gráfico 9">
            <a:extLst>
              <a:ext uri="{FF2B5EF4-FFF2-40B4-BE49-F238E27FC236}">
                <a16:creationId xmlns:a16="http://schemas.microsoft.com/office/drawing/2014/main" id="{0F9A8873-C0C2-57BD-14AB-657E2F0BE952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 rot="16200000">
            <a:off x="10012430" y="-206067"/>
            <a:ext cx="2214082" cy="2334513"/>
          </a:xfrm>
          <a:prstGeom prst="rect">
            <a:avLst/>
          </a:prstGeom>
        </p:spPr>
      </p:pic>
      <p:pic>
        <p:nvPicPr>
          <p:cNvPr id="12" name="Imagen 11">
            <a:extLst>
              <a:ext uri="{FF2B5EF4-FFF2-40B4-BE49-F238E27FC236}">
                <a16:creationId xmlns:a16="http://schemas.microsoft.com/office/drawing/2014/main" id="{5EC32438-55B0-C609-3053-950C9157D8DD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0682615" y="219393"/>
            <a:ext cx="1160941" cy="1243647"/>
          </a:xfrm>
          <a:prstGeom prst="rect">
            <a:avLst/>
          </a:prstGeom>
        </p:spPr>
      </p:pic>
      <p:sp>
        <p:nvSpPr>
          <p:cNvPr id="2" name="CuadroTexto 1">
            <a:extLst>
              <a:ext uri="{FF2B5EF4-FFF2-40B4-BE49-F238E27FC236}">
                <a16:creationId xmlns:a16="http://schemas.microsoft.com/office/drawing/2014/main" id="{8D332609-66C9-D18F-E8F2-9E8BC1442D40}"/>
              </a:ext>
            </a:extLst>
          </p:cNvPr>
          <p:cNvSpPr txBox="1"/>
          <p:nvPr/>
        </p:nvSpPr>
        <p:spPr>
          <a:xfrm>
            <a:off x="189531" y="690911"/>
            <a:ext cx="8620839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s-CO" dirty="0"/>
              <a:t>A continuación se presentan las 15 zonas cuya predicción tuvo el mejor desempeño con </a:t>
            </a:r>
            <a:r>
              <a:rPr lang="es-CO" dirty="0" err="1"/>
              <a:t>Random</a:t>
            </a:r>
            <a:r>
              <a:rPr lang="es-CO" dirty="0"/>
              <a:t> Forest.</a:t>
            </a:r>
            <a:endParaRPr lang="es-MX" dirty="0"/>
          </a:p>
          <a:p>
            <a:endParaRPr lang="es-CO" dirty="0"/>
          </a:p>
        </p:txBody>
      </p:sp>
      <p:pic>
        <p:nvPicPr>
          <p:cNvPr id="6" name="Imagen 5">
            <a:extLst>
              <a:ext uri="{FF2B5EF4-FFF2-40B4-BE49-F238E27FC236}">
                <a16:creationId xmlns:a16="http://schemas.microsoft.com/office/drawing/2014/main" id="{0FE57622-9CEB-BB53-BF85-22ED7EFA4E01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2229633" y="1208094"/>
            <a:ext cx="4898806" cy="550846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55523445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F033D319-C8EB-D0B3-283A-C299DE0F59C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ítulo 1">
            <a:extLst>
              <a:ext uri="{FF2B5EF4-FFF2-40B4-BE49-F238E27FC236}">
                <a16:creationId xmlns:a16="http://schemas.microsoft.com/office/drawing/2014/main" id="{A19AE4C7-98FA-4461-A039-E586DF6ADEC1}"/>
              </a:ext>
            </a:extLst>
          </p:cNvPr>
          <p:cNvSpPr txBox="1">
            <a:spLocks/>
          </p:cNvSpPr>
          <p:nvPr/>
        </p:nvSpPr>
        <p:spPr>
          <a:xfrm>
            <a:off x="1612662" y="72573"/>
            <a:ext cx="6392357" cy="768643"/>
          </a:xfrm>
          <a:prstGeom prst="rect">
            <a:avLst/>
          </a:prstGeom>
        </p:spPr>
        <p:txBody>
          <a:bodyPr vert="horz" lIns="68580" tIns="34290" rIns="68580" bIns="34290" rtlCol="0" anchor="ctr">
            <a:normAutofit fontScale="25000" lnSpcReduction="200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>
              <a:lnSpc>
                <a:spcPct val="110000"/>
              </a:lnSpc>
            </a:pPr>
            <a:endParaRPr lang="es-CO" sz="3750" b="1" dirty="0">
              <a:solidFill>
                <a:schemeClr val="tx2">
                  <a:lumMod val="50000"/>
                </a:schemeClr>
              </a:solidFill>
              <a:latin typeface="+mn-lt"/>
            </a:endParaRPr>
          </a:p>
          <a:p>
            <a:pPr algn="ctr">
              <a:lnSpc>
                <a:spcPct val="110000"/>
              </a:lnSpc>
            </a:pPr>
            <a:r>
              <a:rPr lang="es-CO" sz="18500" b="1" dirty="0">
                <a:solidFill>
                  <a:schemeClr val="tx2">
                    <a:lumMod val="50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Modelo SVR.</a:t>
            </a:r>
            <a:endParaRPr lang="es-CO" sz="3750" b="1" dirty="0">
              <a:solidFill>
                <a:schemeClr val="tx2">
                  <a:lumMod val="50000"/>
                </a:schemeClr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pic>
        <p:nvPicPr>
          <p:cNvPr id="13" name="Imagen 12">
            <a:extLst>
              <a:ext uri="{FF2B5EF4-FFF2-40B4-BE49-F238E27FC236}">
                <a16:creationId xmlns:a16="http://schemas.microsoft.com/office/drawing/2014/main" id="{85B6EC22-DFAF-7B40-97BD-15AFA6332B1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rot="10800000" flipH="1">
            <a:off x="5458401" y="1514693"/>
            <a:ext cx="2908797" cy="6146129"/>
          </a:xfrm>
          <a:prstGeom prst="rect">
            <a:avLst/>
          </a:prstGeom>
        </p:spPr>
      </p:pic>
      <p:pic>
        <p:nvPicPr>
          <p:cNvPr id="5" name="Imagen 4">
            <a:extLst>
              <a:ext uri="{FF2B5EF4-FFF2-40B4-BE49-F238E27FC236}">
                <a16:creationId xmlns:a16="http://schemas.microsoft.com/office/drawing/2014/main" id="{BFF810AA-72F1-8C87-2701-F88A61B22B8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810370" y="-91440"/>
            <a:ext cx="3564510" cy="7024947"/>
          </a:xfrm>
          <a:prstGeom prst="rect">
            <a:avLst/>
          </a:prstGeom>
        </p:spPr>
      </p:pic>
      <p:pic>
        <p:nvPicPr>
          <p:cNvPr id="10" name="Gráfico 9">
            <a:extLst>
              <a:ext uri="{FF2B5EF4-FFF2-40B4-BE49-F238E27FC236}">
                <a16:creationId xmlns:a16="http://schemas.microsoft.com/office/drawing/2014/main" id="{784A44A9-40CC-B0CE-7B62-FB81B4BB3072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 rot="16200000">
            <a:off x="10012430" y="-206067"/>
            <a:ext cx="2214082" cy="2334513"/>
          </a:xfrm>
          <a:prstGeom prst="rect">
            <a:avLst/>
          </a:prstGeom>
        </p:spPr>
      </p:pic>
      <p:pic>
        <p:nvPicPr>
          <p:cNvPr id="12" name="Imagen 11">
            <a:extLst>
              <a:ext uri="{FF2B5EF4-FFF2-40B4-BE49-F238E27FC236}">
                <a16:creationId xmlns:a16="http://schemas.microsoft.com/office/drawing/2014/main" id="{8E2E8659-6B2E-B261-0764-EDC93ADC5F42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0682615" y="219393"/>
            <a:ext cx="1160941" cy="1243647"/>
          </a:xfrm>
          <a:prstGeom prst="rect">
            <a:avLst/>
          </a:prstGeom>
        </p:spPr>
      </p:pic>
      <p:pic>
        <p:nvPicPr>
          <p:cNvPr id="4" name="Imagen 3">
            <a:extLst>
              <a:ext uri="{FF2B5EF4-FFF2-40B4-BE49-F238E27FC236}">
                <a16:creationId xmlns:a16="http://schemas.microsoft.com/office/drawing/2014/main" id="{99B5BB33-563F-6CED-5419-2A08DE1F8755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2348232" y="1154978"/>
            <a:ext cx="4921215" cy="563044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55631531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78C2D5C6-89F8-070C-C82F-4E7B680ADA8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ítulo 1">
            <a:extLst>
              <a:ext uri="{FF2B5EF4-FFF2-40B4-BE49-F238E27FC236}">
                <a16:creationId xmlns:a16="http://schemas.microsoft.com/office/drawing/2014/main" id="{99E2CB20-154C-3C1F-DE08-95957978DB69}"/>
              </a:ext>
            </a:extLst>
          </p:cNvPr>
          <p:cNvSpPr txBox="1">
            <a:spLocks/>
          </p:cNvSpPr>
          <p:nvPr/>
        </p:nvSpPr>
        <p:spPr>
          <a:xfrm>
            <a:off x="1612662" y="72573"/>
            <a:ext cx="6392357" cy="768643"/>
          </a:xfrm>
          <a:prstGeom prst="rect">
            <a:avLst/>
          </a:prstGeom>
        </p:spPr>
        <p:txBody>
          <a:bodyPr vert="horz" lIns="68580" tIns="34290" rIns="68580" bIns="34290" rtlCol="0" anchor="ctr">
            <a:normAutofit fontScale="25000" lnSpcReduction="200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>
              <a:lnSpc>
                <a:spcPct val="110000"/>
              </a:lnSpc>
            </a:pPr>
            <a:endParaRPr lang="es-CO" sz="3750" b="1" dirty="0">
              <a:solidFill>
                <a:schemeClr val="tx2">
                  <a:lumMod val="50000"/>
                </a:schemeClr>
              </a:solidFill>
              <a:latin typeface="+mn-lt"/>
            </a:endParaRPr>
          </a:p>
          <a:p>
            <a:pPr algn="ctr">
              <a:lnSpc>
                <a:spcPct val="110000"/>
              </a:lnSpc>
            </a:pPr>
            <a:r>
              <a:rPr lang="es-CO" sz="18500" b="1" dirty="0">
                <a:solidFill>
                  <a:schemeClr val="tx2">
                    <a:lumMod val="50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Modelo </a:t>
            </a:r>
            <a:r>
              <a:rPr lang="es-CO" sz="18500" b="1" dirty="0" err="1">
                <a:solidFill>
                  <a:schemeClr val="tx2">
                    <a:lumMod val="50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Perceptron</a:t>
            </a:r>
            <a:r>
              <a:rPr lang="es-CO" sz="18500" b="1" dirty="0">
                <a:solidFill>
                  <a:schemeClr val="tx2">
                    <a:lumMod val="50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.</a:t>
            </a:r>
            <a:endParaRPr lang="es-CO" sz="3750" b="1" dirty="0">
              <a:solidFill>
                <a:schemeClr val="tx2">
                  <a:lumMod val="50000"/>
                </a:schemeClr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pic>
        <p:nvPicPr>
          <p:cNvPr id="13" name="Imagen 12">
            <a:extLst>
              <a:ext uri="{FF2B5EF4-FFF2-40B4-BE49-F238E27FC236}">
                <a16:creationId xmlns:a16="http://schemas.microsoft.com/office/drawing/2014/main" id="{E5838D72-C916-236E-093B-20BB4A81CCD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rot="10800000" flipH="1">
            <a:off x="5458401" y="1514693"/>
            <a:ext cx="2908797" cy="6146129"/>
          </a:xfrm>
          <a:prstGeom prst="rect">
            <a:avLst/>
          </a:prstGeom>
        </p:spPr>
      </p:pic>
      <p:pic>
        <p:nvPicPr>
          <p:cNvPr id="5" name="Imagen 4">
            <a:extLst>
              <a:ext uri="{FF2B5EF4-FFF2-40B4-BE49-F238E27FC236}">
                <a16:creationId xmlns:a16="http://schemas.microsoft.com/office/drawing/2014/main" id="{4BFFD42E-D24D-547D-A821-2C233A4282F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810370" y="-91440"/>
            <a:ext cx="3564510" cy="7024947"/>
          </a:xfrm>
          <a:prstGeom prst="rect">
            <a:avLst/>
          </a:prstGeom>
        </p:spPr>
      </p:pic>
      <p:pic>
        <p:nvPicPr>
          <p:cNvPr id="10" name="Gráfico 9">
            <a:extLst>
              <a:ext uri="{FF2B5EF4-FFF2-40B4-BE49-F238E27FC236}">
                <a16:creationId xmlns:a16="http://schemas.microsoft.com/office/drawing/2014/main" id="{65954258-6C7F-A5F8-2B22-07BCD0E73C1C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 rot="16200000">
            <a:off x="10012430" y="-206067"/>
            <a:ext cx="2214082" cy="2334513"/>
          </a:xfrm>
          <a:prstGeom prst="rect">
            <a:avLst/>
          </a:prstGeom>
        </p:spPr>
      </p:pic>
      <p:pic>
        <p:nvPicPr>
          <p:cNvPr id="12" name="Imagen 11">
            <a:extLst>
              <a:ext uri="{FF2B5EF4-FFF2-40B4-BE49-F238E27FC236}">
                <a16:creationId xmlns:a16="http://schemas.microsoft.com/office/drawing/2014/main" id="{97B765EB-CD62-FEE2-D8CB-46BCAFB57D0D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0682615" y="219393"/>
            <a:ext cx="1160941" cy="1243647"/>
          </a:xfrm>
          <a:prstGeom prst="rect">
            <a:avLst/>
          </a:prstGeom>
        </p:spPr>
      </p:pic>
      <p:pic>
        <p:nvPicPr>
          <p:cNvPr id="3" name="Imagen 2">
            <a:extLst>
              <a:ext uri="{FF2B5EF4-FFF2-40B4-BE49-F238E27FC236}">
                <a16:creationId xmlns:a16="http://schemas.microsoft.com/office/drawing/2014/main" id="{3551D87B-212B-9E04-E757-48A8CDE880E7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2585937" y="964504"/>
            <a:ext cx="4858582" cy="563303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75582577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8BBC5BB3-3A4C-F283-9AD9-E7390E58C0F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ítulo 1">
            <a:extLst>
              <a:ext uri="{FF2B5EF4-FFF2-40B4-BE49-F238E27FC236}">
                <a16:creationId xmlns:a16="http://schemas.microsoft.com/office/drawing/2014/main" id="{879E05CC-59BB-4C0A-CA88-85B40CC78A53}"/>
              </a:ext>
            </a:extLst>
          </p:cNvPr>
          <p:cNvSpPr txBox="1">
            <a:spLocks/>
          </p:cNvSpPr>
          <p:nvPr/>
        </p:nvSpPr>
        <p:spPr>
          <a:xfrm>
            <a:off x="1612662" y="72573"/>
            <a:ext cx="6392357" cy="768643"/>
          </a:xfrm>
          <a:prstGeom prst="rect">
            <a:avLst/>
          </a:prstGeom>
        </p:spPr>
        <p:txBody>
          <a:bodyPr vert="horz" lIns="68580" tIns="34290" rIns="68580" bIns="34290" rtlCol="0" anchor="ctr">
            <a:normAutofit fontScale="25000" lnSpcReduction="200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>
              <a:lnSpc>
                <a:spcPct val="110000"/>
              </a:lnSpc>
            </a:pPr>
            <a:endParaRPr lang="es-CO" sz="3750" b="1" dirty="0">
              <a:solidFill>
                <a:schemeClr val="tx2">
                  <a:lumMod val="50000"/>
                </a:schemeClr>
              </a:solidFill>
              <a:latin typeface="+mn-lt"/>
            </a:endParaRPr>
          </a:p>
          <a:p>
            <a:pPr algn="ctr">
              <a:lnSpc>
                <a:spcPct val="110000"/>
              </a:lnSpc>
            </a:pPr>
            <a:r>
              <a:rPr lang="es-CO" sz="18500" b="1" dirty="0">
                <a:solidFill>
                  <a:schemeClr val="tx2">
                    <a:lumMod val="50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Modelo Regresión Lineal.</a:t>
            </a:r>
            <a:endParaRPr lang="es-CO" sz="3750" b="1" dirty="0">
              <a:solidFill>
                <a:schemeClr val="tx2">
                  <a:lumMod val="50000"/>
                </a:schemeClr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pic>
        <p:nvPicPr>
          <p:cNvPr id="13" name="Imagen 12">
            <a:extLst>
              <a:ext uri="{FF2B5EF4-FFF2-40B4-BE49-F238E27FC236}">
                <a16:creationId xmlns:a16="http://schemas.microsoft.com/office/drawing/2014/main" id="{0572A2BF-BA59-B205-3C33-52596C83F15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rot="10800000" flipH="1">
            <a:off x="5458401" y="1514693"/>
            <a:ext cx="2908797" cy="6146129"/>
          </a:xfrm>
          <a:prstGeom prst="rect">
            <a:avLst/>
          </a:prstGeom>
        </p:spPr>
      </p:pic>
      <p:pic>
        <p:nvPicPr>
          <p:cNvPr id="5" name="Imagen 4">
            <a:extLst>
              <a:ext uri="{FF2B5EF4-FFF2-40B4-BE49-F238E27FC236}">
                <a16:creationId xmlns:a16="http://schemas.microsoft.com/office/drawing/2014/main" id="{75C4F2C6-833F-9351-38E2-AC18F60ED42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810370" y="-91440"/>
            <a:ext cx="3564510" cy="7024947"/>
          </a:xfrm>
          <a:prstGeom prst="rect">
            <a:avLst/>
          </a:prstGeom>
        </p:spPr>
      </p:pic>
      <p:pic>
        <p:nvPicPr>
          <p:cNvPr id="10" name="Gráfico 9">
            <a:extLst>
              <a:ext uri="{FF2B5EF4-FFF2-40B4-BE49-F238E27FC236}">
                <a16:creationId xmlns:a16="http://schemas.microsoft.com/office/drawing/2014/main" id="{91A1785A-A073-4FB9-5C75-8F071A393259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 rot="16200000">
            <a:off x="10012430" y="-206067"/>
            <a:ext cx="2214082" cy="2334513"/>
          </a:xfrm>
          <a:prstGeom prst="rect">
            <a:avLst/>
          </a:prstGeom>
        </p:spPr>
      </p:pic>
      <p:pic>
        <p:nvPicPr>
          <p:cNvPr id="12" name="Imagen 11">
            <a:extLst>
              <a:ext uri="{FF2B5EF4-FFF2-40B4-BE49-F238E27FC236}">
                <a16:creationId xmlns:a16="http://schemas.microsoft.com/office/drawing/2014/main" id="{AFB6BD30-8634-2968-0E38-437CAA91D6FB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0682615" y="219393"/>
            <a:ext cx="1160941" cy="1243647"/>
          </a:xfrm>
          <a:prstGeom prst="rect">
            <a:avLst/>
          </a:prstGeom>
        </p:spPr>
      </p:pic>
      <p:pic>
        <p:nvPicPr>
          <p:cNvPr id="4" name="Imagen 3">
            <a:extLst>
              <a:ext uri="{FF2B5EF4-FFF2-40B4-BE49-F238E27FC236}">
                <a16:creationId xmlns:a16="http://schemas.microsoft.com/office/drawing/2014/main" id="{6CBC229E-9BF5-D4DE-D894-F803B571CC23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2509957" y="1138910"/>
            <a:ext cx="4755042" cy="549362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33598492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2E035E74-B11C-7858-3A92-7042B0A59E7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ítulo 1">
            <a:extLst>
              <a:ext uri="{FF2B5EF4-FFF2-40B4-BE49-F238E27FC236}">
                <a16:creationId xmlns:a16="http://schemas.microsoft.com/office/drawing/2014/main" id="{A4E751B7-0B67-FF37-9DD0-6456FECD3E08}"/>
              </a:ext>
            </a:extLst>
          </p:cNvPr>
          <p:cNvSpPr txBox="1">
            <a:spLocks/>
          </p:cNvSpPr>
          <p:nvPr/>
        </p:nvSpPr>
        <p:spPr>
          <a:xfrm>
            <a:off x="1612662" y="72573"/>
            <a:ext cx="6392357" cy="768643"/>
          </a:xfrm>
          <a:prstGeom prst="rect">
            <a:avLst/>
          </a:prstGeom>
        </p:spPr>
        <p:txBody>
          <a:bodyPr vert="horz" lIns="68580" tIns="34290" rIns="68580" bIns="34290" rtlCol="0" anchor="ctr">
            <a:normAutofit fontScale="25000" lnSpcReduction="200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>
              <a:lnSpc>
                <a:spcPct val="110000"/>
              </a:lnSpc>
            </a:pPr>
            <a:endParaRPr lang="es-CO" sz="3750" b="1" dirty="0">
              <a:solidFill>
                <a:schemeClr val="tx2">
                  <a:lumMod val="50000"/>
                </a:schemeClr>
              </a:solidFill>
              <a:latin typeface="+mn-lt"/>
            </a:endParaRPr>
          </a:p>
          <a:p>
            <a:pPr algn="ctr">
              <a:lnSpc>
                <a:spcPct val="110000"/>
              </a:lnSpc>
            </a:pPr>
            <a:r>
              <a:rPr lang="es-CO" sz="18500" b="1" dirty="0" err="1">
                <a:solidFill>
                  <a:schemeClr val="tx2">
                    <a:lumMod val="50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Hiperparametros</a:t>
            </a:r>
            <a:r>
              <a:rPr lang="es-CO" sz="18500" b="1" dirty="0">
                <a:solidFill>
                  <a:schemeClr val="tx2">
                    <a:lumMod val="50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.</a:t>
            </a:r>
            <a:endParaRPr lang="es-CO" sz="3750" b="1" dirty="0">
              <a:solidFill>
                <a:schemeClr val="tx2">
                  <a:lumMod val="50000"/>
                </a:schemeClr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pic>
        <p:nvPicPr>
          <p:cNvPr id="13" name="Imagen 12">
            <a:extLst>
              <a:ext uri="{FF2B5EF4-FFF2-40B4-BE49-F238E27FC236}">
                <a16:creationId xmlns:a16="http://schemas.microsoft.com/office/drawing/2014/main" id="{641A2709-B4B6-ABF7-FA5A-D2FA388CB4B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rot="10800000" flipH="1">
            <a:off x="5458401" y="1514693"/>
            <a:ext cx="2908797" cy="6146129"/>
          </a:xfrm>
          <a:prstGeom prst="rect">
            <a:avLst/>
          </a:prstGeom>
        </p:spPr>
      </p:pic>
      <p:pic>
        <p:nvPicPr>
          <p:cNvPr id="5" name="Imagen 4">
            <a:extLst>
              <a:ext uri="{FF2B5EF4-FFF2-40B4-BE49-F238E27FC236}">
                <a16:creationId xmlns:a16="http://schemas.microsoft.com/office/drawing/2014/main" id="{FB27C60E-1C67-889E-57B8-42B4C2FABC7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810370" y="-91440"/>
            <a:ext cx="3564510" cy="7024947"/>
          </a:xfrm>
          <a:prstGeom prst="rect">
            <a:avLst/>
          </a:prstGeom>
        </p:spPr>
      </p:pic>
      <p:pic>
        <p:nvPicPr>
          <p:cNvPr id="10" name="Gráfico 9">
            <a:extLst>
              <a:ext uri="{FF2B5EF4-FFF2-40B4-BE49-F238E27FC236}">
                <a16:creationId xmlns:a16="http://schemas.microsoft.com/office/drawing/2014/main" id="{C69CBB70-E3A7-B668-55C4-D9DDC3CEC859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 rot="16200000">
            <a:off x="10012430" y="-206067"/>
            <a:ext cx="2214082" cy="2334513"/>
          </a:xfrm>
          <a:prstGeom prst="rect">
            <a:avLst/>
          </a:prstGeom>
        </p:spPr>
      </p:pic>
      <p:pic>
        <p:nvPicPr>
          <p:cNvPr id="12" name="Imagen 11">
            <a:extLst>
              <a:ext uri="{FF2B5EF4-FFF2-40B4-BE49-F238E27FC236}">
                <a16:creationId xmlns:a16="http://schemas.microsoft.com/office/drawing/2014/main" id="{FDC1754C-4E2F-A86E-DD9A-605F32FE6A73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0682615" y="219393"/>
            <a:ext cx="1160941" cy="1243647"/>
          </a:xfrm>
          <a:prstGeom prst="rect">
            <a:avLst/>
          </a:prstGeom>
        </p:spPr>
      </p:pic>
      <p:sp>
        <p:nvSpPr>
          <p:cNvPr id="9" name="CuadroTexto 8">
            <a:extLst>
              <a:ext uri="{FF2B5EF4-FFF2-40B4-BE49-F238E27FC236}">
                <a16:creationId xmlns:a16="http://schemas.microsoft.com/office/drawing/2014/main" id="{4E86D2C7-A2AD-9591-9B34-7F8BB6BB3F78}"/>
              </a:ext>
            </a:extLst>
          </p:cNvPr>
          <p:cNvSpPr txBox="1"/>
          <p:nvPr/>
        </p:nvSpPr>
        <p:spPr>
          <a:xfrm>
            <a:off x="2098968" y="2706414"/>
            <a:ext cx="618925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CO" i="1" dirty="0"/>
              <a:t>Valores usados en la búsqueda de </a:t>
            </a:r>
            <a:r>
              <a:rPr lang="es-CO" i="1" dirty="0" err="1"/>
              <a:t>hiperparámetros</a:t>
            </a:r>
            <a:endParaRPr lang="es-CO" dirty="0"/>
          </a:p>
        </p:txBody>
      </p:sp>
      <p:graphicFrame>
        <p:nvGraphicFramePr>
          <p:cNvPr id="2" name="Tabla 1">
            <a:extLst>
              <a:ext uri="{FF2B5EF4-FFF2-40B4-BE49-F238E27FC236}">
                <a16:creationId xmlns:a16="http://schemas.microsoft.com/office/drawing/2014/main" id="{CB43684A-1B15-432C-9897-C6A84FC3EF1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963337173"/>
              </p:ext>
            </p:extLst>
          </p:nvPr>
        </p:nvGraphicFramePr>
        <p:xfrm>
          <a:off x="522209" y="3075746"/>
          <a:ext cx="8573261" cy="3719645"/>
        </p:xfrm>
        <a:graphic>
          <a:graphicData uri="http://schemas.openxmlformats.org/drawingml/2006/table">
            <a:tbl>
              <a:tblPr bandRow="1">
                <a:tableStyleId>{5C22544A-7EE6-4342-B048-85BDC9FD1C3A}</a:tableStyleId>
              </a:tblPr>
              <a:tblGrid>
                <a:gridCol w="1478535">
                  <a:extLst>
                    <a:ext uri="{9D8B030D-6E8A-4147-A177-3AD203B41FA5}">
                      <a16:colId xmlns:a16="http://schemas.microsoft.com/office/drawing/2014/main" val="4129603277"/>
                    </a:ext>
                  </a:extLst>
                </a:gridCol>
                <a:gridCol w="3547363">
                  <a:extLst>
                    <a:ext uri="{9D8B030D-6E8A-4147-A177-3AD203B41FA5}">
                      <a16:colId xmlns:a16="http://schemas.microsoft.com/office/drawing/2014/main" val="60608535"/>
                    </a:ext>
                  </a:extLst>
                </a:gridCol>
                <a:gridCol w="3547363">
                  <a:extLst>
                    <a:ext uri="{9D8B030D-6E8A-4147-A177-3AD203B41FA5}">
                      <a16:colId xmlns:a16="http://schemas.microsoft.com/office/drawing/2014/main" val="1459604847"/>
                    </a:ext>
                  </a:extLst>
                </a:gridCol>
              </a:tblGrid>
              <a:tr h="279906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CO" sz="1700" b="1" dirty="0">
                          <a:solidFill>
                            <a:srgbClr val="000000"/>
                          </a:solidFill>
                          <a:effectLst/>
                        </a:rPr>
                        <a:t>MODELO</a:t>
                      </a:r>
                      <a:endParaRPr lang="es-CO" sz="1700" dirty="0">
                        <a:effectLst/>
                        <a:latin typeface="Nimbus Roman No9 L"/>
                        <a:ea typeface="Nimbus Roman No9 L"/>
                        <a:cs typeface="Nimbus Roman No9 L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CO" sz="1700" b="1" dirty="0">
                          <a:solidFill>
                            <a:srgbClr val="000000"/>
                          </a:solidFill>
                          <a:effectLst/>
                        </a:rPr>
                        <a:t>HIPERPARAMETROS</a:t>
                      </a:r>
                      <a:endParaRPr lang="es-CO" sz="1700" dirty="0">
                        <a:effectLst/>
                        <a:latin typeface="Nimbus Roman No9 L"/>
                        <a:ea typeface="Nimbus Roman No9 L"/>
                        <a:cs typeface="Nimbus Roman No9 L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CO" sz="1700" b="1">
                          <a:solidFill>
                            <a:srgbClr val="000000"/>
                          </a:solidFill>
                          <a:effectLst/>
                        </a:rPr>
                        <a:t>VALORES</a:t>
                      </a:r>
                      <a:endParaRPr lang="es-CO" sz="1700">
                        <a:effectLst/>
                        <a:latin typeface="Nimbus Roman No9 L"/>
                        <a:ea typeface="Nimbus Roman No9 L"/>
                        <a:cs typeface="Nimbus Roman No9 L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3452558628"/>
                  </a:ext>
                </a:extLst>
              </a:tr>
              <a:tr h="265911">
                <a:tc rowSpan="2"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CO" sz="1700" b="1" dirty="0" err="1">
                          <a:solidFill>
                            <a:srgbClr val="000000"/>
                          </a:solidFill>
                          <a:effectLst/>
                        </a:rPr>
                        <a:t>Random</a:t>
                      </a:r>
                      <a:r>
                        <a:rPr lang="es-CO" sz="1700" b="1" dirty="0">
                          <a:solidFill>
                            <a:srgbClr val="000000"/>
                          </a:solidFill>
                          <a:effectLst/>
                        </a:rPr>
                        <a:t> Forest</a:t>
                      </a:r>
                      <a:endParaRPr lang="es-CO" sz="1700" dirty="0">
                        <a:effectLst/>
                        <a:latin typeface="Nimbus Roman No9 L"/>
                        <a:ea typeface="Nimbus Roman No9 L"/>
                        <a:cs typeface="Nimbus Roman No9 L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s-CO" sz="1700" dirty="0" err="1">
                          <a:solidFill>
                            <a:srgbClr val="000000"/>
                          </a:solidFill>
                          <a:effectLst/>
                        </a:rPr>
                        <a:t>n_estimators</a:t>
                      </a:r>
                      <a:endParaRPr lang="es-CO" sz="1700" dirty="0">
                        <a:effectLst/>
                        <a:latin typeface="Nimbus Roman No9 L"/>
                        <a:ea typeface="Nimbus Roman No9 L"/>
                        <a:cs typeface="Nimbus Roman No9 L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s-CO" sz="1700">
                          <a:solidFill>
                            <a:srgbClr val="000000"/>
                          </a:solidFill>
                          <a:effectLst/>
                        </a:rPr>
                        <a:t>[50, 100, 150, 250, 350] </a:t>
                      </a:r>
                      <a:endParaRPr lang="es-CO" sz="1700">
                        <a:effectLst/>
                        <a:latin typeface="Nimbus Roman No9 L"/>
                        <a:ea typeface="Nimbus Roman No9 L"/>
                        <a:cs typeface="Nimbus Roman No9 L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964115301"/>
                  </a:ext>
                </a:extLst>
              </a:tr>
              <a:tr h="263773">
                <a:tc vMerge="1">
                  <a:txBody>
                    <a:bodyPr/>
                    <a:lstStyle/>
                    <a:p>
                      <a:endParaRPr lang="es-CO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s-CO" sz="1700" dirty="0" err="1">
                          <a:effectLst/>
                        </a:rPr>
                        <a:t>max_depth</a:t>
                      </a:r>
                      <a:endParaRPr lang="es-CO" sz="1700" dirty="0">
                        <a:effectLst/>
                        <a:latin typeface="Nimbus Roman No9 L"/>
                        <a:ea typeface="Nimbus Roman No9 L"/>
                        <a:cs typeface="Nimbus Roman No9 L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s-CO" sz="1700">
                          <a:effectLst/>
                        </a:rPr>
                        <a:t>[5, 10, 20, 30, 40]</a:t>
                      </a:r>
                      <a:endParaRPr lang="es-CO" sz="1700">
                        <a:effectLst/>
                        <a:latin typeface="Nimbus Roman No9 L"/>
                        <a:ea typeface="Nimbus Roman No9 L"/>
                        <a:cs typeface="Nimbus Roman No9 L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731805999"/>
                  </a:ext>
                </a:extLst>
              </a:tr>
              <a:tr h="527546">
                <a:tc rowSpan="6"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CO" sz="1700" b="1" dirty="0" err="1">
                          <a:solidFill>
                            <a:srgbClr val="000000"/>
                          </a:solidFill>
                          <a:effectLst/>
                        </a:rPr>
                        <a:t>Perceptron</a:t>
                      </a:r>
                      <a:endParaRPr lang="es-CO" sz="1700" dirty="0">
                        <a:effectLst/>
                        <a:latin typeface="Nimbus Roman No9 L"/>
                        <a:ea typeface="Nimbus Roman No9 L"/>
                        <a:cs typeface="Nimbus Roman No9 L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s-CO" sz="1700" dirty="0" err="1">
                          <a:solidFill>
                            <a:srgbClr val="000000"/>
                          </a:solidFill>
                          <a:effectLst/>
                        </a:rPr>
                        <a:t>hidden_layer_sizes</a:t>
                      </a:r>
                      <a:endParaRPr lang="es-CO" sz="1700" dirty="0">
                        <a:effectLst/>
                        <a:latin typeface="Nimbus Roman No9 L"/>
                        <a:ea typeface="Nimbus Roman No9 L"/>
                        <a:cs typeface="Nimbus Roman No9 L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s-CO" sz="1700">
                          <a:solidFill>
                            <a:srgbClr val="000000"/>
                          </a:solidFill>
                          <a:effectLst/>
                        </a:rPr>
                        <a:t>[(50,), (100,), (50, 50), (100, 50), (100, 100), (50, 25, 10)]</a:t>
                      </a:r>
                      <a:endParaRPr lang="es-CO" sz="1700">
                        <a:effectLst/>
                        <a:latin typeface="Nimbus Roman No9 L"/>
                        <a:ea typeface="Nimbus Roman No9 L"/>
                        <a:cs typeface="Nimbus Roman No9 L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3918677178"/>
                  </a:ext>
                </a:extLst>
              </a:tr>
              <a:tr h="263773">
                <a:tc vMerge="1">
                  <a:txBody>
                    <a:bodyPr/>
                    <a:lstStyle/>
                    <a:p>
                      <a:endParaRPr lang="es-CO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s-CO" sz="1700" dirty="0" err="1">
                          <a:effectLst/>
                        </a:rPr>
                        <a:t>activation</a:t>
                      </a:r>
                      <a:endParaRPr lang="es-CO" sz="1700" dirty="0">
                        <a:effectLst/>
                        <a:latin typeface="Nimbus Roman No9 L"/>
                        <a:ea typeface="Nimbus Roman No9 L"/>
                        <a:cs typeface="Nimbus Roman No9 L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s-CO" sz="1700">
                          <a:effectLst/>
                        </a:rPr>
                        <a:t>['relu', 'tanh']</a:t>
                      </a:r>
                      <a:endParaRPr lang="es-CO" sz="1700">
                        <a:effectLst/>
                        <a:latin typeface="Nimbus Roman No9 L"/>
                        <a:ea typeface="Nimbus Roman No9 L"/>
                        <a:cs typeface="Nimbus Roman No9 L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2310341796"/>
                  </a:ext>
                </a:extLst>
              </a:tr>
              <a:tr h="265911">
                <a:tc vMerge="1">
                  <a:txBody>
                    <a:bodyPr/>
                    <a:lstStyle/>
                    <a:p>
                      <a:endParaRPr lang="es-CO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s-CO" sz="1700" dirty="0" err="1">
                          <a:solidFill>
                            <a:srgbClr val="000000"/>
                          </a:solidFill>
                          <a:effectLst/>
                        </a:rPr>
                        <a:t>solver</a:t>
                      </a:r>
                      <a:endParaRPr lang="es-CO" sz="1700" dirty="0">
                        <a:effectLst/>
                        <a:latin typeface="Nimbus Roman No9 L"/>
                        <a:ea typeface="Nimbus Roman No9 L"/>
                        <a:cs typeface="Nimbus Roman No9 L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s-CO" sz="1700">
                          <a:solidFill>
                            <a:srgbClr val="000000"/>
                          </a:solidFill>
                          <a:effectLst/>
                        </a:rPr>
                        <a:t>adam</a:t>
                      </a:r>
                      <a:endParaRPr lang="es-CO" sz="1700">
                        <a:effectLst/>
                        <a:latin typeface="Nimbus Roman No9 L"/>
                        <a:ea typeface="Nimbus Roman No9 L"/>
                        <a:cs typeface="Nimbus Roman No9 L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2802611444"/>
                  </a:ext>
                </a:extLst>
              </a:tr>
              <a:tr h="263773">
                <a:tc vMerge="1">
                  <a:txBody>
                    <a:bodyPr/>
                    <a:lstStyle/>
                    <a:p>
                      <a:endParaRPr lang="es-CO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s-CO" sz="1700" dirty="0" err="1">
                          <a:effectLst/>
                        </a:rPr>
                        <a:t>alpha</a:t>
                      </a:r>
                      <a:endParaRPr lang="es-CO" sz="1700" dirty="0">
                        <a:effectLst/>
                        <a:latin typeface="Nimbus Roman No9 L"/>
                        <a:ea typeface="Nimbus Roman No9 L"/>
                        <a:cs typeface="Nimbus Roman No9 L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s-CO" sz="1700">
                          <a:effectLst/>
                        </a:rPr>
                        <a:t>[0.0001, 0.001, 0.01]</a:t>
                      </a:r>
                      <a:endParaRPr lang="es-CO" sz="1700">
                        <a:effectLst/>
                        <a:latin typeface="Nimbus Roman No9 L"/>
                        <a:ea typeface="Nimbus Roman No9 L"/>
                        <a:cs typeface="Nimbus Roman No9 L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845256200"/>
                  </a:ext>
                </a:extLst>
              </a:tr>
              <a:tr h="265911">
                <a:tc vMerge="1">
                  <a:txBody>
                    <a:bodyPr/>
                    <a:lstStyle/>
                    <a:p>
                      <a:endParaRPr lang="es-CO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s-CO" sz="1700" dirty="0" err="1">
                          <a:solidFill>
                            <a:srgbClr val="000000"/>
                          </a:solidFill>
                          <a:effectLst/>
                        </a:rPr>
                        <a:t>learning_rate</a:t>
                      </a:r>
                      <a:endParaRPr lang="es-CO" sz="1700" dirty="0">
                        <a:effectLst/>
                        <a:latin typeface="Nimbus Roman No9 L"/>
                        <a:ea typeface="Nimbus Roman No9 L"/>
                        <a:cs typeface="Nimbus Roman No9 L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s-CO" sz="1700">
                          <a:solidFill>
                            <a:srgbClr val="000000"/>
                          </a:solidFill>
                          <a:effectLst/>
                        </a:rPr>
                        <a:t>['constant', 'adaptive']</a:t>
                      </a:r>
                      <a:endParaRPr lang="es-CO" sz="1700">
                        <a:effectLst/>
                        <a:latin typeface="Nimbus Roman No9 L"/>
                        <a:ea typeface="Nimbus Roman No9 L"/>
                        <a:cs typeface="Nimbus Roman No9 L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655663"/>
                  </a:ext>
                </a:extLst>
              </a:tr>
              <a:tr h="263773">
                <a:tc vMerge="1">
                  <a:txBody>
                    <a:bodyPr/>
                    <a:lstStyle/>
                    <a:p>
                      <a:endParaRPr lang="es-CO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s-CO" sz="1700" dirty="0" err="1">
                          <a:effectLst/>
                        </a:rPr>
                        <a:t>learning_rate_init</a:t>
                      </a:r>
                      <a:r>
                        <a:rPr lang="es-CO" sz="1700" dirty="0">
                          <a:effectLst/>
                        </a:rPr>
                        <a:t> </a:t>
                      </a:r>
                      <a:endParaRPr lang="es-CO" sz="1700" dirty="0">
                        <a:effectLst/>
                        <a:latin typeface="Nimbus Roman No9 L"/>
                        <a:ea typeface="Nimbus Roman No9 L"/>
                        <a:cs typeface="Nimbus Roman No9 L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s-CO" sz="1700">
                          <a:effectLst/>
                        </a:rPr>
                        <a:t>[0.001, 0.01]</a:t>
                      </a:r>
                      <a:endParaRPr lang="es-CO" sz="1700">
                        <a:effectLst/>
                        <a:latin typeface="Nimbus Roman No9 L"/>
                        <a:ea typeface="Nimbus Roman No9 L"/>
                        <a:cs typeface="Nimbus Roman No9 L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2493671902"/>
                  </a:ext>
                </a:extLst>
              </a:tr>
              <a:tr h="265911">
                <a:tc rowSpan="4"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CO" sz="1700" b="1" dirty="0">
                          <a:solidFill>
                            <a:srgbClr val="000000"/>
                          </a:solidFill>
                          <a:effectLst/>
                        </a:rPr>
                        <a:t>SVR</a:t>
                      </a:r>
                      <a:endParaRPr lang="es-CO" sz="1700" dirty="0">
                        <a:effectLst/>
                        <a:latin typeface="Nimbus Roman No9 L"/>
                        <a:ea typeface="Nimbus Roman No9 L"/>
                        <a:cs typeface="Nimbus Roman No9 L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s-CO" sz="1700" dirty="0" err="1">
                          <a:solidFill>
                            <a:srgbClr val="000000"/>
                          </a:solidFill>
                          <a:effectLst/>
                        </a:rPr>
                        <a:t>kernel</a:t>
                      </a:r>
                      <a:endParaRPr lang="es-CO" sz="1700" dirty="0">
                        <a:effectLst/>
                        <a:latin typeface="Nimbus Roman No9 L"/>
                        <a:ea typeface="Nimbus Roman No9 L"/>
                        <a:cs typeface="Nimbus Roman No9 L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s-CO" sz="1700" dirty="0">
                          <a:solidFill>
                            <a:srgbClr val="000000"/>
                          </a:solidFill>
                          <a:effectLst/>
                        </a:rPr>
                        <a:t>['</a:t>
                      </a:r>
                      <a:r>
                        <a:rPr lang="es-CO" sz="1700" dirty="0" err="1">
                          <a:solidFill>
                            <a:srgbClr val="000000"/>
                          </a:solidFill>
                          <a:effectLst/>
                        </a:rPr>
                        <a:t>rbf</a:t>
                      </a:r>
                      <a:r>
                        <a:rPr lang="es-CO" sz="1700" dirty="0">
                          <a:solidFill>
                            <a:srgbClr val="000000"/>
                          </a:solidFill>
                          <a:effectLst/>
                        </a:rPr>
                        <a:t>'] </a:t>
                      </a:r>
                      <a:endParaRPr lang="es-CO" sz="1700" dirty="0">
                        <a:effectLst/>
                        <a:latin typeface="Nimbus Roman No9 L"/>
                        <a:ea typeface="Nimbus Roman No9 L"/>
                        <a:cs typeface="Nimbus Roman No9 L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118280969"/>
                  </a:ext>
                </a:extLst>
              </a:tr>
              <a:tr h="263773">
                <a:tc vMerge="1">
                  <a:txBody>
                    <a:bodyPr/>
                    <a:lstStyle/>
                    <a:p>
                      <a:endParaRPr lang="es-CO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s-CO" sz="1700">
                          <a:effectLst/>
                        </a:rPr>
                        <a:t>C</a:t>
                      </a:r>
                      <a:endParaRPr lang="es-CO" sz="1700">
                        <a:effectLst/>
                        <a:latin typeface="Nimbus Roman No9 L"/>
                        <a:ea typeface="Nimbus Roman No9 L"/>
                        <a:cs typeface="Nimbus Roman No9 L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s-CO" sz="1700" dirty="0">
                          <a:effectLst/>
                        </a:rPr>
                        <a:t>[0.1, 1.0, 10.0, 50, 100]</a:t>
                      </a:r>
                      <a:endParaRPr lang="es-CO" sz="1700" dirty="0">
                        <a:effectLst/>
                        <a:latin typeface="Nimbus Roman No9 L"/>
                        <a:ea typeface="Nimbus Roman No9 L"/>
                        <a:cs typeface="Nimbus Roman No9 L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2135601754"/>
                  </a:ext>
                </a:extLst>
              </a:tr>
              <a:tr h="265911">
                <a:tc vMerge="1">
                  <a:txBody>
                    <a:bodyPr/>
                    <a:lstStyle/>
                    <a:p>
                      <a:endParaRPr lang="es-CO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s-CO" sz="1700">
                          <a:solidFill>
                            <a:srgbClr val="000000"/>
                          </a:solidFill>
                          <a:effectLst/>
                        </a:rPr>
                        <a:t>epsilon</a:t>
                      </a:r>
                      <a:endParaRPr lang="es-CO" sz="1700">
                        <a:effectLst/>
                        <a:latin typeface="Nimbus Roman No9 L"/>
                        <a:ea typeface="Nimbus Roman No9 L"/>
                        <a:cs typeface="Nimbus Roman No9 L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s-CO" sz="1700" dirty="0">
                          <a:solidFill>
                            <a:srgbClr val="000000"/>
                          </a:solidFill>
                          <a:effectLst/>
                        </a:rPr>
                        <a:t>[0.1, 0.01, 0.004]</a:t>
                      </a:r>
                      <a:endParaRPr lang="es-CO" sz="1700" dirty="0">
                        <a:effectLst/>
                        <a:latin typeface="Nimbus Roman No9 L"/>
                        <a:ea typeface="Nimbus Roman No9 L"/>
                        <a:cs typeface="Nimbus Roman No9 L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929995232"/>
                  </a:ext>
                </a:extLst>
              </a:tr>
              <a:tr h="263773">
                <a:tc vMerge="1">
                  <a:txBody>
                    <a:bodyPr/>
                    <a:lstStyle/>
                    <a:p>
                      <a:endParaRPr lang="es-CO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s-CO" sz="1700" dirty="0">
                          <a:effectLst/>
                        </a:rPr>
                        <a:t>gamma</a:t>
                      </a:r>
                      <a:endParaRPr lang="es-CO" sz="1700" dirty="0">
                        <a:effectLst/>
                        <a:latin typeface="Nimbus Roman No9 L"/>
                        <a:ea typeface="Nimbus Roman No9 L"/>
                        <a:cs typeface="Nimbus Roman No9 L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s-CO" sz="1700" dirty="0">
                          <a:effectLst/>
                        </a:rPr>
                        <a:t>['</a:t>
                      </a:r>
                      <a:r>
                        <a:rPr lang="es-CO" sz="1700" dirty="0" err="1">
                          <a:effectLst/>
                        </a:rPr>
                        <a:t>scale</a:t>
                      </a:r>
                      <a:r>
                        <a:rPr lang="es-CO" sz="1700" dirty="0">
                          <a:effectLst/>
                        </a:rPr>
                        <a:t>', 'auto', 0.5, 0.05, 0.005]</a:t>
                      </a:r>
                      <a:endParaRPr lang="es-CO" sz="1700" dirty="0">
                        <a:effectLst/>
                        <a:latin typeface="Nimbus Roman No9 L"/>
                        <a:ea typeface="Nimbus Roman No9 L"/>
                        <a:cs typeface="Nimbus Roman No9 L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3922624692"/>
                  </a:ext>
                </a:extLst>
              </a:tr>
            </a:tbl>
          </a:graphicData>
        </a:graphic>
      </p:graphicFrame>
      <p:sp>
        <p:nvSpPr>
          <p:cNvPr id="4" name="CuadroTexto 3">
            <a:extLst>
              <a:ext uri="{FF2B5EF4-FFF2-40B4-BE49-F238E27FC236}">
                <a16:creationId xmlns:a16="http://schemas.microsoft.com/office/drawing/2014/main" id="{369DA786-2410-C45C-CA3D-EC45AFE1C6A9}"/>
              </a:ext>
            </a:extLst>
          </p:cNvPr>
          <p:cNvSpPr txBox="1"/>
          <p:nvPr/>
        </p:nvSpPr>
        <p:spPr>
          <a:xfrm>
            <a:off x="231622" y="717100"/>
            <a:ext cx="8783826" cy="23083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s-CO" dirty="0"/>
              <a:t>El modelo optimizado para cada zona fue seleccionado con base en el mejor desempeño obtenido según las métricas definidas.</a:t>
            </a:r>
          </a:p>
          <a:p>
            <a:pPr algn="just"/>
            <a:r>
              <a:rPr lang="es-CO" dirty="0"/>
              <a:t>Para la optimización de </a:t>
            </a:r>
            <a:r>
              <a:rPr lang="es-CO" dirty="0" err="1"/>
              <a:t>hiperparámetros</a:t>
            </a:r>
            <a:r>
              <a:rPr lang="es-CO" dirty="0"/>
              <a:t> se excluyó el modelo de Regresión Lineal, ya que este no tiene esta característica.</a:t>
            </a:r>
          </a:p>
          <a:p>
            <a:pPr algn="just"/>
            <a:r>
              <a:rPr lang="es-CO" dirty="0"/>
              <a:t> </a:t>
            </a:r>
          </a:p>
          <a:p>
            <a:pPr algn="just"/>
            <a:r>
              <a:rPr lang="es-CO" dirty="0"/>
              <a:t>Se muestra en la siguiente tabla los </a:t>
            </a:r>
            <a:r>
              <a:rPr lang="es-CO" dirty="0" err="1"/>
              <a:t>hiperparámetros</a:t>
            </a:r>
            <a:r>
              <a:rPr lang="es-CO" dirty="0"/>
              <a:t> que fueron usados para encontrar los modelos optimizados:</a:t>
            </a:r>
          </a:p>
          <a:p>
            <a:endParaRPr lang="es-CO" dirty="0"/>
          </a:p>
        </p:txBody>
      </p:sp>
    </p:spTree>
    <p:extLst>
      <p:ext uri="{BB962C8B-B14F-4D97-AF65-F5344CB8AC3E}">
        <p14:creationId xmlns:p14="http://schemas.microsoft.com/office/powerpoint/2010/main" val="2319610437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C19EC2D8-D439-516C-D9A0-290429EEF7E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ítulo 1">
            <a:extLst>
              <a:ext uri="{FF2B5EF4-FFF2-40B4-BE49-F238E27FC236}">
                <a16:creationId xmlns:a16="http://schemas.microsoft.com/office/drawing/2014/main" id="{40CDDBCC-0300-EC44-2BFB-61F2BDDD8B4D}"/>
              </a:ext>
            </a:extLst>
          </p:cNvPr>
          <p:cNvSpPr txBox="1">
            <a:spLocks/>
          </p:cNvSpPr>
          <p:nvPr/>
        </p:nvSpPr>
        <p:spPr>
          <a:xfrm>
            <a:off x="1612662" y="72573"/>
            <a:ext cx="6392357" cy="768643"/>
          </a:xfrm>
          <a:prstGeom prst="rect">
            <a:avLst/>
          </a:prstGeom>
        </p:spPr>
        <p:txBody>
          <a:bodyPr vert="horz" lIns="68580" tIns="34290" rIns="68580" bIns="34290" rtlCol="0" anchor="ctr">
            <a:normAutofit fontScale="25000" lnSpcReduction="200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>
              <a:lnSpc>
                <a:spcPct val="110000"/>
              </a:lnSpc>
            </a:pPr>
            <a:endParaRPr lang="es-CO" sz="3750" b="1" dirty="0">
              <a:solidFill>
                <a:schemeClr val="tx2">
                  <a:lumMod val="50000"/>
                </a:schemeClr>
              </a:solidFill>
              <a:latin typeface="+mn-lt"/>
            </a:endParaRPr>
          </a:p>
          <a:p>
            <a:pPr algn="ctr">
              <a:lnSpc>
                <a:spcPct val="110000"/>
              </a:lnSpc>
            </a:pPr>
            <a:r>
              <a:rPr lang="es-CO" sz="18500" b="1" dirty="0">
                <a:solidFill>
                  <a:schemeClr val="tx2">
                    <a:lumMod val="50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Resultados y Análisis.</a:t>
            </a:r>
            <a:endParaRPr lang="es-CO" sz="3750" b="1" dirty="0">
              <a:solidFill>
                <a:schemeClr val="tx2">
                  <a:lumMod val="50000"/>
                </a:schemeClr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pic>
        <p:nvPicPr>
          <p:cNvPr id="13" name="Imagen 12">
            <a:extLst>
              <a:ext uri="{FF2B5EF4-FFF2-40B4-BE49-F238E27FC236}">
                <a16:creationId xmlns:a16="http://schemas.microsoft.com/office/drawing/2014/main" id="{3C20E366-C493-4AB8-6C2B-E5F8B6C8DD5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rot="10800000" flipH="1">
            <a:off x="5458401" y="1514693"/>
            <a:ext cx="2908797" cy="6146129"/>
          </a:xfrm>
          <a:prstGeom prst="rect">
            <a:avLst/>
          </a:prstGeom>
        </p:spPr>
      </p:pic>
      <p:pic>
        <p:nvPicPr>
          <p:cNvPr id="5" name="Imagen 4">
            <a:extLst>
              <a:ext uri="{FF2B5EF4-FFF2-40B4-BE49-F238E27FC236}">
                <a16:creationId xmlns:a16="http://schemas.microsoft.com/office/drawing/2014/main" id="{FD61913C-2285-2C4B-5807-C0DD9BF78B4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810370" y="-91440"/>
            <a:ext cx="3564510" cy="7024947"/>
          </a:xfrm>
          <a:prstGeom prst="rect">
            <a:avLst/>
          </a:prstGeom>
        </p:spPr>
      </p:pic>
      <p:pic>
        <p:nvPicPr>
          <p:cNvPr id="10" name="Gráfico 9">
            <a:extLst>
              <a:ext uri="{FF2B5EF4-FFF2-40B4-BE49-F238E27FC236}">
                <a16:creationId xmlns:a16="http://schemas.microsoft.com/office/drawing/2014/main" id="{16967E97-D28F-B448-B0DC-077F24103949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 rot="16200000">
            <a:off x="10012430" y="-206067"/>
            <a:ext cx="2214082" cy="2334513"/>
          </a:xfrm>
          <a:prstGeom prst="rect">
            <a:avLst/>
          </a:prstGeom>
        </p:spPr>
      </p:pic>
      <p:pic>
        <p:nvPicPr>
          <p:cNvPr id="12" name="Imagen 11">
            <a:extLst>
              <a:ext uri="{FF2B5EF4-FFF2-40B4-BE49-F238E27FC236}">
                <a16:creationId xmlns:a16="http://schemas.microsoft.com/office/drawing/2014/main" id="{F3E2BCF9-6B4C-9F07-E464-B4C82D278A20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0682615" y="219393"/>
            <a:ext cx="1160941" cy="1243647"/>
          </a:xfrm>
          <a:prstGeom prst="rect">
            <a:avLst/>
          </a:prstGeom>
        </p:spPr>
      </p:pic>
      <p:sp>
        <p:nvSpPr>
          <p:cNvPr id="9" name="CuadroTexto 8">
            <a:extLst>
              <a:ext uri="{FF2B5EF4-FFF2-40B4-BE49-F238E27FC236}">
                <a16:creationId xmlns:a16="http://schemas.microsoft.com/office/drawing/2014/main" id="{14DC3ED1-1729-1766-F5F1-531E3F1B1A2D}"/>
              </a:ext>
            </a:extLst>
          </p:cNvPr>
          <p:cNvSpPr txBox="1"/>
          <p:nvPr/>
        </p:nvSpPr>
        <p:spPr>
          <a:xfrm>
            <a:off x="288884" y="841216"/>
            <a:ext cx="8299900" cy="341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endParaRPr lang="es-CO" dirty="0"/>
          </a:p>
          <a:p>
            <a:pPr algn="just"/>
            <a:r>
              <a:rPr lang="es-CO" dirty="0"/>
              <a:t>Las zonas que mostraron un mayor beneficio tras la búsqueda de </a:t>
            </a:r>
            <a:r>
              <a:rPr lang="es-CO" dirty="0" err="1"/>
              <a:t>hiperparámetros</a:t>
            </a:r>
            <a:r>
              <a:rPr lang="es-CO" dirty="0"/>
              <a:t> fueron aquellas cuyos modelos de predicción se basaron en SVR y Perceptrón, evidenciando una mejora significativa en su desempeño predictivo.</a:t>
            </a:r>
          </a:p>
          <a:p>
            <a:pPr algn="just"/>
            <a:r>
              <a:rPr lang="es-CO" dirty="0"/>
              <a:t> </a:t>
            </a:r>
          </a:p>
          <a:p>
            <a:pPr algn="just"/>
            <a:r>
              <a:rPr lang="es-CO" dirty="0"/>
              <a:t>En contraste, para los conjuntos de datos modelados con </a:t>
            </a:r>
            <a:r>
              <a:rPr lang="es-CO" dirty="0" err="1"/>
              <a:t>Random</a:t>
            </a:r>
            <a:r>
              <a:rPr lang="es-CO" dirty="0"/>
              <a:t> Forest, el rendimiento se mantuvo prácticamente constante antes y después del ajuste de </a:t>
            </a:r>
            <a:r>
              <a:rPr lang="es-CO" dirty="0" err="1"/>
              <a:t>hiperparámetros</a:t>
            </a:r>
            <a:r>
              <a:rPr lang="es-CO" dirty="0"/>
              <a:t>, lo cual puede atribuirse al comportamiento intrínseco de las series temporales asociadas al tráfico </a:t>
            </a:r>
            <a:r>
              <a:rPr lang="es-CO" dirty="0" err="1"/>
              <a:t>WiFi</a:t>
            </a:r>
            <a:r>
              <a:rPr lang="es-CO" dirty="0"/>
              <a:t> analizado.</a:t>
            </a:r>
          </a:p>
          <a:p>
            <a:pPr algn="just"/>
            <a:r>
              <a:rPr lang="es-CO" dirty="0"/>
              <a:t> </a:t>
            </a:r>
          </a:p>
          <a:p>
            <a:pPr algn="just"/>
            <a:r>
              <a:rPr lang="es-CO" dirty="0"/>
              <a:t>Finalmente, mostramos los modelos con mejor desempeño para cada zona wifi con sus  </a:t>
            </a:r>
            <a:r>
              <a:rPr lang="es-CO" dirty="0" err="1"/>
              <a:t>hiperparametros</a:t>
            </a:r>
            <a:r>
              <a:rPr lang="es-CO" dirty="0"/>
              <a:t> respectivos.</a:t>
            </a:r>
          </a:p>
        </p:txBody>
      </p:sp>
    </p:spTree>
    <p:extLst>
      <p:ext uri="{BB962C8B-B14F-4D97-AF65-F5344CB8AC3E}">
        <p14:creationId xmlns:p14="http://schemas.microsoft.com/office/powerpoint/2010/main" val="3535359167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7421389C-212C-65E5-40F4-2D76EFFFE5C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ítulo 1">
            <a:extLst>
              <a:ext uri="{FF2B5EF4-FFF2-40B4-BE49-F238E27FC236}">
                <a16:creationId xmlns:a16="http://schemas.microsoft.com/office/drawing/2014/main" id="{64F4A75A-4122-D92F-879B-2647590FD1D9}"/>
              </a:ext>
            </a:extLst>
          </p:cNvPr>
          <p:cNvSpPr txBox="1">
            <a:spLocks/>
          </p:cNvSpPr>
          <p:nvPr/>
        </p:nvSpPr>
        <p:spPr>
          <a:xfrm>
            <a:off x="1612662" y="72573"/>
            <a:ext cx="6392357" cy="768643"/>
          </a:xfrm>
          <a:prstGeom prst="rect">
            <a:avLst/>
          </a:prstGeom>
        </p:spPr>
        <p:txBody>
          <a:bodyPr vert="horz" lIns="68580" tIns="34290" rIns="68580" bIns="34290" rtlCol="0" anchor="ctr">
            <a:normAutofit fontScale="25000" lnSpcReduction="200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>
              <a:lnSpc>
                <a:spcPct val="110000"/>
              </a:lnSpc>
            </a:pPr>
            <a:endParaRPr lang="es-CO" sz="3750" b="1" dirty="0">
              <a:solidFill>
                <a:schemeClr val="tx2">
                  <a:lumMod val="50000"/>
                </a:schemeClr>
              </a:solidFill>
              <a:latin typeface="+mn-lt"/>
            </a:endParaRPr>
          </a:p>
          <a:p>
            <a:pPr algn="ctr">
              <a:lnSpc>
                <a:spcPct val="110000"/>
              </a:lnSpc>
            </a:pPr>
            <a:r>
              <a:rPr lang="es-CO" sz="18500" b="1" dirty="0">
                <a:solidFill>
                  <a:schemeClr val="tx2">
                    <a:lumMod val="50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Resultados y Análisis</a:t>
            </a:r>
            <a:endParaRPr lang="es-CO" sz="3750" b="1" dirty="0">
              <a:solidFill>
                <a:schemeClr val="tx2">
                  <a:lumMod val="50000"/>
                </a:schemeClr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pic>
        <p:nvPicPr>
          <p:cNvPr id="13" name="Imagen 12">
            <a:extLst>
              <a:ext uri="{FF2B5EF4-FFF2-40B4-BE49-F238E27FC236}">
                <a16:creationId xmlns:a16="http://schemas.microsoft.com/office/drawing/2014/main" id="{8188F444-EDE5-911F-114A-017F6830595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rot="10800000" flipH="1">
            <a:off x="5458401" y="1514693"/>
            <a:ext cx="2908797" cy="6146129"/>
          </a:xfrm>
          <a:prstGeom prst="rect">
            <a:avLst/>
          </a:prstGeom>
        </p:spPr>
      </p:pic>
      <p:pic>
        <p:nvPicPr>
          <p:cNvPr id="5" name="Imagen 4">
            <a:extLst>
              <a:ext uri="{FF2B5EF4-FFF2-40B4-BE49-F238E27FC236}">
                <a16:creationId xmlns:a16="http://schemas.microsoft.com/office/drawing/2014/main" id="{6FB9ECE7-0CF2-FA06-3078-3AC75AF5C05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627490" y="-16943"/>
            <a:ext cx="3564510" cy="7024947"/>
          </a:xfrm>
          <a:prstGeom prst="rect">
            <a:avLst/>
          </a:prstGeom>
        </p:spPr>
      </p:pic>
      <p:pic>
        <p:nvPicPr>
          <p:cNvPr id="10" name="Gráfico 9">
            <a:extLst>
              <a:ext uri="{FF2B5EF4-FFF2-40B4-BE49-F238E27FC236}">
                <a16:creationId xmlns:a16="http://schemas.microsoft.com/office/drawing/2014/main" id="{2AE6715F-02F7-BC13-942C-B0ED698E6765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 rot="16200000">
            <a:off x="10012430" y="-206067"/>
            <a:ext cx="2214082" cy="2334513"/>
          </a:xfrm>
          <a:prstGeom prst="rect">
            <a:avLst/>
          </a:prstGeom>
        </p:spPr>
      </p:pic>
      <p:pic>
        <p:nvPicPr>
          <p:cNvPr id="12" name="Imagen 11">
            <a:extLst>
              <a:ext uri="{FF2B5EF4-FFF2-40B4-BE49-F238E27FC236}">
                <a16:creationId xmlns:a16="http://schemas.microsoft.com/office/drawing/2014/main" id="{6D8CB02C-F00B-F14E-6682-50CEBB1C98BD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0682615" y="219393"/>
            <a:ext cx="1160941" cy="1243647"/>
          </a:xfrm>
          <a:prstGeom prst="rect">
            <a:avLst/>
          </a:prstGeom>
        </p:spPr>
      </p:pic>
      <p:pic>
        <p:nvPicPr>
          <p:cNvPr id="3" name="image12.png">
            <a:extLst>
              <a:ext uri="{FF2B5EF4-FFF2-40B4-BE49-F238E27FC236}">
                <a16:creationId xmlns:a16="http://schemas.microsoft.com/office/drawing/2014/main" id="{D00418CC-0559-AD45-8B6F-4DD9BDD54E71}"/>
              </a:ext>
            </a:extLst>
          </p:cNvPr>
          <p:cNvPicPr/>
          <p:nvPr/>
        </p:nvPicPr>
        <p:blipFill>
          <a:blip r:embed="rId8"/>
          <a:srcRect/>
          <a:stretch>
            <a:fillRect/>
          </a:stretch>
        </p:blipFill>
        <p:spPr>
          <a:xfrm>
            <a:off x="1405044" y="3170489"/>
            <a:ext cx="6055436" cy="3170675"/>
          </a:xfrm>
          <a:prstGeom prst="rect">
            <a:avLst/>
          </a:prstGeom>
          <a:ln/>
        </p:spPr>
      </p:pic>
      <p:sp>
        <p:nvSpPr>
          <p:cNvPr id="4" name="CuadroTexto 3">
            <a:extLst>
              <a:ext uri="{FF2B5EF4-FFF2-40B4-BE49-F238E27FC236}">
                <a16:creationId xmlns:a16="http://schemas.microsoft.com/office/drawing/2014/main" id="{B76C09BA-7684-5304-A4BA-48EDF1E4A6ED}"/>
              </a:ext>
            </a:extLst>
          </p:cNvPr>
          <p:cNvSpPr txBox="1"/>
          <p:nvPr/>
        </p:nvSpPr>
        <p:spPr>
          <a:xfrm>
            <a:off x="162370" y="841216"/>
            <a:ext cx="8648000" cy="261610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CO" b="1" dirty="0"/>
              <a:t>Comparación entre técnicas de modelado:</a:t>
            </a:r>
          </a:p>
          <a:p>
            <a:pPr algn="just"/>
            <a:r>
              <a:rPr lang="es-CO" sz="1600" dirty="0"/>
              <a:t>Los resultados obtenidos muestran que los modelos basados en ensambles, particularmente </a:t>
            </a:r>
            <a:r>
              <a:rPr lang="es-CO" sz="1600" dirty="0" err="1"/>
              <a:t>Random</a:t>
            </a:r>
            <a:r>
              <a:rPr lang="es-CO" sz="1600" dirty="0"/>
              <a:t> Forest, presentan el mejor desempeño global, al ser el modelo con menor error en 27 de las 52 zonas </a:t>
            </a:r>
            <a:r>
              <a:rPr lang="es-CO" sz="1600" dirty="0" err="1"/>
              <a:t>WiFi</a:t>
            </a:r>
            <a:r>
              <a:rPr lang="es-CO" sz="1600" dirty="0"/>
              <a:t> analizadas. Este comportamiento se explica por su capacidad para capturar interacciones complejas entre variables, modelar relaciones no lineales y reducir la varianza mediante la combinación de múltiples árboles de decisión, lo que le otorga mayor estabilidad frente a cambios en los patrones de consumo.</a:t>
            </a:r>
          </a:p>
          <a:p>
            <a:endParaRPr lang="es-CO" sz="1400" dirty="0"/>
          </a:p>
          <a:p>
            <a:endParaRPr lang="es-CO" b="1" dirty="0"/>
          </a:p>
          <a:p>
            <a:endParaRPr lang="es-CO" dirty="0"/>
          </a:p>
        </p:txBody>
      </p:sp>
    </p:spTree>
    <p:extLst>
      <p:ext uri="{BB962C8B-B14F-4D97-AF65-F5344CB8AC3E}">
        <p14:creationId xmlns:p14="http://schemas.microsoft.com/office/powerpoint/2010/main" val="3172501684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4E2014CC-697A-FF62-FE03-FED70DB7F98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Imagen 12">
            <a:extLst>
              <a:ext uri="{FF2B5EF4-FFF2-40B4-BE49-F238E27FC236}">
                <a16:creationId xmlns:a16="http://schemas.microsoft.com/office/drawing/2014/main" id="{C3A7CCDA-078D-2C5D-5257-362CFAAA1B7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rot="10800000" flipH="1">
            <a:off x="5458401" y="1514693"/>
            <a:ext cx="2908797" cy="6146129"/>
          </a:xfrm>
          <a:prstGeom prst="rect">
            <a:avLst/>
          </a:prstGeom>
        </p:spPr>
      </p:pic>
      <p:pic>
        <p:nvPicPr>
          <p:cNvPr id="5" name="Imagen 4">
            <a:extLst>
              <a:ext uri="{FF2B5EF4-FFF2-40B4-BE49-F238E27FC236}">
                <a16:creationId xmlns:a16="http://schemas.microsoft.com/office/drawing/2014/main" id="{2C20548A-30BC-3B2F-2D47-5B9F2A62C87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810370" y="-91440"/>
            <a:ext cx="3564510" cy="7024947"/>
          </a:xfrm>
          <a:prstGeom prst="rect">
            <a:avLst/>
          </a:prstGeom>
        </p:spPr>
      </p:pic>
      <p:pic>
        <p:nvPicPr>
          <p:cNvPr id="10" name="Gráfico 9">
            <a:extLst>
              <a:ext uri="{FF2B5EF4-FFF2-40B4-BE49-F238E27FC236}">
                <a16:creationId xmlns:a16="http://schemas.microsoft.com/office/drawing/2014/main" id="{67588F68-6D1A-9887-C820-1835E48A86AD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 rot="16200000">
            <a:off x="10012430" y="-206067"/>
            <a:ext cx="2214082" cy="2334513"/>
          </a:xfrm>
          <a:prstGeom prst="rect">
            <a:avLst/>
          </a:prstGeom>
        </p:spPr>
      </p:pic>
      <p:pic>
        <p:nvPicPr>
          <p:cNvPr id="12" name="Imagen 11">
            <a:extLst>
              <a:ext uri="{FF2B5EF4-FFF2-40B4-BE49-F238E27FC236}">
                <a16:creationId xmlns:a16="http://schemas.microsoft.com/office/drawing/2014/main" id="{0FD98972-B92F-611E-3E76-5A67D32B771F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0682615" y="219393"/>
            <a:ext cx="1160941" cy="1243647"/>
          </a:xfrm>
          <a:prstGeom prst="rect">
            <a:avLst/>
          </a:prstGeom>
        </p:spPr>
      </p:pic>
      <p:sp>
        <p:nvSpPr>
          <p:cNvPr id="7" name="Título 1">
            <a:extLst>
              <a:ext uri="{FF2B5EF4-FFF2-40B4-BE49-F238E27FC236}">
                <a16:creationId xmlns:a16="http://schemas.microsoft.com/office/drawing/2014/main" id="{5834F172-D45D-EFDE-B43A-805D8E91A951}"/>
              </a:ext>
            </a:extLst>
          </p:cNvPr>
          <p:cNvSpPr txBox="1">
            <a:spLocks/>
          </p:cNvSpPr>
          <p:nvPr/>
        </p:nvSpPr>
        <p:spPr>
          <a:xfrm>
            <a:off x="-176463" y="84977"/>
            <a:ext cx="9419008" cy="768643"/>
          </a:xfrm>
          <a:prstGeom prst="rect">
            <a:avLst/>
          </a:prstGeom>
        </p:spPr>
        <p:txBody>
          <a:bodyPr vert="horz" lIns="68580" tIns="34290" rIns="68580" bIns="34290" rtlCol="0" anchor="ctr">
            <a:normAutofit fontScale="25000" lnSpcReduction="200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>
              <a:lnSpc>
                <a:spcPct val="110000"/>
              </a:lnSpc>
            </a:pPr>
            <a:endParaRPr lang="es-CO" sz="3750" b="1" dirty="0">
              <a:solidFill>
                <a:schemeClr val="tx2">
                  <a:lumMod val="50000"/>
                </a:schemeClr>
              </a:solidFill>
              <a:latin typeface="+mn-lt"/>
            </a:endParaRPr>
          </a:p>
          <a:p>
            <a:pPr algn="ctr">
              <a:lnSpc>
                <a:spcPct val="110000"/>
              </a:lnSpc>
            </a:pPr>
            <a:r>
              <a:rPr lang="es-CO" sz="18500" b="1" dirty="0">
                <a:solidFill>
                  <a:schemeClr val="tx2">
                    <a:lumMod val="50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Resultados y Análisis.</a:t>
            </a:r>
            <a:endParaRPr lang="es-CO" sz="3750" b="1" dirty="0">
              <a:solidFill>
                <a:schemeClr val="tx2">
                  <a:lumMod val="50000"/>
                </a:schemeClr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pic>
        <p:nvPicPr>
          <p:cNvPr id="20" name="Imagen 19" descr="Gráfico, Gráfico de barras&#10;&#10;El contenido generado por IA puede ser incorrecto.">
            <a:extLst>
              <a:ext uri="{FF2B5EF4-FFF2-40B4-BE49-F238E27FC236}">
                <a16:creationId xmlns:a16="http://schemas.microsoft.com/office/drawing/2014/main" id="{C33011D2-6F2B-FB3C-B40D-9934AC62A958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072529" y="961189"/>
            <a:ext cx="6572250" cy="56483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14704649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CF309BCE-9F2A-8448-C62C-C9FDB543459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Imagen 12">
            <a:extLst>
              <a:ext uri="{FF2B5EF4-FFF2-40B4-BE49-F238E27FC236}">
                <a16:creationId xmlns:a16="http://schemas.microsoft.com/office/drawing/2014/main" id="{BBA6B2B8-C4D4-37DB-893E-600149C5ED6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rot="10800000" flipH="1">
            <a:off x="5458401" y="1514693"/>
            <a:ext cx="2908797" cy="6146129"/>
          </a:xfrm>
          <a:prstGeom prst="rect">
            <a:avLst/>
          </a:prstGeom>
        </p:spPr>
      </p:pic>
      <p:pic>
        <p:nvPicPr>
          <p:cNvPr id="10" name="Gráfico 9">
            <a:extLst>
              <a:ext uri="{FF2B5EF4-FFF2-40B4-BE49-F238E27FC236}">
                <a16:creationId xmlns:a16="http://schemas.microsoft.com/office/drawing/2014/main" id="{C0DC7BE0-5523-3456-9EBF-9E6A948BE6C3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 rot="16200000">
            <a:off x="10012430" y="-206067"/>
            <a:ext cx="2214082" cy="2334513"/>
          </a:xfrm>
          <a:prstGeom prst="rect">
            <a:avLst/>
          </a:prstGeom>
        </p:spPr>
      </p:pic>
      <p:pic>
        <p:nvPicPr>
          <p:cNvPr id="12" name="Imagen 11">
            <a:extLst>
              <a:ext uri="{FF2B5EF4-FFF2-40B4-BE49-F238E27FC236}">
                <a16:creationId xmlns:a16="http://schemas.microsoft.com/office/drawing/2014/main" id="{38050937-EE1B-6C4E-92D1-4298A36247DE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682615" y="219393"/>
            <a:ext cx="1160941" cy="1243647"/>
          </a:xfrm>
          <a:prstGeom prst="rect">
            <a:avLst/>
          </a:prstGeom>
        </p:spPr>
      </p:pic>
      <p:sp>
        <p:nvSpPr>
          <p:cNvPr id="7" name="Título 1">
            <a:extLst>
              <a:ext uri="{FF2B5EF4-FFF2-40B4-BE49-F238E27FC236}">
                <a16:creationId xmlns:a16="http://schemas.microsoft.com/office/drawing/2014/main" id="{22BB81DC-88BD-976A-10AA-3FFDF3B92ECC}"/>
              </a:ext>
            </a:extLst>
          </p:cNvPr>
          <p:cNvSpPr txBox="1">
            <a:spLocks/>
          </p:cNvSpPr>
          <p:nvPr/>
        </p:nvSpPr>
        <p:spPr>
          <a:xfrm>
            <a:off x="1263607" y="72573"/>
            <a:ext cx="9419008" cy="768643"/>
          </a:xfrm>
          <a:prstGeom prst="rect">
            <a:avLst/>
          </a:prstGeom>
        </p:spPr>
        <p:txBody>
          <a:bodyPr vert="horz" lIns="68580" tIns="34290" rIns="68580" bIns="34290" rtlCol="0" anchor="ctr">
            <a:normAutofit fontScale="25000" lnSpcReduction="200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>
              <a:lnSpc>
                <a:spcPct val="110000"/>
              </a:lnSpc>
            </a:pPr>
            <a:endParaRPr lang="es-CO" sz="3750" b="1" dirty="0">
              <a:solidFill>
                <a:schemeClr val="tx2">
                  <a:lumMod val="50000"/>
                </a:schemeClr>
              </a:solidFill>
              <a:latin typeface="+mn-lt"/>
            </a:endParaRPr>
          </a:p>
          <a:p>
            <a:pPr algn="ctr">
              <a:lnSpc>
                <a:spcPct val="110000"/>
              </a:lnSpc>
            </a:pPr>
            <a:r>
              <a:rPr lang="es-CO" sz="18500" b="1" dirty="0">
                <a:solidFill>
                  <a:schemeClr val="tx2">
                    <a:lumMod val="50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Resultados y Análisis.</a:t>
            </a:r>
            <a:endParaRPr lang="es-CO" sz="3750" b="1" dirty="0">
              <a:solidFill>
                <a:schemeClr val="tx2">
                  <a:lumMod val="50000"/>
                </a:schemeClr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pic>
        <p:nvPicPr>
          <p:cNvPr id="3" name="Imagen 2" descr="Gráfico, Gráfico de dispersión&#10;&#10;El contenido generado por IA puede ser incorrecto.">
            <a:extLst>
              <a:ext uri="{FF2B5EF4-FFF2-40B4-BE49-F238E27FC236}">
                <a16:creationId xmlns:a16="http://schemas.microsoft.com/office/drawing/2014/main" id="{5913CA8E-22C0-294F-4358-1E91288E79C8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0" y="3810424"/>
            <a:ext cx="12192000" cy="2214084"/>
          </a:xfrm>
          <a:prstGeom prst="rect">
            <a:avLst/>
          </a:prstGeom>
        </p:spPr>
      </p:pic>
      <p:sp>
        <p:nvSpPr>
          <p:cNvPr id="4" name="CuadroTexto 3">
            <a:extLst>
              <a:ext uri="{FF2B5EF4-FFF2-40B4-BE49-F238E27FC236}">
                <a16:creationId xmlns:a16="http://schemas.microsoft.com/office/drawing/2014/main" id="{54839B47-CEC8-CC63-B380-FEEAE8E856EF}"/>
              </a:ext>
            </a:extLst>
          </p:cNvPr>
          <p:cNvSpPr txBox="1"/>
          <p:nvPr/>
        </p:nvSpPr>
        <p:spPr>
          <a:xfrm>
            <a:off x="175667" y="1096856"/>
            <a:ext cx="11799215" cy="258532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Zona </a:t>
            </a:r>
            <a:r>
              <a:rPr lang="en-US" b="1" dirty="0" err="1"/>
              <a:t>WiFi</a:t>
            </a:r>
            <a:r>
              <a:rPr lang="en-US" b="1" dirty="0"/>
              <a:t> Parque Cien Palos</a:t>
            </a:r>
            <a:r>
              <a:rPr lang="en-US" dirty="0"/>
              <a:t> </a:t>
            </a:r>
          </a:p>
          <a:p>
            <a:r>
              <a:rPr lang="en-US" b="1" dirty="0"/>
              <a:t>Mejor </a:t>
            </a:r>
            <a:r>
              <a:rPr lang="en-US" b="1" dirty="0" err="1"/>
              <a:t>modelo</a:t>
            </a:r>
            <a:r>
              <a:rPr lang="en-US" b="1" dirty="0"/>
              <a:t> </a:t>
            </a:r>
            <a:r>
              <a:rPr lang="en-US" b="1" dirty="0" err="1"/>
              <a:t>desempe</a:t>
            </a:r>
            <a:r>
              <a:rPr lang="es-CO" b="1" dirty="0"/>
              <a:t>ñ</a:t>
            </a:r>
            <a:r>
              <a:rPr lang="en-US" b="1" dirty="0"/>
              <a:t>ado:</a:t>
            </a:r>
            <a:r>
              <a:rPr lang="en-US" dirty="0"/>
              <a:t> </a:t>
            </a:r>
            <a:r>
              <a:rPr lang="en-US" dirty="0" err="1"/>
              <a:t>Regresi</a:t>
            </a:r>
            <a:r>
              <a:rPr lang="es-CO" dirty="0" err="1"/>
              <a:t>ó</a:t>
            </a:r>
            <a:r>
              <a:rPr lang="en-US" dirty="0"/>
              <a:t>n Lineal</a:t>
            </a:r>
          </a:p>
          <a:p>
            <a:r>
              <a:rPr lang="en-US" b="1" dirty="0"/>
              <a:t>MAPE:</a:t>
            </a:r>
            <a:r>
              <a:rPr lang="en-US" dirty="0"/>
              <a:t> 11%</a:t>
            </a:r>
          </a:p>
          <a:p>
            <a:r>
              <a:rPr lang="en-US" b="1" dirty="0"/>
              <a:t>MAE:</a:t>
            </a:r>
            <a:r>
              <a:rPr lang="en-US" dirty="0"/>
              <a:t> 993836 KB</a:t>
            </a:r>
          </a:p>
          <a:p>
            <a:r>
              <a:rPr lang="en-US" b="1" dirty="0"/>
              <a:t>RMSE:</a:t>
            </a:r>
            <a:r>
              <a:rPr lang="en-US" dirty="0"/>
              <a:t> 1254673 KB</a:t>
            </a:r>
          </a:p>
          <a:p>
            <a:r>
              <a:rPr lang="en-US" b="1" dirty="0"/>
              <a:t>R Cuadrado:</a:t>
            </a:r>
            <a:r>
              <a:rPr lang="en-US" dirty="0"/>
              <a:t> 0.76</a:t>
            </a:r>
          </a:p>
          <a:p>
            <a:endParaRPr lang="en-US" dirty="0"/>
          </a:p>
          <a:p>
            <a:r>
              <a:rPr lang="en-US" dirty="0"/>
              <a:t>Con </a:t>
            </a:r>
            <a:r>
              <a:rPr lang="en-US" dirty="0" err="1"/>
              <a:t>el</a:t>
            </a:r>
            <a:r>
              <a:rPr lang="en-US" dirty="0"/>
              <a:t> MAPE se </a:t>
            </a:r>
            <a:r>
              <a:rPr lang="en-US" dirty="0" err="1"/>
              <a:t>tiene</a:t>
            </a:r>
            <a:r>
              <a:rPr lang="en-US" dirty="0"/>
              <a:t> un </a:t>
            </a:r>
            <a:r>
              <a:rPr lang="en-US" dirty="0" err="1"/>
              <a:t>mejor</a:t>
            </a:r>
            <a:r>
              <a:rPr lang="en-US" dirty="0"/>
              <a:t> </a:t>
            </a:r>
            <a:r>
              <a:rPr lang="en-US" dirty="0" err="1"/>
              <a:t>entendimiento</a:t>
            </a:r>
            <a:r>
              <a:rPr lang="en-US" dirty="0"/>
              <a:t>, para </a:t>
            </a:r>
            <a:r>
              <a:rPr lang="en-US" dirty="0" err="1"/>
              <a:t>profesionales</a:t>
            </a:r>
            <a:r>
              <a:rPr lang="en-US" dirty="0"/>
              <a:t> </a:t>
            </a:r>
            <a:r>
              <a:rPr lang="en-US" dirty="0" err="1"/>
              <a:t>ajenos</a:t>
            </a:r>
            <a:r>
              <a:rPr lang="en-US" dirty="0"/>
              <a:t> a las </a:t>
            </a:r>
            <a:r>
              <a:rPr lang="en-US" dirty="0" err="1"/>
              <a:t>telecomunicaciones</a:t>
            </a:r>
            <a:r>
              <a:rPr lang="en-US" dirty="0"/>
              <a:t>, de </a:t>
            </a:r>
            <a:r>
              <a:rPr lang="en-US" dirty="0" err="1"/>
              <a:t>si</a:t>
            </a:r>
            <a:r>
              <a:rPr lang="en-US" dirty="0"/>
              <a:t> </a:t>
            </a:r>
            <a:r>
              <a:rPr lang="en-US" dirty="0" err="1"/>
              <a:t>los</a:t>
            </a:r>
            <a:r>
              <a:rPr lang="en-US" dirty="0"/>
              <a:t> </a:t>
            </a:r>
            <a:r>
              <a:rPr lang="en-US" dirty="0" err="1"/>
              <a:t>errores</a:t>
            </a:r>
            <a:r>
              <a:rPr lang="en-US" dirty="0"/>
              <a:t> </a:t>
            </a:r>
            <a:r>
              <a:rPr lang="en-US" dirty="0" err="1"/>
              <a:t>expresados</a:t>
            </a:r>
            <a:r>
              <a:rPr lang="en-US" dirty="0"/>
              <a:t> </a:t>
            </a:r>
            <a:r>
              <a:rPr lang="en-US" dirty="0" err="1"/>
              <a:t>en</a:t>
            </a:r>
            <a:r>
              <a:rPr lang="en-US" dirty="0"/>
              <a:t> Bytes son </a:t>
            </a:r>
            <a:r>
              <a:rPr lang="en-US" dirty="0" err="1"/>
              <a:t>mucho</a:t>
            </a:r>
            <a:r>
              <a:rPr lang="en-US" dirty="0"/>
              <a:t> o poco </a:t>
            </a:r>
            <a:r>
              <a:rPr lang="en-US" dirty="0" err="1"/>
              <a:t>en</a:t>
            </a:r>
            <a:r>
              <a:rPr lang="en-US" dirty="0"/>
              <a:t> </a:t>
            </a:r>
            <a:r>
              <a:rPr lang="en-US" dirty="0" err="1"/>
              <a:t>cada</a:t>
            </a:r>
            <a:r>
              <a:rPr lang="en-US" dirty="0"/>
              <a:t> zona y para </a:t>
            </a:r>
            <a:r>
              <a:rPr lang="en-US" dirty="0" err="1"/>
              <a:t>cada</a:t>
            </a:r>
            <a:r>
              <a:rPr lang="en-US" dirty="0"/>
              <a:t> </a:t>
            </a:r>
            <a:r>
              <a:rPr lang="en-US" dirty="0" err="1"/>
              <a:t>modelo</a:t>
            </a:r>
            <a:r>
              <a:rPr lang="en-US" dirty="0"/>
              <a:t>.</a:t>
            </a:r>
            <a:endParaRPr lang="es-CO" dirty="0"/>
          </a:p>
        </p:txBody>
      </p:sp>
    </p:spTree>
    <p:extLst>
      <p:ext uri="{BB962C8B-B14F-4D97-AF65-F5344CB8AC3E}">
        <p14:creationId xmlns:p14="http://schemas.microsoft.com/office/powerpoint/2010/main" val="1891466828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0EF28834-9A16-CF21-5849-E9B333CECC4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Imagen 12">
            <a:extLst>
              <a:ext uri="{FF2B5EF4-FFF2-40B4-BE49-F238E27FC236}">
                <a16:creationId xmlns:a16="http://schemas.microsoft.com/office/drawing/2014/main" id="{70C5F683-7388-EDA7-FAC5-44627842412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rot="10800000" flipH="1">
            <a:off x="5458401" y="1514693"/>
            <a:ext cx="2908797" cy="6146129"/>
          </a:xfrm>
          <a:prstGeom prst="rect">
            <a:avLst/>
          </a:prstGeom>
        </p:spPr>
      </p:pic>
      <p:pic>
        <p:nvPicPr>
          <p:cNvPr id="10" name="Gráfico 9">
            <a:extLst>
              <a:ext uri="{FF2B5EF4-FFF2-40B4-BE49-F238E27FC236}">
                <a16:creationId xmlns:a16="http://schemas.microsoft.com/office/drawing/2014/main" id="{826E0890-8815-EDF5-505C-A97F27349AFE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 rot="16200000">
            <a:off x="10012430" y="-206067"/>
            <a:ext cx="2214082" cy="2334513"/>
          </a:xfrm>
          <a:prstGeom prst="rect">
            <a:avLst/>
          </a:prstGeom>
        </p:spPr>
      </p:pic>
      <p:pic>
        <p:nvPicPr>
          <p:cNvPr id="12" name="Imagen 11">
            <a:extLst>
              <a:ext uri="{FF2B5EF4-FFF2-40B4-BE49-F238E27FC236}">
                <a16:creationId xmlns:a16="http://schemas.microsoft.com/office/drawing/2014/main" id="{93EC48C2-002D-264E-E93A-29DED3C1FF52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682615" y="219393"/>
            <a:ext cx="1160941" cy="1243647"/>
          </a:xfrm>
          <a:prstGeom prst="rect">
            <a:avLst/>
          </a:prstGeom>
        </p:spPr>
      </p:pic>
      <p:sp>
        <p:nvSpPr>
          <p:cNvPr id="7" name="Título 1">
            <a:extLst>
              <a:ext uri="{FF2B5EF4-FFF2-40B4-BE49-F238E27FC236}">
                <a16:creationId xmlns:a16="http://schemas.microsoft.com/office/drawing/2014/main" id="{5A41CDFE-994C-1149-8014-77FCC6AD6BCA}"/>
              </a:ext>
            </a:extLst>
          </p:cNvPr>
          <p:cNvSpPr txBox="1">
            <a:spLocks/>
          </p:cNvSpPr>
          <p:nvPr/>
        </p:nvSpPr>
        <p:spPr>
          <a:xfrm>
            <a:off x="1263607" y="72573"/>
            <a:ext cx="9419008" cy="768643"/>
          </a:xfrm>
          <a:prstGeom prst="rect">
            <a:avLst/>
          </a:prstGeom>
        </p:spPr>
        <p:txBody>
          <a:bodyPr vert="horz" lIns="68580" tIns="34290" rIns="68580" bIns="34290" rtlCol="0" anchor="ctr">
            <a:normAutofit fontScale="25000" lnSpcReduction="200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>
              <a:lnSpc>
                <a:spcPct val="110000"/>
              </a:lnSpc>
            </a:pPr>
            <a:endParaRPr lang="es-CO" sz="3750" b="1" dirty="0">
              <a:solidFill>
                <a:schemeClr val="tx2">
                  <a:lumMod val="50000"/>
                </a:schemeClr>
              </a:solidFill>
              <a:latin typeface="+mn-lt"/>
            </a:endParaRPr>
          </a:p>
          <a:p>
            <a:pPr algn="ctr">
              <a:lnSpc>
                <a:spcPct val="110000"/>
              </a:lnSpc>
            </a:pPr>
            <a:r>
              <a:rPr lang="es-CO" sz="18500" b="1" dirty="0">
                <a:solidFill>
                  <a:schemeClr val="tx2">
                    <a:lumMod val="50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Resultados y Análisis.</a:t>
            </a:r>
            <a:endParaRPr lang="es-CO" sz="3750" b="1" dirty="0">
              <a:solidFill>
                <a:schemeClr val="tx2">
                  <a:lumMod val="50000"/>
                </a:schemeClr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4" name="CuadroTexto 3">
            <a:extLst>
              <a:ext uri="{FF2B5EF4-FFF2-40B4-BE49-F238E27FC236}">
                <a16:creationId xmlns:a16="http://schemas.microsoft.com/office/drawing/2014/main" id="{D09B745E-A2F3-8AD7-9981-E930469B7816}"/>
              </a:ext>
            </a:extLst>
          </p:cNvPr>
          <p:cNvSpPr txBox="1"/>
          <p:nvPr/>
        </p:nvSpPr>
        <p:spPr>
          <a:xfrm>
            <a:off x="175667" y="1096856"/>
            <a:ext cx="1179921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err="1"/>
              <a:t>Obtención</a:t>
            </a:r>
            <a:r>
              <a:rPr lang="en-US" dirty="0"/>
              <a:t> del </a:t>
            </a:r>
            <a:r>
              <a:rPr lang="en-US" dirty="0" err="1"/>
              <a:t>mejor</a:t>
            </a:r>
            <a:r>
              <a:rPr lang="en-US" dirty="0"/>
              <a:t> </a:t>
            </a:r>
            <a:r>
              <a:rPr lang="en-US" dirty="0" err="1"/>
              <a:t>modelo</a:t>
            </a:r>
            <a:r>
              <a:rPr lang="en-US" dirty="0"/>
              <a:t> </a:t>
            </a:r>
            <a:r>
              <a:rPr lang="en-US" dirty="0" err="1"/>
              <a:t>por</a:t>
            </a:r>
            <a:r>
              <a:rPr lang="en-US" dirty="0"/>
              <a:t> zona.</a:t>
            </a:r>
            <a:endParaRPr lang="es-CO" dirty="0"/>
          </a:p>
        </p:txBody>
      </p:sp>
      <p:sp>
        <p:nvSpPr>
          <p:cNvPr id="5" name="CuadroTexto 4">
            <a:extLst>
              <a:ext uri="{FF2B5EF4-FFF2-40B4-BE49-F238E27FC236}">
                <a16:creationId xmlns:a16="http://schemas.microsoft.com/office/drawing/2014/main" id="{6459987C-AD5E-DE4C-C2B9-003706AD2435}"/>
              </a:ext>
            </a:extLst>
          </p:cNvPr>
          <p:cNvSpPr txBox="1"/>
          <p:nvPr/>
        </p:nvSpPr>
        <p:spPr>
          <a:xfrm>
            <a:off x="196392" y="1770220"/>
            <a:ext cx="11799215" cy="480131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b="1" dirty="0"/>
              <a:t>Zona </a:t>
            </a:r>
            <a:r>
              <a:rPr lang="en-US" b="1" dirty="0" err="1"/>
              <a:t>WiFi</a:t>
            </a:r>
            <a:r>
              <a:rPr lang="en-US" b="1" dirty="0"/>
              <a:t> Parque Cien Palos</a:t>
            </a:r>
            <a:r>
              <a:rPr lang="en-US" dirty="0"/>
              <a:t> </a:t>
            </a:r>
          </a:p>
          <a:p>
            <a:endParaRPr lang="en-US" dirty="0"/>
          </a:p>
          <a:p>
            <a:r>
              <a:rPr lang="en-US" b="1" i="1" dirty="0">
                <a:highlight>
                  <a:srgbClr val="FFFF00"/>
                </a:highlight>
              </a:rPr>
              <a:t>MAPE </a:t>
            </a:r>
            <a:r>
              <a:rPr lang="en-US" b="1" i="1" dirty="0" err="1">
                <a:highlight>
                  <a:srgbClr val="FFFF00"/>
                </a:highlight>
              </a:rPr>
              <a:t>Regresion</a:t>
            </a:r>
            <a:r>
              <a:rPr lang="en-US" b="1" i="1" dirty="0">
                <a:highlight>
                  <a:srgbClr val="FFFF00"/>
                </a:highlight>
              </a:rPr>
              <a:t> Lineal:</a:t>
            </a:r>
            <a:r>
              <a:rPr lang="en-US" i="1" dirty="0">
                <a:highlight>
                  <a:srgbClr val="FFFF00"/>
                </a:highlight>
              </a:rPr>
              <a:t> 10.9%</a:t>
            </a:r>
          </a:p>
          <a:p>
            <a:endParaRPr lang="en-US" dirty="0"/>
          </a:p>
          <a:p>
            <a:r>
              <a:rPr lang="en-US" b="1" dirty="0"/>
              <a:t>MAPE Perceptron Multi Capa base:</a:t>
            </a:r>
            <a:r>
              <a:rPr lang="en-US" dirty="0"/>
              <a:t> 19.9%</a:t>
            </a:r>
          </a:p>
          <a:p>
            <a:r>
              <a:rPr lang="en-US" b="1" dirty="0"/>
              <a:t>MAPE Perceptron Multi Capa con </a:t>
            </a:r>
            <a:r>
              <a:rPr lang="en-US" b="1" dirty="0" err="1"/>
              <a:t>hiperparámetros</a:t>
            </a:r>
            <a:r>
              <a:rPr lang="en-US" b="1" dirty="0"/>
              <a:t>: </a:t>
            </a:r>
            <a:r>
              <a:rPr lang="en-US" dirty="0"/>
              <a:t>20.2%</a:t>
            </a:r>
          </a:p>
          <a:p>
            <a:endParaRPr lang="en-US" dirty="0"/>
          </a:p>
          <a:p>
            <a:r>
              <a:rPr lang="en-US" b="1" dirty="0"/>
              <a:t>MAPE </a:t>
            </a:r>
            <a:r>
              <a:rPr lang="en-US" b="1" dirty="0" err="1"/>
              <a:t>RanfomForest</a:t>
            </a:r>
            <a:r>
              <a:rPr lang="en-US" b="1" dirty="0"/>
              <a:t> Multi Capa base:</a:t>
            </a:r>
            <a:r>
              <a:rPr lang="en-US" dirty="0"/>
              <a:t> 17.6%</a:t>
            </a:r>
          </a:p>
          <a:p>
            <a:r>
              <a:rPr lang="en-US" b="1" dirty="0"/>
              <a:t>MAPE </a:t>
            </a:r>
            <a:r>
              <a:rPr lang="en-US" b="1" dirty="0" err="1"/>
              <a:t>RandomForest</a:t>
            </a:r>
            <a:r>
              <a:rPr lang="en-US" b="1" dirty="0"/>
              <a:t> Multi Capa con </a:t>
            </a:r>
            <a:r>
              <a:rPr lang="en-US" b="1" dirty="0" err="1"/>
              <a:t>hiperparámetros</a:t>
            </a:r>
            <a:r>
              <a:rPr lang="en-US" b="1" dirty="0"/>
              <a:t>: </a:t>
            </a:r>
            <a:r>
              <a:rPr lang="en-US" dirty="0"/>
              <a:t>17.0%</a:t>
            </a:r>
          </a:p>
          <a:p>
            <a:endParaRPr lang="en-US" dirty="0"/>
          </a:p>
          <a:p>
            <a:r>
              <a:rPr lang="en-US" b="1" dirty="0"/>
              <a:t>MAPE SVR Multi Capa base:</a:t>
            </a:r>
            <a:r>
              <a:rPr lang="en-US" dirty="0"/>
              <a:t> 24.3%</a:t>
            </a:r>
          </a:p>
          <a:p>
            <a:r>
              <a:rPr lang="en-US" b="1" dirty="0"/>
              <a:t>MAPE Multi Capa con </a:t>
            </a:r>
            <a:r>
              <a:rPr lang="en-US" b="1" dirty="0" err="1"/>
              <a:t>hiperparámetros</a:t>
            </a:r>
            <a:r>
              <a:rPr lang="en-US" b="1" dirty="0"/>
              <a:t>: </a:t>
            </a:r>
            <a:r>
              <a:rPr lang="en-US" dirty="0"/>
              <a:t>18.0%</a:t>
            </a:r>
          </a:p>
          <a:p>
            <a:endParaRPr lang="en-US" dirty="0"/>
          </a:p>
          <a:p>
            <a:r>
              <a:rPr lang="en-US" dirty="0"/>
              <a:t>Por medio de </a:t>
            </a:r>
            <a:r>
              <a:rPr lang="en-US" dirty="0" err="1"/>
              <a:t>Pyhton</a:t>
            </a:r>
            <a:r>
              <a:rPr lang="en-US" dirty="0"/>
              <a:t> se </a:t>
            </a:r>
            <a:r>
              <a:rPr lang="en-US" dirty="0" err="1"/>
              <a:t>comparan</a:t>
            </a:r>
            <a:r>
              <a:rPr lang="en-US" dirty="0"/>
              <a:t> </a:t>
            </a:r>
            <a:r>
              <a:rPr lang="en-US" dirty="0" err="1"/>
              <a:t>los</a:t>
            </a:r>
            <a:r>
              <a:rPr lang="en-US" dirty="0"/>
              <a:t> </a:t>
            </a:r>
            <a:r>
              <a:rPr lang="en-US" dirty="0" err="1"/>
              <a:t>errores</a:t>
            </a:r>
            <a:r>
              <a:rPr lang="en-US" dirty="0"/>
              <a:t> MAPE </a:t>
            </a:r>
            <a:r>
              <a:rPr lang="en-US" dirty="0" err="1"/>
              <a:t>obtenidos</a:t>
            </a:r>
            <a:r>
              <a:rPr lang="en-US" dirty="0"/>
              <a:t> </a:t>
            </a:r>
            <a:r>
              <a:rPr lang="en-US" dirty="0" err="1"/>
              <a:t>por</a:t>
            </a:r>
            <a:r>
              <a:rPr lang="en-US" dirty="0"/>
              <a:t> </a:t>
            </a:r>
            <a:r>
              <a:rPr lang="en-US" dirty="0" err="1"/>
              <a:t>cada</a:t>
            </a:r>
            <a:r>
              <a:rPr lang="en-US" dirty="0"/>
              <a:t> </a:t>
            </a:r>
            <a:r>
              <a:rPr lang="en-US" dirty="0" err="1"/>
              <a:t>modelo</a:t>
            </a:r>
            <a:r>
              <a:rPr lang="en-US" dirty="0"/>
              <a:t> y se </a:t>
            </a:r>
            <a:r>
              <a:rPr lang="en-US" dirty="0" err="1"/>
              <a:t>elige</a:t>
            </a:r>
            <a:r>
              <a:rPr lang="en-US" dirty="0"/>
              <a:t> </a:t>
            </a:r>
            <a:r>
              <a:rPr lang="en-US" dirty="0" err="1"/>
              <a:t>el</a:t>
            </a:r>
            <a:r>
              <a:rPr lang="en-US" dirty="0"/>
              <a:t> </a:t>
            </a:r>
            <a:r>
              <a:rPr lang="en-US" dirty="0" err="1"/>
              <a:t>que</a:t>
            </a:r>
            <a:r>
              <a:rPr lang="en-US" dirty="0"/>
              <a:t> </a:t>
            </a:r>
            <a:r>
              <a:rPr lang="en-US" dirty="0" err="1"/>
              <a:t>menor</a:t>
            </a:r>
            <a:r>
              <a:rPr lang="en-US" dirty="0"/>
              <a:t> error </a:t>
            </a:r>
            <a:r>
              <a:rPr lang="en-US" dirty="0" err="1"/>
              <a:t>haya</a:t>
            </a:r>
            <a:r>
              <a:rPr lang="en-US" dirty="0"/>
              <a:t> </a:t>
            </a:r>
            <a:r>
              <a:rPr lang="en-US" dirty="0" err="1"/>
              <a:t>reportado</a:t>
            </a:r>
            <a:r>
              <a:rPr lang="en-US" dirty="0"/>
              <a:t>.</a:t>
            </a:r>
          </a:p>
          <a:p>
            <a:r>
              <a:rPr lang="en-US" dirty="0" err="1"/>
              <a:t>Posteriormente</a:t>
            </a:r>
            <a:r>
              <a:rPr lang="en-US" dirty="0"/>
              <a:t> se </a:t>
            </a:r>
            <a:r>
              <a:rPr lang="en-US" dirty="0" err="1"/>
              <a:t>guarda</a:t>
            </a:r>
            <a:r>
              <a:rPr lang="en-US" dirty="0"/>
              <a:t> </a:t>
            </a:r>
            <a:r>
              <a:rPr lang="en-US" dirty="0" err="1"/>
              <a:t>el</a:t>
            </a:r>
            <a:r>
              <a:rPr lang="en-US" dirty="0"/>
              <a:t> </a:t>
            </a:r>
            <a:r>
              <a:rPr lang="en-US" dirty="0" err="1"/>
              <a:t>modelo</a:t>
            </a:r>
            <a:r>
              <a:rPr lang="en-US" dirty="0"/>
              <a:t> de </a:t>
            </a:r>
            <a:r>
              <a:rPr lang="en-US" dirty="0" err="1"/>
              <a:t>esa</a:t>
            </a:r>
            <a:r>
              <a:rPr lang="en-US" dirty="0"/>
              <a:t> zona </a:t>
            </a:r>
            <a:r>
              <a:rPr lang="en-US" dirty="0" err="1"/>
              <a:t>en</a:t>
            </a:r>
            <a:r>
              <a:rPr lang="en-US" dirty="0"/>
              <a:t> un </a:t>
            </a:r>
            <a:r>
              <a:rPr lang="en-US" dirty="0" err="1"/>
              <a:t>archivo</a:t>
            </a:r>
            <a:r>
              <a:rPr lang="en-US" dirty="0"/>
              <a:t> </a:t>
            </a:r>
            <a:r>
              <a:rPr lang="en-US" b="1" dirty="0"/>
              <a:t>.</a:t>
            </a:r>
            <a:r>
              <a:rPr lang="en-US" b="1" dirty="0" err="1"/>
              <a:t>joblib</a:t>
            </a:r>
            <a:r>
              <a:rPr lang="en-US" dirty="0"/>
              <a:t> para </a:t>
            </a:r>
            <a:r>
              <a:rPr lang="en-US" dirty="0" err="1"/>
              <a:t>que</a:t>
            </a:r>
            <a:r>
              <a:rPr lang="en-US" dirty="0"/>
              <a:t> </a:t>
            </a:r>
            <a:r>
              <a:rPr lang="en-US" dirty="0" err="1"/>
              <a:t>el</a:t>
            </a:r>
            <a:r>
              <a:rPr lang="en-US" dirty="0"/>
              <a:t> </a:t>
            </a:r>
            <a:r>
              <a:rPr lang="en-US" dirty="0" err="1"/>
              <a:t>usuario</a:t>
            </a:r>
            <a:r>
              <a:rPr lang="en-US" dirty="0"/>
              <a:t> </a:t>
            </a:r>
            <a:r>
              <a:rPr lang="en-US" dirty="0" err="1"/>
              <a:t>interactúe</a:t>
            </a:r>
            <a:r>
              <a:rPr lang="en-US" dirty="0"/>
              <a:t> con </a:t>
            </a:r>
            <a:r>
              <a:rPr lang="en-US" dirty="0" err="1"/>
              <a:t>él</a:t>
            </a:r>
            <a:r>
              <a:rPr lang="en-US" dirty="0"/>
              <a:t> </a:t>
            </a:r>
            <a:r>
              <a:rPr lang="en-US" dirty="0" err="1"/>
              <a:t>en</a:t>
            </a:r>
            <a:r>
              <a:rPr lang="en-US" dirty="0"/>
              <a:t> </a:t>
            </a:r>
            <a:r>
              <a:rPr lang="en-US" dirty="0" err="1"/>
              <a:t>el</a:t>
            </a:r>
            <a:r>
              <a:rPr lang="en-US" dirty="0"/>
              <a:t> </a:t>
            </a:r>
            <a:r>
              <a:rPr lang="en-US" dirty="0" err="1"/>
              <a:t>prototipo</a:t>
            </a:r>
            <a:r>
              <a:rPr lang="en-US" dirty="0"/>
              <a:t> web, </a:t>
            </a:r>
            <a:r>
              <a:rPr lang="en-US" dirty="0" err="1"/>
              <a:t>ingresando</a:t>
            </a:r>
            <a:r>
              <a:rPr lang="en-US" dirty="0"/>
              <a:t> las variables de entrada para </a:t>
            </a:r>
            <a:r>
              <a:rPr lang="en-US" dirty="0" err="1"/>
              <a:t>generar</a:t>
            </a:r>
            <a:r>
              <a:rPr lang="en-US" dirty="0"/>
              <a:t> la </a:t>
            </a:r>
            <a:r>
              <a:rPr lang="en-US" dirty="0" err="1"/>
              <a:t>predicción</a:t>
            </a:r>
            <a:r>
              <a:rPr lang="en-US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2969442162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0627755E-401A-FD08-016E-4BA699F7FE5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ítulo 1">
            <a:extLst>
              <a:ext uri="{FF2B5EF4-FFF2-40B4-BE49-F238E27FC236}">
                <a16:creationId xmlns:a16="http://schemas.microsoft.com/office/drawing/2014/main" id="{C22B2624-E0D7-AEAC-162C-5D52CC9545FD}"/>
              </a:ext>
            </a:extLst>
          </p:cNvPr>
          <p:cNvSpPr txBox="1">
            <a:spLocks/>
          </p:cNvSpPr>
          <p:nvPr/>
        </p:nvSpPr>
        <p:spPr>
          <a:xfrm>
            <a:off x="1593391" y="179985"/>
            <a:ext cx="7730017" cy="768643"/>
          </a:xfrm>
          <a:prstGeom prst="rect">
            <a:avLst/>
          </a:prstGeom>
        </p:spPr>
        <p:txBody>
          <a:bodyPr vert="horz" lIns="68580" tIns="34290" rIns="68580" bIns="34290" rtlCol="0" anchor="ctr">
            <a:normAutofit fontScale="25000" lnSpcReduction="200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>
              <a:lnSpc>
                <a:spcPct val="110000"/>
              </a:lnSpc>
            </a:pPr>
            <a:endParaRPr lang="es-CO" sz="3750" b="1" dirty="0">
              <a:solidFill>
                <a:schemeClr val="tx2">
                  <a:lumMod val="50000"/>
                </a:schemeClr>
              </a:solidFill>
              <a:latin typeface="+mn-lt"/>
            </a:endParaRPr>
          </a:p>
          <a:p>
            <a:pPr algn="ctr">
              <a:lnSpc>
                <a:spcPct val="110000"/>
              </a:lnSpc>
            </a:pPr>
            <a:r>
              <a:rPr lang="es-CO" sz="17600" b="1" dirty="0">
                <a:solidFill>
                  <a:schemeClr val="tx2">
                    <a:lumMod val="50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Resultados desde el Prototipo.</a:t>
            </a:r>
          </a:p>
        </p:txBody>
      </p:sp>
      <p:pic>
        <p:nvPicPr>
          <p:cNvPr id="13" name="Imagen 12">
            <a:extLst>
              <a:ext uri="{FF2B5EF4-FFF2-40B4-BE49-F238E27FC236}">
                <a16:creationId xmlns:a16="http://schemas.microsoft.com/office/drawing/2014/main" id="{4B32E9A2-1732-936D-7D59-E91C5E8AC2C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rot="10800000" flipH="1">
            <a:off x="5458401" y="1514693"/>
            <a:ext cx="2908797" cy="6146129"/>
          </a:xfrm>
          <a:prstGeom prst="rect">
            <a:avLst/>
          </a:prstGeom>
        </p:spPr>
      </p:pic>
      <p:pic>
        <p:nvPicPr>
          <p:cNvPr id="10" name="Gráfico 9">
            <a:extLst>
              <a:ext uri="{FF2B5EF4-FFF2-40B4-BE49-F238E27FC236}">
                <a16:creationId xmlns:a16="http://schemas.microsoft.com/office/drawing/2014/main" id="{F7D5E6C5-0350-E49A-5488-3DB93BA750F7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 rot="16200000">
            <a:off x="10012430" y="-206067"/>
            <a:ext cx="2214082" cy="2334513"/>
          </a:xfrm>
          <a:prstGeom prst="rect">
            <a:avLst/>
          </a:prstGeom>
        </p:spPr>
      </p:pic>
      <p:pic>
        <p:nvPicPr>
          <p:cNvPr id="12" name="Imagen 11">
            <a:extLst>
              <a:ext uri="{FF2B5EF4-FFF2-40B4-BE49-F238E27FC236}">
                <a16:creationId xmlns:a16="http://schemas.microsoft.com/office/drawing/2014/main" id="{3C3C4244-C228-4FEF-2109-4826EAAD3F50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682615" y="219393"/>
            <a:ext cx="1160941" cy="1243647"/>
          </a:xfrm>
          <a:prstGeom prst="rect">
            <a:avLst/>
          </a:prstGeom>
        </p:spPr>
      </p:pic>
      <p:sp>
        <p:nvSpPr>
          <p:cNvPr id="3" name="CuadroTexto 2">
            <a:extLst>
              <a:ext uri="{FF2B5EF4-FFF2-40B4-BE49-F238E27FC236}">
                <a16:creationId xmlns:a16="http://schemas.microsoft.com/office/drawing/2014/main" id="{1F24B243-BD41-89E1-D0DE-851FD802E19B}"/>
              </a:ext>
            </a:extLst>
          </p:cNvPr>
          <p:cNvSpPr txBox="1"/>
          <p:nvPr/>
        </p:nvSpPr>
        <p:spPr>
          <a:xfrm>
            <a:off x="903720" y="1077618"/>
            <a:ext cx="960377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CO" sz="1600" dirty="0"/>
              <a:t>El objetivo del prototipo es mostrar los resultados de las predicciones de cada zona, del proceso de modelado y análisis predictivo en una herramienta interactiva, accesible vía web, con interfaz intuitiva, que permita visualizar, analizar y apoyar la toma de decisiones sobre el tráfico de datos de las zonas </a:t>
            </a:r>
            <a:r>
              <a:rPr lang="es-CO" sz="1600" dirty="0" err="1"/>
              <a:t>WiFi</a:t>
            </a:r>
            <a:r>
              <a:rPr lang="es-CO" sz="1600" dirty="0"/>
              <a:t> públicas de la ciudad de Cali.</a:t>
            </a:r>
          </a:p>
        </p:txBody>
      </p:sp>
      <p:pic>
        <p:nvPicPr>
          <p:cNvPr id="2" name="image3.png">
            <a:extLst>
              <a:ext uri="{FF2B5EF4-FFF2-40B4-BE49-F238E27FC236}">
                <a16:creationId xmlns:a16="http://schemas.microsoft.com/office/drawing/2014/main" id="{FD11AE1D-0984-61FB-DA50-897C60D5C16F}"/>
              </a:ext>
            </a:extLst>
          </p:cNvPr>
          <p:cNvPicPr/>
          <p:nvPr/>
        </p:nvPicPr>
        <p:blipFill>
          <a:blip r:embed="rId7"/>
          <a:srcRect/>
          <a:stretch>
            <a:fillRect/>
          </a:stretch>
        </p:blipFill>
        <p:spPr>
          <a:xfrm>
            <a:off x="1052185" y="2037605"/>
            <a:ext cx="9306839" cy="4564421"/>
          </a:xfrm>
          <a:prstGeom prst="rect">
            <a:avLst/>
          </a:prstGeom>
          <a:ln/>
        </p:spPr>
      </p:pic>
    </p:spTree>
    <p:extLst>
      <p:ext uri="{BB962C8B-B14F-4D97-AF65-F5344CB8AC3E}">
        <p14:creationId xmlns:p14="http://schemas.microsoft.com/office/powerpoint/2010/main" val="309817011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3FEB7607-93E7-2D4E-80F5-D2C2B36695F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ítulo 1">
            <a:extLst>
              <a:ext uri="{FF2B5EF4-FFF2-40B4-BE49-F238E27FC236}">
                <a16:creationId xmlns:a16="http://schemas.microsoft.com/office/drawing/2014/main" id="{5A5E6462-00D3-3485-7791-DB1A1E8D38F0}"/>
              </a:ext>
            </a:extLst>
          </p:cNvPr>
          <p:cNvSpPr txBox="1">
            <a:spLocks/>
          </p:cNvSpPr>
          <p:nvPr/>
        </p:nvSpPr>
        <p:spPr>
          <a:xfrm>
            <a:off x="1612662" y="72573"/>
            <a:ext cx="6392357" cy="768643"/>
          </a:xfrm>
          <a:prstGeom prst="rect">
            <a:avLst/>
          </a:prstGeom>
        </p:spPr>
        <p:txBody>
          <a:bodyPr vert="horz" lIns="68580" tIns="34290" rIns="68580" bIns="34290" rtlCol="0" anchor="ctr">
            <a:normAutofit fontScale="25000" lnSpcReduction="200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>
              <a:lnSpc>
                <a:spcPct val="110000"/>
              </a:lnSpc>
            </a:pPr>
            <a:endParaRPr lang="es-CO" sz="3750" b="1" dirty="0">
              <a:solidFill>
                <a:schemeClr val="tx2">
                  <a:lumMod val="50000"/>
                </a:schemeClr>
              </a:solidFill>
              <a:latin typeface="+mn-lt"/>
            </a:endParaRPr>
          </a:p>
          <a:p>
            <a:pPr algn="ctr">
              <a:lnSpc>
                <a:spcPct val="110000"/>
              </a:lnSpc>
            </a:pPr>
            <a:r>
              <a:rPr lang="es-CO" sz="17600" b="1" dirty="0">
                <a:solidFill>
                  <a:schemeClr val="tx2">
                    <a:lumMod val="50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Conclusiones.</a:t>
            </a:r>
          </a:p>
        </p:txBody>
      </p:sp>
      <p:pic>
        <p:nvPicPr>
          <p:cNvPr id="13" name="Imagen 12">
            <a:extLst>
              <a:ext uri="{FF2B5EF4-FFF2-40B4-BE49-F238E27FC236}">
                <a16:creationId xmlns:a16="http://schemas.microsoft.com/office/drawing/2014/main" id="{A99B0285-182A-AE72-46F2-91ACAA7C564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rot="10800000" flipH="1">
            <a:off x="5458401" y="1514693"/>
            <a:ext cx="2908797" cy="6146129"/>
          </a:xfrm>
          <a:prstGeom prst="rect">
            <a:avLst/>
          </a:prstGeom>
        </p:spPr>
      </p:pic>
      <p:pic>
        <p:nvPicPr>
          <p:cNvPr id="5" name="Imagen 4">
            <a:extLst>
              <a:ext uri="{FF2B5EF4-FFF2-40B4-BE49-F238E27FC236}">
                <a16:creationId xmlns:a16="http://schemas.microsoft.com/office/drawing/2014/main" id="{BB3837DA-DD10-C3C8-BFBA-F52377C19A6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810370" y="-91440"/>
            <a:ext cx="3564510" cy="7024947"/>
          </a:xfrm>
          <a:prstGeom prst="rect">
            <a:avLst/>
          </a:prstGeom>
        </p:spPr>
      </p:pic>
      <p:pic>
        <p:nvPicPr>
          <p:cNvPr id="10" name="Gráfico 9">
            <a:extLst>
              <a:ext uri="{FF2B5EF4-FFF2-40B4-BE49-F238E27FC236}">
                <a16:creationId xmlns:a16="http://schemas.microsoft.com/office/drawing/2014/main" id="{DE0755D2-0BF4-ECB2-9EBE-803592A1BC2E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 rot="16200000">
            <a:off x="10012430" y="-206067"/>
            <a:ext cx="2214082" cy="2334513"/>
          </a:xfrm>
          <a:prstGeom prst="rect">
            <a:avLst/>
          </a:prstGeom>
        </p:spPr>
      </p:pic>
      <p:pic>
        <p:nvPicPr>
          <p:cNvPr id="12" name="Imagen 11">
            <a:extLst>
              <a:ext uri="{FF2B5EF4-FFF2-40B4-BE49-F238E27FC236}">
                <a16:creationId xmlns:a16="http://schemas.microsoft.com/office/drawing/2014/main" id="{7501E5C6-B59E-841F-123C-C66DD20B7BE4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0682615" y="219393"/>
            <a:ext cx="1160941" cy="1243647"/>
          </a:xfrm>
          <a:prstGeom prst="rect">
            <a:avLst/>
          </a:prstGeom>
        </p:spPr>
      </p:pic>
      <p:sp>
        <p:nvSpPr>
          <p:cNvPr id="4" name="CuadroTexto 3">
            <a:extLst>
              <a:ext uri="{FF2B5EF4-FFF2-40B4-BE49-F238E27FC236}">
                <a16:creationId xmlns:a16="http://schemas.microsoft.com/office/drawing/2014/main" id="{16E49FE3-9620-ABFF-293E-DC080A7E2AC2}"/>
              </a:ext>
            </a:extLst>
          </p:cNvPr>
          <p:cNvSpPr txBox="1"/>
          <p:nvPr/>
        </p:nvSpPr>
        <p:spPr>
          <a:xfrm>
            <a:off x="348444" y="1037985"/>
            <a:ext cx="8573365" cy="507831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CO" dirty="0"/>
              <a:t>A partir de los resultados obtenidos, se derivan las siguientes conclusiones:</a:t>
            </a:r>
          </a:p>
          <a:p>
            <a:endParaRPr lang="es-CO" dirty="0"/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s-CO" dirty="0"/>
              <a:t>Se alcanzaron satisfactoriamente los objetivos planteados en el proyecto.</a:t>
            </a:r>
            <a:br>
              <a:rPr lang="es-CO" dirty="0"/>
            </a:br>
            <a:r>
              <a:rPr lang="es-CO" dirty="0"/>
              <a:t>Fue posible preparar y estructurar los datos históricos de tráfico, construir y evaluar modelos predictivos basados en series de tiempo, y desarrollar un prototipo funcional que permite visualizar y analizar las predicciones de manera interactiva, cumpliendo así el objetivo general y los objetivos específicos definidos.</a:t>
            </a:r>
          </a:p>
          <a:p>
            <a:pPr lvl="0"/>
            <a:endParaRPr lang="es-CO" dirty="0"/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s-CO" dirty="0"/>
              <a:t>El proceso de preparación de datos resultó determinante para el desempeño de los modelos predictivos. Las etapas de depuración, transformación, escalado y ventaneo permitieron convertir datos crudos en conjuntos de datos estructurados y adecuados para el aprendizaje automático, evidenciando que una correcta ingeniería de datos es un factor crítico en proyectos de predicción sobre series temporales.</a:t>
            </a:r>
          </a:p>
          <a:p>
            <a:pPr lvl="0"/>
            <a:endParaRPr lang="es-CO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s-CO" dirty="0"/>
              <a:t>Los resultados del modelado predictivo muestran que los algoritmos capaces de capturar relaciones no lineales, como los modelos basados en vectores y redes neuronales, presentan un mejor desempeño frente a modelos más simples en zonas con alta variabilidad en el consumo de datos.</a:t>
            </a:r>
          </a:p>
        </p:txBody>
      </p:sp>
    </p:spTree>
    <p:extLst>
      <p:ext uri="{BB962C8B-B14F-4D97-AF65-F5344CB8AC3E}">
        <p14:creationId xmlns:p14="http://schemas.microsoft.com/office/powerpoint/2010/main" val="1610912501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DDCFFB16-4269-5B83-EFB7-201784ECF3B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ítulo 1">
            <a:extLst>
              <a:ext uri="{FF2B5EF4-FFF2-40B4-BE49-F238E27FC236}">
                <a16:creationId xmlns:a16="http://schemas.microsoft.com/office/drawing/2014/main" id="{DE4B4D98-2940-E0AF-F7B0-57D9CC4066D0}"/>
              </a:ext>
            </a:extLst>
          </p:cNvPr>
          <p:cNvSpPr txBox="1">
            <a:spLocks/>
          </p:cNvSpPr>
          <p:nvPr/>
        </p:nvSpPr>
        <p:spPr>
          <a:xfrm>
            <a:off x="1612662" y="72573"/>
            <a:ext cx="6392357" cy="768643"/>
          </a:xfrm>
          <a:prstGeom prst="rect">
            <a:avLst/>
          </a:prstGeom>
        </p:spPr>
        <p:txBody>
          <a:bodyPr vert="horz" lIns="68580" tIns="34290" rIns="68580" bIns="34290" rtlCol="0" anchor="ctr">
            <a:normAutofit fontScale="25000" lnSpcReduction="200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>
              <a:lnSpc>
                <a:spcPct val="110000"/>
              </a:lnSpc>
            </a:pPr>
            <a:endParaRPr lang="es-CO" sz="3750" b="1" dirty="0">
              <a:solidFill>
                <a:schemeClr val="tx2">
                  <a:lumMod val="50000"/>
                </a:schemeClr>
              </a:solidFill>
              <a:latin typeface="+mn-lt"/>
            </a:endParaRPr>
          </a:p>
          <a:p>
            <a:pPr algn="ctr">
              <a:lnSpc>
                <a:spcPct val="110000"/>
              </a:lnSpc>
            </a:pPr>
            <a:r>
              <a:rPr lang="es-CO" sz="17600" b="1" dirty="0">
                <a:solidFill>
                  <a:schemeClr val="tx2">
                    <a:lumMod val="50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Conclusiones.</a:t>
            </a:r>
          </a:p>
        </p:txBody>
      </p:sp>
      <p:pic>
        <p:nvPicPr>
          <p:cNvPr id="13" name="Imagen 12">
            <a:extLst>
              <a:ext uri="{FF2B5EF4-FFF2-40B4-BE49-F238E27FC236}">
                <a16:creationId xmlns:a16="http://schemas.microsoft.com/office/drawing/2014/main" id="{52B616DB-C724-57FC-EB4A-58D76BDC4D9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rot="10800000" flipH="1">
            <a:off x="5458401" y="1514693"/>
            <a:ext cx="2908797" cy="6146129"/>
          </a:xfrm>
          <a:prstGeom prst="rect">
            <a:avLst/>
          </a:prstGeom>
        </p:spPr>
      </p:pic>
      <p:pic>
        <p:nvPicPr>
          <p:cNvPr id="5" name="Imagen 4">
            <a:extLst>
              <a:ext uri="{FF2B5EF4-FFF2-40B4-BE49-F238E27FC236}">
                <a16:creationId xmlns:a16="http://schemas.microsoft.com/office/drawing/2014/main" id="{CFAA263F-24A0-C0F2-34DA-A2DEA95617D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810370" y="-91440"/>
            <a:ext cx="3564510" cy="7024947"/>
          </a:xfrm>
          <a:prstGeom prst="rect">
            <a:avLst/>
          </a:prstGeom>
        </p:spPr>
      </p:pic>
      <p:pic>
        <p:nvPicPr>
          <p:cNvPr id="10" name="Gráfico 9">
            <a:extLst>
              <a:ext uri="{FF2B5EF4-FFF2-40B4-BE49-F238E27FC236}">
                <a16:creationId xmlns:a16="http://schemas.microsoft.com/office/drawing/2014/main" id="{674C4B8D-737D-AC28-BA12-E76C3DD54DD8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 rot="16200000">
            <a:off x="10012430" y="-206067"/>
            <a:ext cx="2214082" cy="2334513"/>
          </a:xfrm>
          <a:prstGeom prst="rect">
            <a:avLst/>
          </a:prstGeom>
        </p:spPr>
      </p:pic>
      <p:pic>
        <p:nvPicPr>
          <p:cNvPr id="12" name="Imagen 11">
            <a:extLst>
              <a:ext uri="{FF2B5EF4-FFF2-40B4-BE49-F238E27FC236}">
                <a16:creationId xmlns:a16="http://schemas.microsoft.com/office/drawing/2014/main" id="{E253EAEB-D358-3EAD-953F-7F0561D65B98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0682615" y="219393"/>
            <a:ext cx="1160941" cy="1243647"/>
          </a:xfrm>
          <a:prstGeom prst="rect">
            <a:avLst/>
          </a:prstGeom>
        </p:spPr>
      </p:pic>
      <p:sp>
        <p:nvSpPr>
          <p:cNvPr id="4" name="CuadroTexto 3">
            <a:extLst>
              <a:ext uri="{FF2B5EF4-FFF2-40B4-BE49-F238E27FC236}">
                <a16:creationId xmlns:a16="http://schemas.microsoft.com/office/drawing/2014/main" id="{A4A0001F-8311-5631-778A-8AACB97C3593}"/>
              </a:ext>
            </a:extLst>
          </p:cNvPr>
          <p:cNvSpPr txBox="1"/>
          <p:nvPr/>
        </p:nvSpPr>
        <p:spPr>
          <a:xfrm>
            <a:off x="237005" y="776160"/>
            <a:ext cx="8731631" cy="60785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s-MX" sz="1700" dirty="0"/>
              <a:t>El análisis comparativo entre zonas </a:t>
            </a:r>
            <a:r>
              <a:rPr lang="es-MX" sz="1700" dirty="0" err="1"/>
              <a:t>WiFi</a:t>
            </a:r>
            <a:r>
              <a:rPr lang="es-MX" sz="1700" dirty="0"/>
              <a:t> evidenció que no todas presentan el mismo nivel de predictibilidad. Aunque todos los </a:t>
            </a:r>
            <a:r>
              <a:rPr lang="es-MX" sz="1700" dirty="0" err="1"/>
              <a:t>dataset</a:t>
            </a:r>
            <a:r>
              <a:rPr lang="es-MX" sz="1700" dirty="0"/>
              <a:t> tienen la misma estructura, influyen la temporalidad y la gran </a:t>
            </a:r>
            <a:r>
              <a:rPr lang="es-MX" sz="1700" dirty="0" err="1"/>
              <a:t>variablididad</a:t>
            </a:r>
            <a:r>
              <a:rPr lang="es-MX" sz="1700" dirty="0"/>
              <a:t> de tráfico que tienen algunas zonas frente a otras cuyo tráfico es mas constante y sostenido en el tiempo.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endParaRPr lang="es-MX" sz="1700" dirty="0"/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s-MX" sz="1700" dirty="0"/>
              <a:t>Desde la perspectiva del negocio y la operación, la capacidad de anticipar el tráfico de datos constituye un insumo valioso para la gestión de la infraestructura </a:t>
            </a:r>
            <a:r>
              <a:rPr lang="es-MX" sz="1700" dirty="0" err="1"/>
              <a:t>WiFi</a:t>
            </a:r>
            <a:r>
              <a:rPr lang="es-MX" sz="1700" dirty="0"/>
              <a:t> pública. Las predicciones permiten apoyar decisiones relacionadas con la asignación de recursos, la prevención de congestión y la priorización de zonas que requieren intervenciones específicas de infraestructura y ancho de banda.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endParaRPr lang="es-MX" sz="1700" dirty="0"/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s-MX" sz="1700" dirty="0"/>
              <a:t>La construcción del prototipo demostró la viabilidad de integrar los resultados analíticos en una herramienta interactiva accesible vía web. El </a:t>
            </a:r>
            <a:r>
              <a:rPr lang="es-MX" sz="1700" dirty="0" err="1"/>
              <a:t>dashboard</a:t>
            </a:r>
            <a:r>
              <a:rPr lang="es-MX" sz="1700" dirty="0"/>
              <a:t> desarrollado facilita la interpretación de métricas técnicas y traduce los resultados del modelado en información comprensible y accionable para diferentes tipos de usuarios al tener una interfaz intuitiva.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endParaRPr lang="es-MX" sz="1700" dirty="0"/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s-MX" sz="1700" dirty="0"/>
              <a:t>En conjunto, el proyecto evidencia que la aplicación de técnicas de ciencia de datos a problemas reales de infraestructura urbana es factible y aporta valor tanto desde un enfoque académico como práctico, sentando bases sólidas para futuras implementaciones más avanzadas no solo en el ámbito de la gestión de redes </a:t>
            </a:r>
            <a:r>
              <a:rPr lang="es-MX" sz="1700" dirty="0" err="1"/>
              <a:t>WiFi</a:t>
            </a:r>
            <a:r>
              <a:rPr lang="es-MX" sz="1700" dirty="0"/>
              <a:t> sino en otras infraestructuras de TI.</a:t>
            </a:r>
          </a:p>
          <a:p>
            <a:pPr lvl="0"/>
            <a:endParaRPr lang="es-MX" sz="1600" dirty="0"/>
          </a:p>
          <a:p>
            <a:pPr lvl="0"/>
            <a:endParaRPr lang="es-CO" sz="1600" dirty="0"/>
          </a:p>
        </p:txBody>
      </p:sp>
    </p:spTree>
    <p:extLst>
      <p:ext uri="{BB962C8B-B14F-4D97-AF65-F5344CB8AC3E}">
        <p14:creationId xmlns:p14="http://schemas.microsoft.com/office/powerpoint/2010/main" val="3699265826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BA3841DC-EEBE-ED19-2F5A-0BC877F8D84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ítulo 1">
            <a:extLst>
              <a:ext uri="{FF2B5EF4-FFF2-40B4-BE49-F238E27FC236}">
                <a16:creationId xmlns:a16="http://schemas.microsoft.com/office/drawing/2014/main" id="{16674F27-355E-0697-95B1-93E81EE6E1CC}"/>
              </a:ext>
            </a:extLst>
          </p:cNvPr>
          <p:cNvSpPr txBox="1">
            <a:spLocks/>
          </p:cNvSpPr>
          <p:nvPr/>
        </p:nvSpPr>
        <p:spPr>
          <a:xfrm>
            <a:off x="1612662" y="72573"/>
            <a:ext cx="6392357" cy="768643"/>
          </a:xfrm>
          <a:prstGeom prst="rect">
            <a:avLst/>
          </a:prstGeom>
        </p:spPr>
        <p:txBody>
          <a:bodyPr vert="horz" lIns="68580" tIns="34290" rIns="68580" bIns="34290" rtlCol="0" anchor="ctr">
            <a:normAutofit fontScale="25000" lnSpcReduction="200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>
              <a:lnSpc>
                <a:spcPct val="110000"/>
              </a:lnSpc>
            </a:pPr>
            <a:endParaRPr lang="es-CO" sz="3750" b="1" dirty="0">
              <a:solidFill>
                <a:schemeClr val="tx2">
                  <a:lumMod val="50000"/>
                </a:schemeClr>
              </a:solidFill>
              <a:latin typeface="+mn-lt"/>
            </a:endParaRPr>
          </a:p>
          <a:p>
            <a:pPr algn="ctr">
              <a:lnSpc>
                <a:spcPct val="110000"/>
              </a:lnSpc>
            </a:pPr>
            <a:r>
              <a:rPr lang="es-CO" sz="17600" b="1" dirty="0">
                <a:solidFill>
                  <a:schemeClr val="tx2">
                    <a:lumMod val="50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Referencias Bibliográfica.</a:t>
            </a:r>
          </a:p>
        </p:txBody>
      </p:sp>
      <p:pic>
        <p:nvPicPr>
          <p:cNvPr id="13" name="Imagen 12">
            <a:extLst>
              <a:ext uri="{FF2B5EF4-FFF2-40B4-BE49-F238E27FC236}">
                <a16:creationId xmlns:a16="http://schemas.microsoft.com/office/drawing/2014/main" id="{5ED68738-8C9E-227C-3AFC-3576C60511B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rot="10800000" flipH="1">
            <a:off x="5458401" y="1514693"/>
            <a:ext cx="2908797" cy="6146129"/>
          </a:xfrm>
          <a:prstGeom prst="rect">
            <a:avLst/>
          </a:prstGeom>
        </p:spPr>
      </p:pic>
      <p:pic>
        <p:nvPicPr>
          <p:cNvPr id="5" name="Imagen 4">
            <a:extLst>
              <a:ext uri="{FF2B5EF4-FFF2-40B4-BE49-F238E27FC236}">
                <a16:creationId xmlns:a16="http://schemas.microsoft.com/office/drawing/2014/main" id="{9A850268-3F09-F730-0FDB-32F88ED6A6B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810370" y="-91440"/>
            <a:ext cx="3564510" cy="7024947"/>
          </a:xfrm>
          <a:prstGeom prst="rect">
            <a:avLst/>
          </a:prstGeom>
        </p:spPr>
      </p:pic>
      <p:pic>
        <p:nvPicPr>
          <p:cNvPr id="10" name="Gráfico 9">
            <a:extLst>
              <a:ext uri="{FF2B5EF4-FFF2-40B4-BE49-F238E27FC236}">
                <a16:creationId xmlns:a16="http://schemas.microsoft.com/office/drawing/2014/main" id="{DF3ED275-0AE2-2772-34E8-6CD5CC31BF86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 rot="16200000">
            <a:off x="10012430" y="-206067"/>
            <a:ext cx="2214082" cy="2334513"/>
          </a:xfrm>
          <a:prstGeom prst="rect">
            <a:avLst/>
          </a:prstGeom>
        </p:spPr>
      </p:pic>
      <p:pic>
        <p:nvPicPr>
          <p:cNvPr id="12" name="Imagen 11">
            <a:extLst>
              <a:ext uri="{FF2B5EF4-FFF2-40B4-BE49-F238E27FC236}">
                <a16:creationId xmlns:a16="http://schemas.microsoft.com/office/drawing/2014/main" id="{A86819EF-6FB2-42EE-6E73-B498BE2AAB0C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0682615" y="219393"/>
            <a:ext cx="1160941" cy="1243647"/>
          </a:xfrm>
          <a:prstGeom prst="rect">
            <a:avLst/>
          </a:prstGeom>
        </p:spPr>
      </p:pic>
      <p:sp>
        <p:nvSpPr>
          <p:cNvPr id="4" name="CuadroTexto 3">
            <a:extLst>
              <a:ext uri="{FF2B5EF4-FFF2-40B4-BE49-F238E27FC236}">
                <a16:creationId xmlns:a16="http://schemas.microsoft.com/office/drawing/2014/main" id="{48349E57-650D-C01F-C6A4-9D227C81925A}"/>
              </a:ext>
            </a:extLst>
          </p:cNvPr>
          <p:cNvSpPr txBox="1"/>
          <p:nvPr/>
        </p:nvSpPr>
        <p:spPr>
          <a:xfrm>
            <a:off x="348444" y="1037985"/>
            <a:ext cx="8573365" cy="532453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/>
            <a:r>
              <a:rPr lang="en-US" sz="1400" dirty="0"/>
              <a:t>[ 1] International Organization for Standardization, “ISO 9241-210:2019 — Ergonomics of human-system interaction — Part 210: Human-</a:t>
            </a:r>
            <a:r>
              <a:rPr lang="en-US" sz="1400" dirty="0" err="1"/>
              <a:t>centred</a:t>
            </a:r>
            <a:r>
              <a:rPr lang="en-US" sz="1400" dirty="0"/>
              <a:t> design for interactive systems,”  ISO, Geneva, Switzerland, 2019.  </a:t>
            </a:r>
            <a:r>
              <a:rPr lang="es-CO" sz="1400" dirty="0"/>
              <a:t>[Online]. </a:t>
            </a:r>
            <a:r>
              <a:rPr lang="es-CO" sz="1400" dirty="0" err="1"/>
              <a:t>Available</a:t>
            </a:r>
            <a:r>
              <a:rPr lang="es-CO" sz="1400" dirty="0"/>
              <a:t>: </a:t>
            </a:r>
            <a:r>
              <a:rPr lang="es-CO" sz="1400" dirty="0">
                <a:hlinkClick r:id="rId8"/>
              </a:rPr>
              <a:t>https://www.iso.org/standard/77520.html</a:t>
            </a:r>
            <a:r>
              <a:rPr lang="es-CO" sz="1400" dirty="0"/>
              <a:t> </a:t>
            </a:r>
          </a:p>
          <a:p>
            <a:r>
              <a:rPr lang="es-CO" sz="1400" dirty="0"/>
              <a:t> </a:t>
            </a:r>
          </a:p>
          <a:p>
            <a:pPr lvl="0"/>
            <a:r>
              <a:rPr lang="en-US" sz="1400" dirty="0"/>
              <a:t>[ 2] V. K. Gurbani, E. Burger, T. Anjali, H. </a:t>
            </a:r>
            <a:r>
              <a:rPr lang="en-US" sz="1400" dirty="0" err="1"/>
              <a:t>Abdelnur</a:t>
            </a:r>
            <a:r>
              <a:rPr lang="en-US" sz="1400" dirty="0"/>
              <a:t> y O. </a:t>
            </a:r>
            <a:r>
              <a:rPr lang="en-US" sz="1400" dirty="0" err="1"/>
              <a:t>Festor</a:t>
            </a:r>
            <a:r>
              <a:rPr lang="en-US" sz="1400" dirty="0"/>
              <a:t>, </a:t>
            </a:r>
            <a:r>
              <a:rPr lang="en-US" sz="1400" i="1" dirty="0"/>
              <a:t>The Common Log Format (CLF) for the Session Initiation Protocol (SIP): Framework and Information Model</a:t>
            </a:r>
            <a:r>
              <a:rPr lang="en-US" sz="1400" dirty="0"/>
              <a:t>, RFC 6872, Standards Track, Internet Engineering Task Force, Feb. 2013, </a:t>
            </a:r>
            <a:r>
              <a:rPr lang="en-US" sz="1400" dirty="0" err="1"/>
              <a:t>doi</a:t>
            </a:r>
            <a:r>
              <a:rPr lang="en-US" sz="1400" dirty="0"/>
              <a:t>: 10.17487/RFC6872. </a:t>
            </a:r>
            <a:r>
              <a:rPr lang="es-CO" sz="1400" dirty="0"/>
              <a:t>Disponible en: </a:t>
            </a:r>
            <a:r>
              <a:rPr lang="es-CO" sz="1400" dirty="0">
                <a:hlinkClick r:id="rId9"/>
              </a:rPr>
              <a:t>https://www.rfc-editor.org/info/rfc6872</a:t>
            </a:r>
            <a:endParaRPr lang="es-CO" sz="1400" dirty="0"/>
          </a:p>
          <a:p>
            <a:r>
              <a:rPr lang="es-CO" sz="1400" dirty="0"/>
              <a:t> </a:t>
            </a:r>
          </a:p>
          <a:p>
            <a:pPr lvl="0"/>
            <a:r>
              <a:rPr lang="en-US" sz="1400" dirty="0"/>
              <a:t>[3] D. Stanley, M. Montemurro y P. R. Calhoun, </a:t>
            </a:r>
            <a:r>
              <a:rPr lang="en-US" sz="1400" i="1" dirty="0"/>
              <a:t>Control and Provisioning of Wireless Access Points (CAPWAP) Protocol Binding for IEEE 802.11</a:t>
            </a:r>
            <a:r>
              <a:rPr lang="en-US" sz="1400" dirty="0"/>
              <a:t>, RFC 5416, Proposed Standard, Internet Engineering Task Force, Mar. 2009, </a:t>
            </a:r>
            <a:r>
              <a:rPr lang="en-US" sz="1400" dirty="0" err="1"/>
              <a:t>doi</a:t>
            </a:r>
            <a:r>
              <a:rPr lang="en-US" sz="1400" dirty="0"/>
              <a:t>: 10.17487/RFC5416. </a:t>
            </a:r>
            <a:r>
              <a:rPr lang="es-CO" sz="1400" dirty="0"/>
              <a:t>Disponible en: </a:t>
            </a:r>
            <a:r>
              <a:rPr lang="es-CO" sz="1400" dirty="0">
                <a:hlinkClick r:id="rId10"/>
              </a:rPr>
              <a:t>https://www.rfc-editor.org/info/rfc5416</a:t>
            </a:r>
            <a:endParaRPr lang="es-CO" sz="1400" dirty="0"/>
          </a:p>
          <a:p>
            <a:r>
              <a:rPr lang="es-CO" sz="1400" dirty="0"/>
              <a:t> </a:t>
            </a:r>
          </a:p>
          <a:p>
            <a:pPr lvl="0"/>
            <a:r>
              <a:rPr lang="en-US" sz="1400" dirty="0"/>
              <a:t>[ 4] V. K. Gurbani, E. Burger, T. Anjali, H. </a:t>
            </a:r>
            <a:r>
              <a:rPr lang="en-US" sz="1400" dirty="0" err="1"/>
              <a:t>Abdelnur</a:t>
            </a:r>
            <a:r>
              <a:rPr lang="en-US" sz="1400" dirty="0"/>
              <a:t> y O. </a:t>
            </a:r>
            <a:r>
              <a:rPr lang="en-US" sz="1400" dirty="0" err="1"/>
              <a:t>Festor</a:t>
            </a:r>
            <a:r>
              <a:rPr lang="en-US" sz="1400" dirty="0"/>
              <a:t>, </a:t>
            </a:r>
            <a:r>
              <a:rPr lang="en-US" sz="1400" i="1" dirty="0"/>
              <a:t>The Common Log Format (CLF) for the Session Initiation Protocol (SIP): Framework and Information Model</a:t>
            </a:r>
            <a:r>
              <a:rPr lang="en-US" sz="1400" dirty="0"/>
              <a:t>, RFC 6872, Standards Track, Internet Engineering Task Force, Feb. 2013, </a:t>
            </a:r>
            <a:r>
              <a:rPr lang="en-US" sz="1400" dirty="0" err="1"/>
              <a:t>doi</a:t>
            </a:r>
            <a:r>
              <a:rPr lang="en-US" sz="1400" dirty="0"/>
              <a:t>: 10.17487/RFC6872. </a:t>
            </a:r>
            <a:r>
              <a:rPr lang="es-CO" sz="1400" dirty="0"/>
              <a:t>Disponible en: </a:t>
            </a:r>
            <a:r>
              <a:rPr lang="es-CO" sz="1400" dirty="0">
                <a:hlinkClick r:id="rId9"/>
              </a:rPr>
              <a:t>https://www.rfc-editor.org/info/rfc6872</a:t>
            </a:r>
            <a:endParaRPr lang="es-CO" sz="1400" dirty="0"/>
          </a:p>
          <a:p>
            <a:r>
              <a:rPr lang="es-CO" sz="1400" dirty="0"/>
              <a:t> </a:t>
            </a:r>
          </a:p>
          <a:p>
            <a:pPr lvl="0"/>
            <a:r>
              <a:rPr lang="en-US" sz="1400" dirty="0"/>
              <a:t>[5] Cisco Wireless. (2022, </a:t>
            </a:r>
            <a:r>
              <a:rPr lang="en-US" sz="1400" dirty="0" err="1"/>
              <a:t>Noviembre</a:t>
            </a:r>
            <a:r>
              <a:rPr lang="en-US" sz="1400" dirty="0"/>
              <a:t> 11). Cisco Embedded Wireless Controller on Catalyst Access Points (EWC) White Paper [Online]. Available: </a:t>
            </a:r>
            <a:r>
              <a:rPr lang="en-US" sz="1400" dirty="0">
                <a:hlinkClick r:id="rId11"/>
              </a:rPr>
              <a:t>https://www.cisco.com/c/en/us/products/collateral/wireless/embedded-wireless-controller-catalyst-access-points/white-paper-c11-743398.html</a:t>
            </a:r>
            <a:endParaRPr lang="en-US" sz="1400" dirty="0"/>
          </a:p>
          <a:p>
            <a:pPr lvl="0"/>
            <a:endParaRPr lang="en-US" sz="1400" dirty="0"/>
          </a:p>
          <a:p>
            <a:r>
              <a:rPr lang="en-US" sz="1400" dirty="0"/>
              <a:t>[6] B. Y. Fraser, </a:t>
            </a:r>
            <a:r>
              <a:rPr lang="en-US" sz="1400" i="1" dirty="0"/>
              <a:t>Site Security Handbook</a:t>
            </a:r>
            <a:r>
              <a:rPr lang="en-US" sz="1400" dirty="0"/>
              <a:t>, RFC 2196, Informational, Internet Engineering Task Force, Sep. 1997. </a:t>
            </a:r>
            <a:r>
              <a:rPr lang="en-US" sz="1400" dirty="0" err="1"/>
              <a:t>doi</a:t>
            </a:r>
            <a:r>
              <a:rPr lang="en-US" sz="1400" dirty="0"/>
              <a:t>: 10.17487/RFC2196. </a:t>
            </a:r>
            <a:r>
              <a:rPr lang="es-CO" sz="1400" dirty="0"/>
              <a:t>Disponible en: </a:t>
            </a:r>
            <a:r>
              <a:rPr lang="es-CO" sz="1400" dirty="0">
                <a:hlinkClick r:id="rId12"/>
              </a:rPr>
              <a:t>https://www.rfc-editor.org/info/rfc2196</a:t>
            </a:r>
            <a:endParaRPr lang="es-CO" sz="1400" dirty="0"/>
          </a:p>
          <a:p>
            <a:pPr lvl="0"/>
            <a:endParaRPr lang="es-CO" sz="1400" dirty="0"/>
          </a:p>
          <a:p>
            <a:endParaRPr lang="es-CO" dirty="0"/>
          </a:p>
        </p:txBody>
      </p:sp>
    </p:spTree>
    <p:extLst>
      <p:ext uri="{BB962C8B-B14F-4D97-AF65-F5344CB8AC3E}">
        <p14:creationId xmlns:p14="http://schemas.microsoft.com/office/powerpoint/2010/main" val="4086094183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9FC34484-9EF9-CBFB-7313-EF3B3C0E06A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ítulo 1">
            <a:extLst>
              <a:ext uri="{FF2B5EF4-FFF2-40B4-BE49-F238E27FC236}">
                <a16:creationId xmlns:a16="http://schemas.microsoft.com/office/drawing/2014/main" id="{59DA6E9C-A7FC-9E5F-6D07-4F5F73329ADD}"/>
              </a:ext>
            </a:extLst>
          </p:cNvPr>
          <p:cNvSpPr txBox="1">
            <a:spLocks/>
          </p:cNvSpPr>
          <p:nvPr/>
        </p:nvSpPr>
        <p:spPr>
          <a:xfrm>
            <a:off x="1612662" y="72573"/>
            <a:ext cx="6392357" cy="768643"/>
          </a:xfrm>
          <a:prstGeom prst="rect">
            <a:avLst/>
          </a:prstGeom>
        </p:spPr>
        <p:txBody>
          <a:bodyPr vert="horz" lIns="68580" tIns="34290" rIns="68580" bIns="34290" rtlCol="0" anchor="ctr">
            <a:normAutofit fontScale="25000" lnSpcReduction="200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>
              <a:lnSpc>
                <a:spcPct val="110000"/>
              </a:lnSpc>
            </a:pPr>
            <a:endParaRPr lang="es-CO" sz="3750" b="1" dirty="0">
              <a:solidFill>
                <a:schemeClr val="tx2">
                  <a:lumMod val="50000"/>
                </a:schemeClr>
              </a:solidFill>
              <a:latin typeface="+mn-lt"/>
            </a:endParaRPr>
          </a:p>
          <a:p>
            <a:pPr algn="ctr">
              <a:lnSpc>
                <a:spcPct val="110000"/>
              </a:lnSpc>
            </a:pPr>
            <a:r>
              <a:rPr lang="es-CO" sz="17600" b="1" dirty="0">
                <a:solidFill>
                  <a:schemeClr val="tx2">
                    <a:lumMod val="50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Referencias Bibliográfica.</a:t>
            </a:r>
          </a:p>
        </p:txBody>
      </p:sp>
      <p:pic>
        <p:nvPicPr>
          <p:cNvPr id="13" name="Imagen 12">
            <a:extLst>
              <a:ext uri="{FF2B5EF4-FFF2-40B4-BE49-F238E27FC236}">
                <a16:creationId xmlns:a16="http://schemas.microsoft.com/office/drawing/2014/main" id="{87ADAE06-4D5F-3DD6-2CDB-043ABA389FD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rot="10800000" flipH="1">
            <a:off x="5458401" y="1514693"/>
            <a:ext cx="2908797" cy="6146129"/>
          </a:xfrm>
          <a:prstGeom prst="rect">
            <a:avLst/>
          </a:prstGeom>
        </p:spPr>
      </p:pic>
      <p:pic>
        <p:nvPicPr>
          <p:cNvPr id="5" name="Imagen 4">
            <a:extLst>
              <a:ext uri="{FF2B5EF4-FFF2-40B4-BE49-F238E27FC236}">
                <a16:creationId xmlns:a16="http://schemas.microsoft.com/office/drawing/2014/main" id="{8ACF57DC-66A4-CA08-2E71-A4E28A35096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810370" y="-91440"/>
            <a:ext cx="3564510" cy="7024947"/>
          </a:xfrm>
          <a:prstGeom prst="rect">
            <a:avLst/>
          </a:prstGeom>
        </p:spPr>
      </p:pic>
      <p:pic>
        <p:nvPicPr>
          <p:cNvPr id="10" name="Gráfico 9">
            <a:extLst>
              <a:ext uri="{FF2B5EF4-FFF2-40B4-BE49-F238E27FC236}">
                <a16:creationId xmlns:a16="http://schemas.microsoft.com/office/drawing/2014/main" id="{F23102C9-4DA6-E4D9-0BB9-0810644D1F89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 rot="16200000">
            <a:off x="10012430" y="-206067"/>
            <a:ext cx="2214082" cy="2334513"/>
          </a:xfrm>
          <a:prstGeom prst="rect">
            <a:avLst/>
          </a:prstGeom>
        </p:spPr>
      </p:pic>
      <p:pic>
        <p:nvPicPr>
          <p:cNvPr id="12" name="Imagen 11">
            <a:extLst>
              <a:ext uri="{FF2B5EF4-FFF2-40B4-BE49-F238E27FC236}">
                <a16:creationId xmlns:a16="http://schemas.microsoft.com/office/drawing/2014/main" id="{3EB839D7-9274-4B8A-E8B5-A614B7CFCF20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0682615" y="219393"/>
            <a:ext cx="1160941" cy="1243647"/>
          </a:xfrm>
          <a:prstGeom prst="rect">
            <a:avLst/>
          </a:prstGeom>
        </p:spPr>
      </p:pic>
      <p:sp>
        <p:nvSpPr>
          <p:cNvPr id="4" name="CuadroTexto 3">
            <a:extLst>
              <a:ext uri="{FF2B5EF4-FFF2-40B4-BE49-F238E27FC236}">
                <a16:creationId xmlns:a16="http://schemas.microsoft.com/office/drawing/2014/main" id="{1B1E1777-C51C-7E8E-4A39-DC2EF7FF6967}"/>
              </a:ext>
            </a:extLst>
          </p:cNvPr>
          <p:cNvSpPr txBox="1"/>
          <p:nvPr/>
        </p:nvSpPr>
        <p:spPr>
          <a:xfrm>
            <a:off x="348444" y="1037985"/>
            <a:ext cx="8573365" cy="517064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/>
            <a:r>
              <a:rPr lang="es-CO" dirty="0"/>
              <a:t> </a:t>
            </a:r>
            <a:r>
              <a:rPr lang="en-US" sz="1400" dirty="0"/>
              <a:t>[7] R. Caruana and A. Niculescu-Mizil, "An empirical comparison of supervised learning algorithms," in Proc. 23rd Int. Conf. Mach. Learn., Pittsburgh, PA, USA, 2006, pp. 161-168, </a:t>
            </a:r>
            <a:r>
              <a:rPr lang="en-US" sz="1400" dirty="0" err="1"/>
              <a:t>doi</a:t>
            </a:r>
            <a:r>
              <a:rPr lang="en-US" sz="1400" dirty="0"/>
              <a:t>: 10.1145/1143844.1143865. [Online]. Disponible </a:t>
            </a:r>
            <a:r>
              <a:rPr lang="en-US" sz="1400" dirty="0" err="1"/>
              <a:t>en</a:t>
            </a:r>
            <a:r>
              <a:rPr lang="en-US" sz="1400" dirty="0"/>
              <a:t>:  </a:t>
            </a:r>
            <a:r>
              <a:rPr lang="en-US" sz="1400" dirty="0">
                <a:hlinkClick r:id="rId8"/>
              </a:rPr>
              <a:t>https://www.cs.cornell.edu/~caruana/ctp/ct.papers/caruana.icml06.pdf</a:t>
            </a:r>
            <a:endParaRPr lang="es-CO" sz="1400" dirty="0"/>
          </a:p>
          <a:p>
            <a:r>
              <a:rPr lang="en-US" sz="1400" dirty="0"/>
              <a:t> </a:t>
            </a:r>
            <a:endParaRPr lang="es-CO" sz="1400" dirty="0"/>
          </a:p>
          <a:p>
            <a:r>
              <a:rPr lang="en-US" sz="1400" dirty="0"/>
              <a:t>[8] N. R. Draper and H. Smith, "Applied Regression Analysis, 3rd ed.," New York, NY, USA: Wiley, 1998. </a:t>
            </a:r>
            <a:r>
              <a:rPr lang="en-US" sz="1400" dirty="0" err="1"/>
              <a:t>doi</a:t>
            </a:r>
            <a:r>
              <a:rPr lang="en-US" sz="1400" dirty="0"/>
              <a:t>: 10.1002/0471722554. </a:t>
            </a:r>
            <a:r>
              <a:rPr lang="es-CO" sz="1400" dirty="0"/>
              <a:t>[Online]. Disponible en: </a:t>
            </a:r>
            <a:r>
              <a:rPr lang="es-CO" sz="1400" dirty="0">
                <a:hlinkClick r:id="rId9"/>
              </a:rPr>
              <a:t>https://blog.minitab.com/es/blog/analisis-de-regresion-como-puedo-interpretar-el-r-cuadrado-y-evaluar-la-bondad-de-ajuste</a:t>
            </a:r>
            <a:r>
              <a:rPr lang="es-CO" sz="1400" dirty="0"/>
              <a:t> </a:t>
            </a:r>
          </a:p>
          <a:p>
            <a:r>
              <a:rPr lang="es-CO" sz="1400" dirty="0"/>
              <a:t> </a:t>
            </a:r>
          </a:p>
          <a:p>
            <a:r>
              <a:rPr lang="en-US" sz="1400" dirty="0"/>
              <a:t>[9] A. De </a:t>
            </a:r>
            <a:r>
              <a:rPr lang="en-US" sz="1400" dirty="0" err="1"/>
              <a:t>Myttenaere</a:t>
            </a:r>
            <a:r>
              <a:rPr lang="en-US" sz="1400" dirty="0"/>
              <a:t>, B. Golden, B. Le Grand y F. Rossi, "Mean Absolute Percentage Error for regression models," Neurocomputing, vol. 192, pp. 38-48, jun. 2016, </a:t>
            </a:r>
            <a:r>
              <a:rPr lang="en-US" sz="1400" dirty="0" err="1"/>
              <a:t>doi</a:t>
            </a:r>
            <a:r>
              <a:rPr lang="en-US" sz="1400" dirty="0"/>
              <a:t>: 10.1016/j.neucom.2015.12.114. </a:t>
            </a:r>
            <a:r>
              <a:rPr lang="es-CO" sz="1400" dirty="0"/>
              <a:t>[Online]. Disponible en: </a:t>
            </a:r>
            <a:r>
              <a:rPr lang="es-CO" sz="1400" dirty="0">
                <a:hlinkClick r:id="rId10"/>
              </a:rPr>
              <a:t>https://www.sciencedirect.com/science/article/abs/pii/S0925231216003325</a:t>
            </a:r>
            <a:endParaRPr lang="es-CO" sz="1400" dirty="0"/>
          </a:p>
          <a:p>
            <a:r>
              <a:rPr lang="es-CO" sz="1400" dirty="0"/>
              <a:t> </a:t>
            </a:r>
          </a:p>
          <a:p>
            <a:r>
              <a:rPr lang="en-US" sz="1400" dirty="0"/>
              <a:t>[10] S. Hodson, "Mean Squared Error, Deconstructed," Journal of Advances in Modeling Earth Systems, vol. 14, no. 1, </a:t>
            </a:r>
            <a:r>
              <a:rPr lang="en-US" sz="1400" dirty="0" err="1"/>
              <a:t>ene</a:t>
            </a:r>
            <a:r>
              <a:rPr lang="en-US" sz="1400" dirty="0"/>
              <a:t>. 2022, Art. no. e2021MS002681, </a:t>
            </a:r>
            <a:r>
              <a:rPr lang="en-US" sz="1400" dirty="0" err="1"/>
              <a:t>doi</a:t>
            </a:r>
            <a:r>
              <a:rPr lang="en-US" sz="1400" dirty="0"/>
              <a:t>: 10.1029/2021MS002681. </a:t>
            </a:r>
            <a:r>
              <a:rPr lang="es-CO" sz="1400" dirty="0"/>
              <a:t>[Online]. Disponible en: </a:t>
            </a:r>
            <a:r>
              <a:rPr lang="es-CO" sz="1400" dirty="0">
                <a:hlinkClick r:id="rId11"/>
              </a:rPr>
              <a:t>https://agupubs.onlinelibrary.wiley.com/doi/10.1029/2021MS002681</a:t>
            </a:r>
            <a:endParaRPr lang="es-CO" sz="1400" dirty="0"/>
          </a:p>
          <a:p>
            <a:r>
              <a:rPr lang="es-CO" sz="1400" dirty="0"/>
              <a:t> </a:t>
            </a:r>
          </a:p>
          <a:p>
            <a:r>
              <a:rPr lang="es-CO" sz="1400" dirty="0"/>
              <a:t>[11] A. Aplicación del aprendizaje supervisado para reconocer patrones de datos de </a:t>
            </a:r>
            <a:r>
              <a:rPr lang="es-CO" sz="1400" dirty="0" err="1"/>
              <a:t>ciberamenazas</a:t>
            </a:r>
            <a:r>
              <a:rPr lang="es-CO" sz="1400" dirty="0"/>
              <a:t> y aprendizaje no supervisado para analizar y agrupar conjuntos de datos, </a:t>
            </a:r>
            <a:r>
              <a:rPr lang="es-CO" sz="1400" dirty="0" err="1"/>
              <a:t>ResearchGate</a:t>
            </a:r>
            <a:r>
              <a:rPr lang="es-CO" sz="1400" dirty="0"/>
              <a:t>, 2024. </a:t>
            </a:r>
            <a:r>
              <a:rPr lang="en-US" sz="1400" dirty="0"/>
              <a:t>[Online]. Available: </a:t>
            </a:r>
            <a:r>
              <a:rPr lang="en-US" sz="1400" dirty="0">
                <a:hlinkClick r:id="rId12"/>
              </a:rPr>
              <a:t>https://www.researchgate.net/publication/380293092_APLICACION_DEL_APRENDIZAJE_SUPERVISADO_PARA_RECONOCER_PATRONES_DE_DATOS_DE_CIBERAMENAZAS_Y_APRENDIZAJE_NO_SUPERVISADO_PARA_ANALIZAR_Y_AGRUPAR_CONJUNTOS_DE_DATOS</a:t>
            </a:r>
            <a:endParaRPr lang="es-CO" sz="1400" dirty="0"/>
          </a:p>
          <a:p>
            <a:pPr lvl="0"/>
            <a:endParaRPr lang="es-CO" sz="1400" dirty="0"/>
          </a:p>
          <a:p>
            <a:endParaRPr lang="es-CO" dirty="0"/>
          </a:p>
        </p:txBody>
      </p:sp>
    </p:spTree>
    <p:extLst>
      <p:ext uri="{BB962C8B-B14F-4D97-AF65-F5344CB8AC3E}">
        <p14:creationId xmlns:p14="http://schemas.microsoft.com/office/powerpoint/2010/main" val="2796223896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Imagen 7">
            <a:extLst>
              <a:ext uri="{FF2B5EF4-FFF2-40B4-BE49-F238E27FC236}">
                <a16:creationId xmlns:a16="http://schemas.microsoft.com/office/drawing/2014/main" id="{DF221EFB-E46A-ACDC-540E-81EA282706C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201592" y="1921338"/>
            <a:ext cx="2209214" cy="2793165"/>
          </a:xfrm>
          <a:prstGeom prst="rect">
            <a:avLst/>
          </a:prstGeom>
        </p:spPr>
      </p:pic>
      <p:pic>
        <p:nvPicPr>
          <p:cNvPr id="10" name="Imagen 9">
            <a:extLst>
              <a:ext uri="{FF2B5EF4-FFF2-40B4-BE49-F238E27FC236}">
                <a16:creationId xmlns:a16="http://schemas.microsoft.com/office/drawing/2014/main" id="{5F0F1E90-A0B3-A6B2-D783-FB554F6C341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385012" y="1702625"/>
            <a:ext cx="3237511" cy="3237511"/>
          </a:xfrm>
          <a:prstGeom prst="rect">
            <a:avLst/>
          </a:prstGeom>
        </p:spPr>
      </p:pic>
      <p:pic>
        <p:nvPicPr>
          <p:cNvPr id="11" name="Imagen 10">
            <a:extLst>
              <a:ext uri="{FF2B5EF4-FFF2-40B4-BE49-F238E27FC236}">
                <a16:creationId xmlns:a16="http://schemas.microsoft.com/office/drawing/2014/main" id="{E1FBAF23-DC61-CD01-D802-F4623ECA2780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 flipH="1">
            <a:off x="-232486" y="4757734"/>
            <a:ext cx="2525812" cy="2391211"/>
          </a:xfrm>
          <a:prstGeom prst="rect">
            <a:avLst/>
          </a:prstGeom>
        </p:spPr>
      </p:pic>
      <p:pic>
        <p:nvPicPr>
          <p:cNvPr id="15" name="Imagen 14">
            <a:extLst>
              <a:ext uri="{FF2B5EF4-FFF2-40B4-BE49-F238E27FC236}">
                <a16:creationId xmlns:a16="http://schemas.microsoft.com/office/drawing/2014/main" id="{F67365F3-01D8-3DBA-A685-675E9010173B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 rot="4643815" flipH="1">
            <a:off x="-2584061" y="-3683686"/>
            <a:ext cx="3486778" cy="7367371"/>
          </a:xfrm>
          <a:prstGeom prst="rect">
            <a:avLst/>
          </a:prstGeom>
        </p:spPr>
      </p:pic>
      <p:pic>
        <p:nvPicPr>
          <p:cNvPr id="17" name="Imagen 16">
            <a:extLst>
              <a:ext uri="{FF2B5EF4-FFF2-40B4-BE49-F238E27FC236}">
                <a16:creationId xmlns:a16="http://schemas.microsoft.com/office/drawing/2014/main" id="{23AF4B5C-1DE4-08F5-D371-0C6B399CF701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9898673" y="-148444"/>
            <a:ext cx="2735892" cy="7113319"/>
          </a:xfrm>
          <a:prstGeom prst="rect">
            <a:avLst/>
          </a:prstGeom>
        </p:spPr>
      </p:pic>
      <p:sp>
        <p:nvSpPr>
          <p:cNvPr id="2" name="CuadroTexto 1">
            <a:extLst>
              <a:ext uri="{FF2B5EF4-FFF2-40B4-BE49-F238E27FC236}">
                <a16:creationId xmlns:a16="http://schemas.microsoft.com/office/drawing/2014/main" id="{0EBBBD12-A6BF-1695-6C0F-54EACAEAABCF}"/>
              </a:ext>
            </a:extLst>
          </p:cNvPr>
          <p:cNvSpPr txBox="1"/>
          <p:nvPr/>
        </p:nvSpPr>
        <p:spPr>
          <a:xfrm>
            <a:off x="3252992" y="1151897"/>
            <a:ext cx="4005071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4400" b="1" dirty="0" err="1">
                <a:solidFill>
                  <a:srgbClr val="FFFF00"/>
                </a:solidFill>
              </a:rPr>
              <a:t>Muchas</a:t>
            </a:r>
            <a:r>
              <a:rPr lang="en-US" sz="4400" b="1" dirty="0">
                <a:solidFill>
                  <a:srgbClr val="FFFF00"/>
                </a:solidFill>
              </a:rPr>
              <a:t> Gracias.</a:t>
            </a:r>
            <a:endParaRPr lang="es-CO" sz="4400" b="1" dirty="0">
              <a:solidFill>
                <a:srgbClr val="FFFF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95703702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e Office">
  <a:themeElements>
    <a:clrScheme name="Tema de 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Tema de 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Tema de 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 2013 - 2022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TaxCatchAll xmlns="cbfbb5a6-f53e-4b0a-ba38-e03ac7088f1a" xsi:nil="true"/>
    <lcf76f155ced4ddcb4097134ff3c332f xmlns="858d0271-1141-42d1-8b9b-42920b15170c">
      <Terms xmlns="http://schemas.microsoft.com/office/infopath/2007/PartnerControls"/>
    </lcf76f155ced4ddcb4097134ff3c332f>
  </documentManagement>
</p:properties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o" ma:contentTypeID="0x010100353AB6459CAEE741A6308FB2627B45F6" ma:contentTypeVersion="13" ma:contentTypeDescription="Crear nuevo documento." ma:contentTypeScope="" ma:versionID="45e68d4ebf34411c48cb8881815cee7c">
  <xsd:schema xmlns:xsd="http://www.w3.org/2001/XMLSchema" xmlns:xs="http://www.w3.org/2001/XMLSchema" xmlns:p="http://schemas.microsoft.com/office/2006/metadata/properties" xmlns:ns2="858d0271-1141-42d1-8b9b-42920b15170c" xmlns:ns3="cbfbb5a6-f53e-4b0a-ba38-e03ac7088f1a" targetNamespace="http://schemas.microsoft.com/office/2006/metadata/properties" ma:root="true" ma:fieldsID="547a1674e4e1cea1548d1106f75470d9" ns2:_="" ns3:_="">
    <xsd:import namespace="858d0271-1141-42d1-8b9b-42920b15170c"/>
    <xsd:import namespace="cbfbb5a6-f53e-4b0a-ba38-e03ac7088f1a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DateTaken" minOccurs="0"/>
                <xsd:element ref="ns2:MediaServiceAutoTags" minOccurs="0"/>
                <xsd:element ref="ns2:MediaServiceOCR" minOccurs="0"/>
                <xsd:element ref="ns2:MediaServiceGenerationTime" minOccurs="0"/>
                <xsd:element ref="ns2:MediaServiceEventHashCode" minOccurs="0"/>
                <xsd:element ref="ns3:SharedWithUsers" minOccurs="0"/>
                <xsd:element ref="ns3:SharedWithDetails" minOccurs="0"/>
                <xsd:element ref="ns2:MediaLengthInSeconds" minOccurs="0"/>
                <xsd:element ref="ns2:lcf76f155ced4ddcb4097134ff3c332f" minOccurs="0"/>
                <xsd:element ref="ns3:TaxCatchAll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858d0271-1141-42d1-8b9b-42920b15170c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DateTaken" ma:index="10" nillable="true" ma:displayName="MediaServiceDateTaken" ma:hidden="true" ma:internalName="MediaServiceDateTaken" ma:readOnly="true">
      <xsd:simpleType>
        <xsd:restriction base="dms:Text"/>
      </xsd:simpleType>
    </xsd:element>
    <xsd:element name="MediaServiceAutoTags" ma:index="11" nillable="true" ma:displayName="Tags" ma:internalName="MediaServiceAutoTags" ma:readOnly="true">
      <xsd:simpleType>
        <xsd:restriction base="dms:Text"/>
      </xsd:simpleType>
    </xsd:element>
    <xsd:element name="MediaServiceOCR" ma:index="12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4" nillable="true" ma:displayName="MediaServiceEventHashCode" ma:hidden="true" ma:internalName="MediaServiceEventHashCode" ma:readOnly="true">
      <xsd:simpleType>
        <xsd:restriction base="dms:Text"/>
      </xsd:simpleType>
    </xsd:element>
    <xsd:element name="MediaLengthInSeconds" ma:index="17" nillable="true" ma:displayName="Length (seconds)" ma:internalName="MediaLengthInSeconds" ma:readOnly="true">
      <xsd:simpleType>
        <xsd:restriction base="dms:Unknown"/>
      </xsd:simpleType>
    </xsd:element>
    <xsd:element name="lcf76f155ced4ddcb4097134ff3c332f" ma:index="19" nillable="true" ma:taxonomy="true" ma:internalName="lcf76f155ced4ddcb4097134ff3c332f" ma:taxonomyFieldName="MediaServiceImageTags" ma:displayName="Etiquetas de imagen" ma:readOnly="false" ma:fieldId="{5cf76f15-5ced-4ddc-b409-7134ff3c332f}" ma:taxonomyMulti="true" ma:sspId="47ec1249-a48c-4968-bfb0-a566660bd308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cbfbb5a6-f53e-4b0a-ba38-e03ac7088f1a" elementFormDefault="qualified">
    <xsd:import namespace="http://schemas.microsoft.com/office/2006/documentManagement/types"/>
    <xsd:import namespace="http://schemas.microsoft.com/office/infopath/2007/PartnerControls"/>
    <xsd:element name="SharedWithUsers" ma:index="15" nillable="true" ma:displayName="Compartido con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6" nillable="true" ma:displayName="Detalles de uso compartido" ma:internalName="SharedWithDetails" ma:readOnly="true">
      <xsd:simpleType>
        <xsd:restriction base="dms:Note">
          <xsd:maxLength value="255"/>
        </xsd:restriction>
      </xsd:simpleType>
    </xsd:element>
    <xsd:element name="TaxCatchAll" ma:index="20" nillable="true" ma:displayName="Taxonomy Catch All Column" ma:hidden="true" ma:list="{a9157368-4b99-4b52-b594-dacb418ead93}" ma:internalName="TaxCatchAll" ma:showField="CatchAllData" ma:web="cbfbb5a6-f53e-4b0a-ba38-e03ac7088f1a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Tipo de contenido"/>
        <xsd:element ref="dc:title" minOccurs="0" maxOccurs="1" ma:index="4" ma:displayName="Título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EC9D3738-C159-4EF1-A8E4-5785D65678AA}">
  <ds:schemaRefs>
    <ds:schemaRef ds:uri="http://schemas.microsoft.com/office/2006/metadata/properties"/>
    <ds:schemaRef ds:uri="http://schemas.microsoft.com/office/infopath/2007/PartnerControls"/>
    <ds:schemaRef ds:uri="cbfbb5a6-f53e-4b0a-ba38-e03ac7088f1a"/>
    <ds:schemaRef ds:uri="858d0271-1141-42d1-8b9b-42920b15170c"/>
  </ds:schemaRefs>
</ds:datastoreItem>
</file>

<file path=customXml/itemProps2.xml><?xml version="1.0" encoding="utf-8"?>
<ds:datastoreItem xmlns:ds="http://schemas.openxmlformats.org/officeDocument/2006/customXml" ds:itemID="{54AEE9C7-8F80-45D8-A8BE-5C19816D2630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39C923E6-BDD3-4105-B695-9B73F12EFFFB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858d0271-1141-42d1-8b9b-42920b15170c"/>
    <ds:schemaRef ds:uri="cbfbb5a6-f53e-4b0a-ba38-e03ac7088f1a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Office Theme 2013 - 2022</Template>
  <TotalTime>3017</TotalTime>
  <Words>3194</Words>
  <Application>Microsoft Office PowerPoint</Application>
  <PresentationFormat>Panorámica</PresentationFormat>
  <Paragraphs>475</Paragraphs>
  <Slides>29</Slides>
  <Notes>0</Notes>
  <HiddenSlides>0</HiddenSlides>
  <MMClips>0</MMClips>
  <ScaleCrop>false</ScaleCrop>
  <HeadingPairs>
    <vt:vector size="6" baseType="variant">
      <vt:variant>
        <vt:lpstr>Fuentes usadas</vt:lpstr>
      </vt:variant>
      <vt:variant>
        <vt:i4>7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29</vt:i4>
      </vt:variant>
    </vt:vector>
  </HeadingPairs>
  <TitlesOfParts>
    <vt:vector size="37" baseType="lpstr">
      <vt:lpstr>Aptos</vt:lpstr>
      <vt:lpstr>Arial</vt:lpstr>
      <vt:lpstr>Arial Black</vt:lpstr>
      <vt:lpstr>Calibri</vt:lpstr>
      <vt:lpstr>Calibri Light</vt:lpstr>
      <vt:lpstr>Futura Std Book</vt:lpstr>
      <vt:lpstr>Nimbus Roman No9 L</vt:lpstr>
      <vt:lpstr>Tema de Office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Presentación de PowerPoint</dc:title>
  <dc:creator>Edith Valencia Figueroa</dc:creator>
  <cp:lastModifiedBy>edier</cp:lastModifiedBy>
  <cp:revision>64</cp:revision>
  <dcterms:created xsi:type="dcterms:W3CDTF">2023-05-16T20:34:56Z</dcterms:created>
  <dcterms:modified xsi:type="dcterms:W3CDTF">2026-01-27T15:52:40Z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0x010100353AB6459CAEE741A6308FB2627B45F6</vt:lpwstr>
  </property>
</Properties>
</file>